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1"/>
  </p:notesMasterIdLst>
  <p:sldIdLst>
    <p:sldId id="256" r:id="rId2"/>
    <p:sldId id="263" r:id="rId3"/>
    <p:sldId id="289" r:id="rId4"/>
    <p:sldId id="264" r:id="rId5"/>
    <p:sldId id="326" r:id="rId6"/>
    <p:sldId id="328" r:id="rId7"/>
    <p:sldId id="330" r:id="rId8"/>
    <p:sldId id="332" r:id="rId9"/>
    <p:sldId id="391" r:id="rId10"/>
    <p:sldId id="413" r:id="rId11"/>
    <p:sldId id="398" r:id="rId12"/>
    <p:sldId id="295" r:id="rId13"/>
    <p:sldId id="257" r:id="rId14"/>
    <p:sldId id="331" r:id="rId15"/>
    <p:sldId id="265" r:id="rId16"/>
    <p:sldId id="267" r:id="rId17"/>
    <p:sldId id="269" r:id="rId18"/>
    <p:sldId id="392" r:id="rId19"/>
    <p:sldId id="39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06"/>
    <p:restoredTop sz="74468"/>
  </p:normalViewPr>
  <p:slideViewPr>
    <p:cSldViewPr snapToGrid="0">
      <p:cViewPr varScale="1">
        <p:scale>
          <a:sx n="85" d="100"/>
          <a:sy n="85" d="100"/>
        </p:scale>
        <p:origin x="111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27E3B-03AF-1F42-98F8-1A42E6319B7D}" type="datetimeFigureOut">
              <a:rPr kumimoji="1" lang="ja-JP" altLang="en-US" smtClean="0"/>
              <a:t>2025/12/22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6FC832-1C17-2B46-9D92-3AA382C5F850}" type="slidenum">
              <a:rPr kumimoji="1" lang="ja-JP" altLang="en-US" smtClean="0"/>
              <a:t>‹#›</a:t>
            </a:fld>
            <a:endParaRPr kumimoji="1" lang="ja-JP" altLang="en-US"/>
          </a:p>
        </p:txBody>
      </p:sp>
    </p:spTree>
    <p:extLst>
      <p:ext uri="{BB962C8B-B14F-4D97-AF65-F5344CB8AC3E}">
        <p14:creationId xmlns:p14="http://schemas.microsoft.com/office/powerpoint/2010/main" val="279499752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aseline="0"/>
              <a:t>次世代コンピューティング研究室の三石海人です。表題のとおり発表いたします。</a:t>
            </a:r>
          </a:p>
          <a:p>
            <a:endParaRPr kumimoji="1" lang="ja-JP" altLang="en-US"/>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1</a:t>
            </a:fld>
            <a:endParaRPr kumimoji="1" lang="ja-JP" altLang="en-US"/>
          </a:p>
        </p:txBody>
      </p:sp>
    </p:spTree>
    <p:extLst>
      <p:ext uri="{BB962C8B-B14F-4D97-AF65-F5344CB8AC3E}">
        <p14:creationId xmlns:p14="http://schemas.microsoft.com/office/powerpoint/2010/main" val="334624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a:effectLst/>
                <a:latin typeface="游明朝" panose="02020400000000000000" pitchFamily="18" charset="-128"/>
                <a:cs typeface="Times New Roman" panose="02020603050405020304" pitchFamily="18" charset="0"/>
              </a:rPr>
              <a:t>まずはじめに研究テーマの根幹となる</a:t>
            </a:r>
            <a:r>
              <a:rPr lang="en-US" altLang="ja-JP" sz="1200" dirty="0">
                <a:effectLst/>
                <a:latin typeface="游明朝" panose="02020400000000000000" pitchFamily="18" charset="-128"/>
                <a:cs typeface="Times New Roman" panose="02020603050405020304" pitchFamily="18" charset="0"/>
              </a:rPr>
              <a:t>QMDD</a:t>
            </a:r>
            <a:r>
              <a:rPr lang="ja-JP" altLang="en-US" sz="1200">
                <a:effectLst/>
                <a:latin typeface="游明朝" panose="02020400000000000000" pitchFamily="18" charset="-128"/>
                <a:cs typeface="Times New Roman" panose="02020603050405020304" pitchFamily="18" charset="0"/>
              </a:rPr>
              <a:t>についてお話しします。</a:t>
            </a:r>
            <a:endParaRPr lang="en-US" altLang="ja-JP" sz="1200" dirty="0">
              <a:effectLst/>
              <a:latin typeface="游明朝" panose="02020400000000000000" pitchFamily="18" charset="-128"/>
              <a:cs typeface="Times New Roman" panose="02020603050405020304" pitchFamily="18" charset="0"/>
            </a:endParaRPr>
          </a:p>
          <a:p>
            <a:r>
              <a:rPr lang="en-US" altLang="ja-JP" sz="1200" dirty="0">
                <a:effectLst/>
                <a:latin typeface="游明朝" panose="02020400000000000000" pitchFamily="18" charset="-128"/>
                <a:cs typeface="Times New Roman" panose="02020603050405020304" pitchFamily="18" charset="0"/>
              </a:rPr>
              <a:t>QMDD</a:t>
            </a:r>
            <a:r>
              <a:rPr lang="ja-JP" altLang="ja-JP" sz="1200">
                <a:effectLst/>
                <a:ea typeface="游明朝" panose="02020400000000000000" pitchFamily="18" charset="-128"/>
                <a:cs typeface="Times New Roman" panose="02020603050405020304" pitchFamily="18" charset="0"/>
              </a:rPr>
              <a:t>とは量子回路を表現・操作するためのデータ構造です。</a:t>
            </a:r>
            <a:endParaRPr lang="en-US" altLang="ja-JP" sz="1200" dirty="0">
              <a:effectLst/>
              <a:ea typeface="游明朝" panose="02020400000000000000" pitchFamily="18" charset="-128"/>
              <a:cs typeface="Times New Roman" panose="02020603050405020304" pitchFamily="18" charset="0"/>
            </a:endParaRPr>
          </a:p>
          <a:p>
            <a:endParaRPr lang="en-US" altLang="ja-JP" sz="1200" dirty="0">
              <a:effectLst/>
              <a:ea typeface="游明朝" panose="02020400000000000000" pitchFamily="18" charset="-128"/>
              <a:cs typeface="Times New Roman" panose="02020603050405020304" pitchFamily="18" charset="0"/>
            </a:endParaRPr>
          </a:p>
          <a:p>
            <a:r>
              <a:rPr lang="ja-JP" altLang="ja-JP" sz="1200">
                <a:effectLst/>
                <a:ea typeface="游明朝" panose="02020400000000000000" pitchFamily="18" charset="-128"/>
                <a:cs typeface="Times New Roman" panose="02020603050405020304" pitchFamily="18" charset="0"/>
              </a:rPr>
              <a:t>量子回路の部品である量子状態や量子ゲートは、行列で表現が可能ですが、</a:t>
            </a:r>
            <a:r>
              <a:rPr lang="en-US" altLang="ja-JP" sz="1200" dirty="0">
                <a:effectLst/>
                <a:ea typeface="游明朝" panose="02020400000000000000" pitchFamily="18" charset="-128"/>
                <a:cs typeface="Times New Roman" panose="02020603050405020304" pitchFamily="18" charset="0"/>
              </a:rPr>
              <a:t>QMDD</a:t>
            </a:r>
            <a:r>
              <a:rPr lang="ja-JP" altLang="ja-JP" sz="1200">
                <a:effectLst/>
                <a:ea typeface="游明朝" panose="02020400000000000000" pitchFamily="18" charset="-128"/>
                <a:cs typeface="Times New Roman" panose="02020603050405020304" pitchFamily="18" charset="0"/>
              </a:rPr>
              <a:t>はこの行列に零行列や共通する部分行列が多く含まれていることを利用して圧縮したデータ構造になっています。</a:t>
            </a:r>
            <a:endParaRPr lang="en-US" altLang="ja-JP" sz="1200" dirty="0">
              <a:effectLst/>
              <a:ea typeface="游明朝" panose="02020400000000000000" pitchFamily="18" charset="-128"/>
              <a:cs typeface="Times New Roman" panose="02020603050405020304" pitchFamily="18" charset="0"/>
            </a:endParaRPr>
          </a:p>
          <a:p>
            <a:r>
              <a:rPr lang="en-US" altLang="ja-JP" sz="1200" dirty="0">
                <a:effectLst/>
                <a:ea typeface="游明朝" panose="02020400000000000000" pitchFamily="18" charset="-128"/>
                <a:cs typeface="Times New Roman" panose="02020603050405020304" pitchFamily="18" charset="0"/>
              </a:rPr>
              <a:t>QMDD</a:t>
            </a:r>
            <a:r>
              <a:rPr lang="ja-JP" altLang="ja-JP" sz="1200">
                <a:effectLst/>
                <a:ea typeface="游明朝" panose="02020400000000000000" pitchFamily="18" charset="-128"/>
                <a:cs typeface="Times New Roman" panose="02020603050405020304" pitchFamily="18" charset="0"/>
              </a:rPr>
              <a:t>では行列を</a:t>
            </a:r>
            <a:r>
              <a:rPr lang="ja-JP" altLang="en-US" sz="1200">
                <a:effectLst/>
                <a:ea typeface="游明朝" panose="02020400000000000000" pitchFamily="18" charset="-128"/>
                <a:cs typeface="Times New Roman" panose="02020603050405020304" pitchFamily="18" charset="0"/>
              </a:rPr>
              <a:t>スカラになるまで分割</a:t>
            </a:r>
            <a:r>
              <a:rPr lang="ja-JP" altLang="ja-JP" sz="1200">
                <a:effectLst/>
                <a:ea typeface="游明朝" panose="02020400000000000000" pitchFamily="18" charset="-128"/>
                <a:cs typeface="Times New Roman" panose="02020603050405020304" pitchFamily="18" charset="0"/>
              </a:rPr>
              <a:t>し、その部分行列をエッジとノードで表現します。</a:t>
            </a:r>
            <a:endParaRPr lang="en-US" altLang="ja-JP" sz="1200" dirty="0">
              <a:effectLst/>
              <a:ea typeface="游明朝" panose="02020400000000000000" pitchFamily="18" charset="-128"/>
              <a:cs typeface="Times New Roman" panose="02020603050405020304" pitchFamily="18" charset="0"/>
            </a:endParaRPr>
          </a:p>
          <a:p>
            <a:r>
              <a:rPr lang="ja-JP" altLang="ja-JP" sz="1200">
                <a:effectLst/>
                <a:ea typeface="游明朝" panose="02020400000000000000" pitchFamily="18" charset="-128"/>
                <a:cs typeface="Times New Roman" panose="02020603050405020304" pitchFamily="18" charset="0"/>
              </a:rPr>
              <a:t>エッジは、複素数の重みとノードへのポインタをもち、ノードからは最大</a:t>
            </a:r>
            <a:r>
              <a:rPr lang="en-US" altLang="ja-JP" sz="1200" dirty="0">
                <a:effectLst/>
                <a:ea typeface="游明朝" panose="02020400000000000000" pitchFamily="18" charset="-128"/>
                <a:cs typeface="Times New Roman" panose="02020603050405020304" pitchFamily="18" charset="0"/>
              </a:rPr>
              <a:t>4</a:t>
            </a:r>
            <a:r>
              <a:rPr lang="ja-JP" altLang="ja-JP" sz="1200">
                <a:effectLst/>
                <a:ea typeface="游明朝" panose="02020400000000000000" pitchFamily="18" charset="-128"/>
                <a:cs typeface="Times New Roman" panose="02020603050405020304" pitchFamily="18" charset="0"/>
              </a:rPr>
              <a:t>つのエッジが伸びます。</a:t>
            </a:r>
            <a:br>
              <a:rPr lang="en-US" altLang="ja-JP" sz="1200" dirty="0">
                <a:effectLst/>
                <a:ea typeface="游明朝" panose="02020400000000000000" pitchFamily="18" charset="-128"/>
                <a:cs typeface="Times New Roman" panose="02020603050405020304" pitchFamily="18" charset="0"/>
              </a:rPr>
            </a:br>
            <a:br>
              <a:rPr lang="en-US" altLang="ja-JP" sz="1200" dirty="0">
                <a:effectLst/>
                <a:ea typeface="游明朝" panose="02020400000000000000" pitchFamily="18" charset="-128"/>
                <a:cs typeface="Times New Roman" panose="02020603050405020304" pitchFamily="18" charset="0"/>
              </a:rPr>
            </a:br>
            <a:r>
              <a:rPr lang="ja-JP" altLang="ja-JP" sz="1200">
                <a:effectLst/>
                <a:ea typeface="游明朝" panose="02020400000000000000" pitchFamily="18" charset="-128"/>
                <a:cs typeface="Times New Roman" panose="02020603050405020304" pitchFamily="18" charset="0"/>
              </a:rPr>
              <a:t>ノードから伸びるエッジは、左から順に、行列上の左上の要素、右上の要素、左下の要素、右下の要素としてそれぞれを表現します。</a:t>
            </a:r>
            <a:endParaRPr kumimoji="1" lang="ja-JP" altLang="en-US"/>
          </a:p>
        </p:txBody>
      </p:sp>
      <p:sp>
        <p:nvSpPr>
          <p:cNvPr id="4" name="スライド番号プレースホルダー 3"/>
          <p:cNvSpPr>
            <a:spLocks noGrp="1"/>
          </p:cNvSpPr>
          <p:nvPr>
            <p:ph type="sldNum" sz="quarter" idx="5"/>
          </p:nvPr>
        </p:nvSpPr>
        <p:spPr/>
        <p:txBody>
          <a:bodyPr/>
          <a:lstStyle/>
          <a:p>
            <a:fld id="{3F4FCCAA-E98D-924E-8192-CCFDFD99EBAA}" type="slidenum">
              <a:rPr kumimoji="1" lang="ja-JP" altLang="en-US" smtClean="0"/>
              <a:t>2</a:t>
            </a:fld>
            <a:endParaRPr kumimoji="1" lang="ja-JP" altLang="en-US"/>
          </a:p>
        </p:txBody>
      </p:sp>
    </p:spTree>
    <p:extLst>
      <p:ext uri="{BB962C8B-B14F-4D97-AF65-F5344CB8AC3E}">
        <p14:creationId xmlns:p14="http://schemas.microsoft.com/office/powerpoint/2010/main" val="777686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CV</a:t>
            </a:r>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ゲートを例に用いて</a:t>
            </a: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QMDD</a:t>
            </a:r>
            <a:r>
              <a:rPr lang="ja-JP" altLang="ja-JP" sz="1800" kern="100">
                <a:effectLst/>
                <a:latin typeface="游明朝" panose="02020400000000000000" pitchFamily="18" charset="-128"/>
                <a:ea typeface="游明朝" panose="02020400000000000000" pitchFamily="18" charset="-128"/>
                <a:cs typeface="Times New Roman" panose="02020603050405020304" pitchFamily="18" charset="0"/>
              </a:rPr>
              <a:t>のメモリの効率性について説明します。</a:t>
            </a:r>
            <a:endPar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800" kern="100" dirty="0">
                <a:effectLst/>
                <a:latin typeface="游明朝" panose="02020400000000000000" pitchFamily="18" charset="-128"/>
                <a:ea typeface="游明朝" panose="02020400000000000000" pitchFamily="18" charset="-128"/>
                <a:cs typeface="Times New Roman" panose="02020603050405020304" pitchFamily="18" charset="0"/>
              </a:rPr>
              <a:t>QMDD</a:t>
            </a:r>
            <a:r>
              <a:rPr lang="ja-JP" altLang="ja-JP" sz="1800" kern="100">
                <a:effectLst/>
                <a:latin typeface="游明朝" panose="02020400000000000000" pitchFamily="18" charset="-128"/>
                <a:ea typeface="游明朝" panose="02020400000000000000" pitchFamily="18" charset="-128"/>
                <a:cs typeface="Times New Roman" panose="02020603050405020304" pitchFamily="18" charset="0"/>
              </a:rPr>
              <a:t>では任意の大きさの零行列をエッジ一つで表現したり図のような共通する部分行列やそのスカラ倍の行列を同じノードで表現</a:t>
            </a:r>
            <a:r>
              <a:rPr lang="ja-JP" altLang="en-US" sz="1800" kern="100">
                <a:effectLst/>
                <a:latin typeface="游明朝" panose="02020400000000000000" pitchFamily="18" charset="-128"/>
                <a:ea typeface="游明朝" panose="02020400000000000000" pitchFamily="18" charset="-128"/>
                <a:cs typeface="Times New Roman" panose="02020603050405020304" pitchFamily="18" charset="0"/>
              </a:rPr>
              <a:t>して圧縮を行なっています。</a:t>
            </a:r>
            <a:endParaRPr kumimoji="1" lang="ja-JP" altLang="en-US"/>
          </a:p>
        </p:txBody>
      </p:sp>
      <p:sp>
        <p:nvSpPr>
          <p:cNvPr id="4" name="スライド番号プレースホルダー 3"/>
          <p:cNvSpPr>
            <a:spLocks noGrp="1"/>
          </p:cNvSpPr>
          <p:nvPr>
            <p:ph type="sldNum" sz="quarter" idx="5"/>
          </p:nvPr>
        </p:nvSpPr>
        <p:spPr/>
        <p:txBody>
          <a:bodyPr/>
          <a:lstStyle/>
          <a:p>
            <a:fld id="{3F4FCCAA-E98D-924E-8192-CCFDFD99EBAA}" type="slidenum">
              <a:rPr kumimoji="1" lang="ja-JP" altLang="en-US" smtClean="0"/>
              <a:t>3</a:t>
            </a:fld>
            <a:endParaRPr kumimoji="1" lang="ja-JP" altLang="en-US"/>
          </a:p>
        </p:txBody>
      </p:sp>
    </p:spTree>
    <p:extLst>
      <p:ext uri="{BB962C8B-B14F-4D97-AF65-F5344CB8AC3E}">
        <p14:creationId xmlns:p14="http://schemas.microsoft.com/office/powerpoint/2010/main" val="2531426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続いて、従来のシミュレーション手法について紹介いたします。</a:t>
            </a:r>
            <a:br>
              <a:rPr kumimoji="1" lang="en-US" altLang="ja-JP" dirty="0"/>
            </a:br>
            <a:r>
              <a:rPr kumimoji="1" lang="ja-JP" altLang="en-US"/>
              <a:t>従来のシミュレーション手法では、量子回路の深さを最小化するような実行モデルになっています。</a:t>
            </a:r>
            <a:endParaRPr kumimoji="1" lang="en-US" altLang="ja-JP" dirty="0"/>
          </a:p>
          <a:p>
            <a:endParaRPr kumimoji="1" lang="en-US" altLang="ja-JP" dirty="0"/>
          </a:p>
          <a:p>
            <a:r>
              <a:rPr kumimoji="1" lang="ja-JP" altLang="en-US"/>
              <a:t>具体的な処理フローとしては、並列実行可能なゲートを同一レイヤ上に配置し、それらのゲートまとめて、一つの</a:t>
            </a:r>
            <a:r>
              <a:rPr kumimoji="1" lang="en-US" altLang="ja-JP" dirty="0"/>
              <a:t>QMDD</a:t>
            </a:r>
            <a:r>
              <a:rPr kumimoji="1" lang="ja-JP" altLang="en-US"/>
              <a:t>を生成します。</a:t>
            </a:r>
            <a:endParaRPr kumimoji="1" lang="en-US" altLang="ja-JP" dirty="0"/>
          </a:p>
          <a:p>
            <a:r>
              <a:rPr kumimoji="1" lang="ja-JP" altLang="en-US"/>
              <a:t>ここでこの操作をゲート連結と呼び、詳細な実装は次のスライドで紹介いたします。</a:t>
            </a:r>
            <a:endParaRPr kumimoji="1" lang="en-US" altLang="ja-JP" dirty="0"/>
          </a:p>
          <a:p>
            <a:r>
              <a:rPr kumimoji="1" lang="ja-JP" altLang="en-US"/>
              <a:t>連結後、量子状態との積を取ることで、</a:t>
            </a:r>
            <a:r>
              <a:rPr kumimoji="1" lang="en-US" altLang="ja-JP" dirty="0"/>
              <a:t>1</a:t>
            </a:r>
            <a:r>
              <a:rPr kumimoji="1" lang="ja-JP" altLang="en-US"/>
              <a:t>ステップで複数のゲートを適用することができます。</a:t>
            </a:r>
            <a:endParaRPr kumimoji="1" lang="en-US" altLang="ja-JP" dirty="0"/>
          </a:p>
          <a:p>
            <a:endParaRPr kumimoji="1" lang="en-US" altLang="ja-JP" dirty="0"/>
          </a:p>
          <a:p>
            <a:r>
              <a:rPr kumimoji="1" lang="ja-JP" altLang="en-US"/>
              <a:t>シミュレート時の時間ステップ数が最小になる一方で、</a:t>
            </a:r>
            <a:r>
              <a:rPr kumimoji="1" lang="en-US" altLang="ja-JP" dirty="0"/>
              <a:t>1</a:t>
            </a:r>
            <a:r>
              <a:rPr kumimoji="1" lang="ja-JP" altLang="en-US"/>
              <a:t>レイヤごとの</a:t>
            </a:r>
            <a:r>
              <a:rPr kumimoji="1" lang="en-US" altLang="ja-JP" dirty="0"/>
              <a:t>QMDD</a:t>
            </a:r>
            <a:r>
              <a:rPr kumimoji="1" lang="ja-JP" altLang="en-US"/>
              <a:t>のサイズが大きくなってしまう点とゲートの形状に依存して演算時の再帰数が増加してしまう点が問題点として挙げられます。</a:t>
            </a:r>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4</a:t>
            </a:fld>
            <a:endParaRPr kumimoji="1" lang="ja-JP" altLang="en-US"/>
          </a:p>
        </p:txBody>
      </p:sp>
    </p:spTree>
    <p:extLst>
      <p:ext uri="{BB962C8B-B14F-4D97-AF65-F5344CB8AC3E}">
        <p14:creationId xmlns:p14="http://schemas.microsoft.com/office/powerpoint/2010/main" val="4142355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ゲート連結の概要について説明いたします。</a:t>
            </a:r>
            <a:endParaRPr kumimoji="1" lang="en-US" altLang="ja-JP" dirty="0"/>
          </a:p>
          <a:p>
            <a:endParaRPr kumimoji="1" lang="en-US" altLang="ja-JP" dirty="0"/>
          </a:p>
          <a:p>
            <a:r>
              <a:rPr kumimoji="1" lang="ja-JP" altLang="en-US"/>
              <a:t>シミュレータ上ではゲートの</a:t>
            </a:r>
            <a:r>
              <a:rPr kumimoji="1" lang="en-US" altLang="ja-JP" dirty="0"/>
              <a:t>QMDD</a:t>
            </a:r>
            <a:r>
              <a:rPr kumimoji="1" lang="ja-JP" altLang="en-US"/>
              <a:t>同士のテンソルを取ることでゲート連結を行っています。</a:t>
            </a:r>
            <a:endParaRPr kumimoji="1" lang="en-US" altLang="ja-JP" dirty="0"/>
          </a:p>
          <a:p>
            <a:endParaRPr kumimoji="1" lang="en-US" altLang="ja-JP" dirty="0"/>
          </a:p>
          <a:p>
            <a:r>
              <a:rPr kumimoji="1" lang="ja-JP" altLang="en-US"/>
              <a:t>例えば、左下の回路にあるようなゲートの場合には、</a:t>
            </a:r>
            <a:r>
              <a:rPr kumimoji="1" lang="en-US" altLang="ja-JP" dirty="0"/>
              <a:t>0</a:t>
            </a:r>
            <a:r>
              <a:rPr kumimoji="1" lang="ja-JP" altLang="en-US"/>
              <a:t>ビット目のアダマールゲートと</a:t>
            </a:r>
            <a:r>
              <a:rPr kumimoji="1" lang="en-US" altLang="ja-JP" dirty="0"/>
              <a:t>1</a:t>
            </a:r>
            <a:r>
              <a:rPr kumimoji="1" lang="ja-JP" altLang="en-US"/>
              <a:t>ビット目のノットゲートのテンソルを取りますが、連結後の</a:t>
            </a:r>
            <a:r>
              <a:rPr kumimoji="1" lang="en-US" altLang="ja-JP" dirty="0"/>
              <a:t>QMDD</a:t>
            </a:r>
            <a:r>
              <a:rPr kumimoji="1" lang="ja-JP" altLang="en-US"/>
              <a:t>はアダマールゲートの</a:t>
            </a:r>
            <a:r>
              <a:rPr kumimoji="1" lang="en-US" altLang="ja-JP" dirty="0"/>
              <a:t>QMDD</a:t>
            </a:r>
            <a:r>
              <a:rPr kumimoji="1" lang="ja-JP" altLang="en-US"/>
              <a:t>の下にノットゲートの</a:t>
            </a:r>
            <a:r>
              <a:rPr kumimoji="1" lang="en-US" altLang="ja-JP" dirty="0"/>
              <a:t>QMDD</a:t>
            </a:r>
            <a:r>
              <a:rPr kumimoji="1" lang="ja-JP" altLang="en-US"/>
              <a:t>が接続された形になります。</a:t>
            </a:r>
            <a:endParaRPr kumimoji="1" lang="en-US" altLang="ja-JP" dirty="0"/>
          </a:p>
          <a:p>
            <a:endParaRPr kumimoji="1" lang="en-US" altLang="ja-JP" dirty="0"/>
          </a:p>
          <a:p>
            <a:r>
              <a:rPr kumimoji="1" lang="ja-JP" altLang="en-US"/>
              <a:t>シミュレート時には生成後の</a:t>
            </a:r>
            <a:r>
              <a:rPr kumimoji="1" lang="en-US" altLang="ja-JP" dirty="0"/>
              <a:t>QMDD</a:t>
            </a:r>
            <a:r>
              <a:rPr kumimoji="1" lang="ja-JP" altLang="en-US"/>
              <a:t>のエッジを全通り探索しながら再帰を繰り返します。</a:t>
            </a:r>
            <a:endParaRPr kumimoji="1" lang="en-US" altLang="ja-JP" dirty="0"/>
          </a:p>
          <a:p>
            <a:r>
              <a:rPr kumimoji="1" lang="ja-JP" altLang="en-US"/>
              <a:t>スライドの右側の</a:t>
            </a:r>
            <a:r>
              <a:rPr kumimoji="1" lang="en-US" altLang="ja-JP" dirty="0"/>
              <a:t>QMDD</a:t>
            </a:r>
            <a:r>
              <a:rPr kumimoji="1" lang="ja-JP" altLang="en-US"/>
              <a:t>を例に用いるとキャッシュを考慮しないとき、赤枠の</a:t>
            </a:r>
            <a:r>
              <a:rPr kumimoji="1" lang="en-US" altLang="ja-JP" dirty="0"/>
              <a:t>QMDD</a:t>
            </a:r>
            <a:r>
              <a:rPr kumimoji="1" lang="ja-JP" altLang="en-US"/>
              <a:t>のエッジの数</a:t>
            </a:r>
            <a:r>
              <a:rPr kumimoji="1" lang="en-US" altLang="ja-JP" dirty="0"/>
              <a:t>4</a:t>
            </a:r>
            <a:r>
              <a:rPr kumimoji="1" lang="ja-JP" altLang="en-US"/>
              <a:t>本と青枠のエッジの数</a:t>
            </a:r>
            <a:r>
              <a:rPr kumimoji="1" lang="en-US" altLang="ja-JP" dirty="0"/>
              <a:t>4</a:t>
            </a:r>
            <a:r>
              <a:rPr kumimoji="1" lang="ja-JP" altLang="en-US"/>
              <a:t>本の積である</a:t>
            </a:r>
            <a:r>
              <a:rPr kumimoji="1" lang="en-US" altLang="ja-JP" dirty="0"/>
              <a:t>16</a:t>
            </a:r>
            <a:r>
              <a:rPr kumimoji="1" lang="ja-JP" altLang="en-US"/>
              <a:t>回の探索が必要になります。</a:t>
            </a:r>
            <a:endParaRPr kumimoji="1" lang="en-US" altLang="ja-JP" dirty="0"/>
          </a:p>
          <a:p>
            <a:r>
              <a:rPr kumimoji="1" lang="ja-JP" altLang="en-US"/>
              <a:t>この探索回数の最大値は行列表現した時の要素数になりますが、</a:t>
            </a:r>
            <a:r>
              <a:rPr kumimoji="1" lang="en-US" altLang="ja-JP" dirty="0"/>
              <a:t>QMDD</a:t>
            </a:r>
            <a:r>
              <a:rPr kumimoji="1" lang="ja-JP" altLang="en-US"/>
              <a:t>の上位レベルに重みが</a:t>
            </a:r>
            <a:r>
              <a:rPr kumimoji="1" lang="en-US" altLang="ja-JP" dirty="0"/>
              <a:t>0</a:t>
            </a:r>
            <a:r>
              <a:rPr kumimoji="1" lang="ja-JP" altLang="en-US"/>
              <a:t>のエッジがあると演算がスキップされ、上位レベルでスキップすると下位レベルへの探索が大幅に削減されます。</a:t>
            </a:r>
            <a:endParaRPr kumimoji="1" lang="en-US" altLang="ja-JP" dirty="0"/>
          </a:p>
          <a:p>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5</a:t>
            </a:fld>
            <a:endParaRPr kumimoji="1" lang="ja-JP" altLang="en-US"/>
          </a:p>
        </p:txBody>
      </p:sp>
    </p:spTree>
    <p:extLst>
      <p:ext uri="{BB962C8B-B14F-4D97-AF65-F5344CB8AC3E}">
        <p14:creationId xmlns:p14="http://schemas.microsoft.com/office/powerpoint/2010/main" val="1798141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ここで、単一量子ゲートの</a:t>
            </a:r>
            <a:r>
              <a:rPr kumimoji="1" lang="en-US" altLang="ja-JP" dirty="0"/>
              <a:t>QMDD</a:t>
            </a:r>
            <a:r>
              <a:rPr kumimoji="1" lang="ja-JP" altLang="en-US"/>
              <a:t>の形状を０の要素の有無で大きく二つのタイプに分類します。</a:t>
            </a:r>
            <a:endParaRPr kumimoji="1" lang="en-US" altLang="ja-JP" dirty="0"/>
          </a:p>
          <a:p>
            <a:r>
              <a:rPr kumimoji="1" lang="ja-JP" altLang="en-US"/>
              <a:t>ノットゲートなどのゼロの要素を持つものは演算中の再起処理をスキップする特性を持ちます。</a:t>
            </a:r>
            <a:endParaRPr kumimoji="1" lang="en-US" altLang="ja-JP" dirty="0"/>
          </a:p>
          <a:p>
            <a:endParaRPr kumimoji="1" lang="en-US" altLang="ja-JP" dirty="0"/>
          </a:p>
          <a:p>
            <a:r>
              <a:rPr kumimoji="1" lang="ja-JP" altLang="en-US"/>
              <a:t>一方で、アダマールゲートなどの非ゼロの要素のみを持つゲートは演算時に全てのエッジを探索する必要があるという特性があります。</a:t>
            </a:r>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6</a:t>
            </a:fld>
            <a:endParaRPr kumimoji="1" lang="ja-JP" altLang="en-US"/>
          </a:p>
        </p:txBody>
      </p:sp>
    </p:spTree>
    <p:extLst>
      <p:ext uri="{BB962C8B-B14F-4D97-AF65-F5344CB8AC3E}">
        <p14:creationId xmlns:p14="http://schemas.microsoft.com/office/powerpoint/2010/main" val="3986634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これらのゲートの特性は特にシミュレート時の乗算と加算の際の再帰数に大きく影響します。</a:t>
            </a:r>
            <a:endParaRPr kumimoji="1" lang="en-US" altLang="ja-JP" dirty="0"/>
          </a:p>
          <a:p>
            <a:r>
              <a:rPr kumimoji="1" lang="ja-JP" altLang="en-US"/>
              <a:t>非ゼロの要素のみを持つゲートは量子ビット数に応じて指数関数的に演算時の再帰数を増加させます。</a:t>
            </a:r>
            <a:endParaRPr kumimoji="1" lang="en-US" altLang="ja-JP" dirty="0"/>
          </a:p>
          <a:p>
            <a:r>
              <a:rPr kumimoji="1" lang="ja-JP" altLang="en-US"/>
              <a:t>一方で、</a:t>
            </a:r>
            <a:r>
              <a:rPr kumimoji="1" lang="en-US" altLang="ja-JP" dirty="0"/>
              <a:t>0</a:t>
            </a:r>
            <a:r>
              <a:rPr kumimoji="1" lang="ja-JP" altLang="en-US"/>
              <a:t>の要素を持ゲートは量子ビット数に関係なく一部の演算を再帰なしで処理することができます。</a:t>
            </a:r>
            <a:endParaRPr kumimoji="1" lang="en-US" altLang="ja-JP" dirty="0"/>
          </a:p>
          <a:p>
            <a:r>
              <a:rPr kumimoji="1" lang="ja-JP" altLang="en-US"/>
              <a:t>これは演算時の被演算子の値が</a:t>
            </a:r>
            <a:r>
              <a:rPr kumimoji="1" lang="en-US" altLang="ja-JP" dirty="0"/>
              <a:t>0</a:t>
            </a:r>
            <a:r>
              <a:rPr kumimoji="1" lang="ja-JP" altLang="en-US"/>
              <a:t>になることによって起こります。</a:t>
            </a:r>
            <a:br>
              <a:rPr kumimoji="1" lang="en-US" altLang="ja-JP" dirty="0"/>
            </a:br>
            <a:r>
              <a:rPr kumimoji="1" lang="ja-JP" altLang="en-US"/>
              <a:t>スライドの例では、</a:t>
            </a:r>
            <a:r>
              <a:rPr kumimoji="1" lang="en-US" altLang="ja-JP" dirty="0"/>
              <a:t>0</a:t>
            </a:r>
            <a:r>
              <a:rPr kumimoji="1" lang="ja-JP" altLang="en-US"/>
              <a:t>と</a:t>
            </a:r>
            <a:r>
              <a:rPr kumimoji="1" lang="en-US" altLang="ja-JP" dirty="0"/>
              <a:t>β</a:t>
            </a:r>
            <a:r>
              <a:rPr kumimoji="1" lang="ja-JP" altLang="en-US"/>
              <a:t>、</a:t>
            </a:r>
            <a:r>
              <a:rPr kumimoji="1" lang="en-US" altLang="ja-JP" dirty="0"/>
              <a:t>0</a:t>
            </a:r>
            <a:r>
              <a:rPr kumimoji="1" lang="ja-JP" altLang="en-US"/>
              <a:t>と</a:t>
            </a:r>
            <a:r>
              <a:rPr kumimoji="1" lang="en-US" altLang="ja-JP" dirty="0"/>
              <a:t>α</a:t>
            </a:r>
            <a:r>
              <a:rPr kumimoji="1" lang="ja-JP" altLang="en-US"/>
              <a:t>の乗算や、</a:t>
            </a:r>
            <a:r>
              <a:rPr kumimoji="1" lang="en-US" altLang="ja-JP" dirty="0"/>
              <a:t>Aα</a:t>
            </a:r>
            <a:r>
              <a:rPr kumimoji="1" lang="ja-JP" altLang="en-US"/>
              <a:t>と</a:t>
            </a:r>
            <a:r>
              <a:rPr kumimoji="1" lang="en-US" altLang="ja-JP" dirty="0"/>
              <a:t>0</a:t>
            </a:r>
            <a:r>
              <a:rPr kumimoji="1" lang="ja-JP" altLang="en-US"/>
              <a:t>、</a:t>
            </a:r>
            <a:r>
              <a:rPr kumimoji="1" lang="en-US" altLang="ja-JP" dirty="0"/>
              <a:t>0</a:t>
            </a:r>
            <a:r>
              <a:rPr kumimoji="1" lang="ja-JP" altLang="en-US"/>
              <a:t>と</a:t>
            </a:r>
            <a:r>
              <a:rPr kumimoji="1" lang="en-US" altLang="ja-JP" dirty="0"/>
              <a:t>Dβ</a:t>
            </a:r>
            <a:r>
              <a:rPr kumimoji="1" lang="ja-JP" altLang="en-US"/>
              <a:t>の加算において、再帰なしで処理することができます。</a:t>
            </a:r>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7</a:t>
            </a:fld>
            <a:endParaRPr kumimoji="1" lang="ja-JP" altLang="en-US"/>
          </a:p>
        </p:txBody>
      </p:sp>
    </p:spTree>
    <p:extLst>
      <p:ext uri="{BB962C8B-B14F-4D97-AF65-F5344CB8AC3E}">
        <p14:creationId xmlns:p14="http://schemas.microsoft.com/office/powerpoint/2010/main" val="1009558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これらの</a:t>
            </a:r>
            <a:r>
              <a:rPr kumimoji="1" lang="en-US" altLang="ja-JP" dirty="0"/>
              <a:t>QMDD</a:t>
            </a:r>
            <a:r>
              <a:rPr kumimoji="1" lang="ja-JP" altLang="en-US"/>
              <a:t>の演算アルゴリズムの特性を考慮して</a:t>
            </a:r>
            <a:r>
              <a:rPr kumimoji="1" lang="en-US" altLang="ja-JP" dirty="0"/>
              <a:t>QMDD</a:t>
            </a:r>
            <a:r>
              <a:rPr kumimoji="1" lang="ja-JP" altLang="en-US"/>
              <a:t>の形状でゲートを</a:t>
            </a:r>
            <a:r>
              <a:rPr kumimoji="1" lang="en-US" altLang="ja-JP" dirty="0"/>
              <a:t>2</a:t>
            </a:r>
            <a:r>
              <a:rPr kumimoji="1" lang="ja-JP" altLang="en-US"/>
              <a:t>種類に分類し、ゲートの配置を行います。</a:t>
            </a:r>
            <a:endParaRPr kumimoji="1" lang="en-US" altLang="ja-JP" dirty="0"/>
          </a:p>
          <a:p>
            <a:r>
              <a:rPr kumimoji="1" lang="ja-JP" altLang="en-US"/>
              <a:t>シミュレートの処理時に再帰数を抑制する０の要素を持つゲートはパディングに使用される</a:t>
            </a:r>
            <a:r>
              <a:rPr kumimoji="1" lang="en-US" altLang="ja-JP" dirty="0"/>
              <a:t>Identity</a:t>
            </a:r>
            <a:r>
              <a:rPr kumimoji="1" lang="ja-JP" altLang="en-US"/>
              <a:t>ゲートと演算コストが等価になります。</a:t>
            </a:r>
            <a:endParaRPr kumimoji="1" lang="en-US" altLang="ja-JP" dirty="0"/>
          </a:p>
          <a:p>
            <a:r>
              <a:rPr kumimoji="1" lang="ja-JP" altLang="en-US"/>
              <a:t>そのため、従来通り並列実行可能であれば同一レイヤ上に配置し、回路の深さの増大を防ぎます。</a:t>
            </a:r>
            <a:endParaRPr kumimoji="1" lang="en-US" altLang="ja-JP" dirty="0"/>
          </a:p>
          <a:p>
            <a:endParaRPr kumimoji="1" lang="en-US" altLang="ja-JP" dirty="0"/>
          </a:p>
          <a:p>
            <a:r>
              <a:rPr kumimoji="1" lang="ja-JP" altLang="en-US"/>
              <a:t>一方で、</a:t>
            </a:r>
            <a:r>
              <a:rPr kumimoji="1" lang="en-US" altLang="ja-JP" dirty="0"/>
              <a:t>0</a:t>
            </a:r>
            <a:r>
              <a:rPr kumimoji="1" lang="ja-JP" altLang="en-US"/>
              <a:t>の要素を持たないゲートよりも上位ビットへのゲートの配置を制限します。</a:t>
            </a:r>
            <a:endParaRPr kumimoji="1" lang="en-US" altLang="ja-JP" dirty="0"/>
          </a:p>
          <a:p>
            <a:r>
              <a:rPr kumimoji="1" lang="en-US" altLang="ja-JP" dirty="0"/>
              <a:t>QMDD</a:t>
            </a:r>
            <a:r>
              <a:rPr kumimoji="1" lang="ja-JP" altLang="en-US"/>
              <a:t>の特性上、上位ビットへの</a:t>
            </a:r>
            <a:r>
              <a:rPr kumimoji="1" lang="en-US" altLang="ja-JP" dirty="0"/>
              <a:t>Identity</a:t>
            </a:r>
            <a:r>
              <a:rPr kumimoji="1" lang="ja-JP" altLang="en-US"/>
              <a:t>ゲートのパディングは不必要であり、提案する手法では非ゼロの要素のみで構成されるゲートよりも下位のレベルへのゲート連結が発生しません。</a:t>
            </a:r>
            <a:endParaRPr kumimoji="1" lang="en-US" altLang="ja-JP" dirty="0"/>
          </a:p>
          <a:p>
            <a:r>
              <a:rPr kumimoji="1" lang="ja-JP" altLang="en-US"/>
              <a:t>そのため非ゼロの要素のみで構成されるゲートは必ず終端ノードに接続され、指数関数的な演算コストの増大を抑制します。</a:t>
            </a:r>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8</a:t>
            </a:fld>
            <a:endParaRPr kumimoji="1" lang="ja-JP" altLang="en-US"/>
          </a:p>
        </p:txBody>
      </p:sp>
    </p:spTree>
    <p:extLst>
      <p:ext uri="{BB962C8B-B14F-4D97-AF65-F5344CB8AC3E}">
        <p14:creationId xmlns:p14="http://schemas.microsoft.com/office/powerpoint/2010/main" val="1385898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0</a:t>
            </a:r>
            <a:r>
              <a:rPr kumimoji="1" lang="ja-JP" altLang="en-US"/>
              <a:t>の要素の有無は単一量子ゲートのみに焦点を当てた分類方法でしたが、多量子ゲートの扱いについても紹介いたします。</a:t>
            </a:r>
            <a:endParaRPr kumimoji="1" lang="en-US" altLang="ja-JP" dirty="0"/>
          </a:p>
          <a:p>
            <a:endParaRPr kumimoji="1" lang="en-US" altLang="ja-JP" dirty="0"/>
          </a:p>
          <a:p>
            <a:r>
              <a:rPr kumimoji="1" lang="ja-JP" altLang="en-US"/>
              <a:t>多量子ゲートでは、零行列の有無で分類します。</a:t>
            </a:r>
            <a:endParaRPr kumimoji="1" lang="en-US" altLang="ja-JP" dirty="0"/>
          </a:p>
          <a:p>
            <a:r>
              <a:rPr kumimoji="1" lang="ja-JP" altLang="en-US"/>
              <a:t>零行列を部分行列として持つ量子ゲートは</a:t>
            </a:r>
            <a:r>
              <a:rPr kumimoji="1" lang="en-US" altLang="ja-JP" dirty="0"/>
              <a:t>QMDD</a:t>
            </a:r>
            <a:r>
              <a:rPr kumimoji="1" lang="ja-JP" altLang="en-US"/>
              <a:t>で表現した際に上位レベルで圧縮が可能になるという性質を持つためです。</a:t>
            </a:r>
            <a:endParaRPr kumimoji="1" lang="en-US" altLang="ja-JP" dirty="0"/>
          </a:p>
          <a:p>
            <a:endParaRPr kumimoji="1" lang="en-US" altLang="ja-JP" dirty="0"/>
          </a:p>
          <a:p>
            <a:r>
              <a:rPr kumimoji="1" lang="ja-JP" altLang="en-US"/>
              <a:t>また、置換行列に相当する</a:t>
            </a:r>
            <a:r>
              <a:rPr kumimoji="1" lang="en-US" altLang="ja-JP" dirty="0"/>
              <a:t>SWAP</a:t>
            </a:r>
            <a:r>
              <a:rPr kumimoji="1" lang="ja-JP" altLang="en-US"/>
              <a:t>ゲートはゼロ行列を部分行列にもたず、他の制御ゲートのようにノードの共有も難しいため、明示的に</a:t>
            </a:r>
            <a:r>
              <a:rPr kumimoji="1" lang="en-US" altLang="ja-JP" dirty="0"/>
              <a:t>QMDD</a:t>
            </a:r>
            <a:r>
              <a:rPr kumimoji="1" lang="ja-JP" altLang="en-US"/>
              <a:t>での演算処理をするのではなく置換テーブルで管理します。</a:t>
            </a:r>
            <a:endParaRPr kumimoji="1" lang="en-US" altLang="ja-JP" dirty="0"/>
          </a:p>
          <a:p>
            <a:endParaRPr kumimoji="1" lang="en-US" altLang="ja-JP" dirty="0"/>
          </a:p>
          <a:p>
            <a:r>
              <a:rPr kumimoji="1" lang="ja-JP" altLang="en-US"/>
              <a:t>さらに一部の制御ゲートでは、制御ビットとターゲットビットの順序関係に依存して大きく</a:t>
            </a:r>
            <a:r>
              <a:rPr kumimoji="1" lang="en-US" altLang="ja-JP" dirty="0"/>
              <a:t>QMDD</a:t>
            </a:r>
            <a:r>
              <a:rPr kumimoji="1" lang="ja-JP" altLang="en-US"/>
              <a:t>の形状が変化するため、作用するビットの考慮が必要となります。</a:t>
            </a:r>
            <a:endParaRPr kumimoji="1" lang="en-US" altLang="ja-JP" dirty="0"/>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9</a:t>
            </a:fld>
            <a:endParaRPr kumimoji="1" lang="ja-JP" altLang="en-US"/>
          </a:p>
        </p:txBody>
      </p:sp>
    </p:spTree>
    <p:extLst>
      <p:ext uri="{BB962C8B-B14F-4D97-AF65-F5344CB8AC3E}">
        <p14:creationId xmlns:p14="http://schemas.microsoft.com/office/powerpoint/2010/main" val="2305358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最後に、既存手法と今回提案する手法の両者でのシミュレーションの違いを回路図で説明いたします。</a:t>
            </a:r>
            <a:endParaRPr kumimoji="1" lang="en-US" altLang="ja-JP" dirty="0"/>
          </a:p>
          <a:p>
            <a:r>
              <a:rPr kumimoji="1" lang="ja-JP" altLang="en-US"/>
              <a:t>上段の回路が既存手法になっており、下段の回路が提案手法になります。</a:t>
            </a:r>
            <a:endParaRPr kumimoji="1" lang="en-US" altLang="ja-JP" dirty="0"/>
          </a:p>
          <a:p>
            <a:endParaRPr kumimoji="1" lang="en-US" altLang="ja-JP" dirty="0"/>
          </a:p>
          <a:p>
            <a:r>
              <a:rPr kumimoji="1" lang="ja-JP" altLang="en-US"/>
              <a:t>特に大きく違う部分を紫色の四角で表現しています。</a:t>
            </a:r>
            <a:endParaRPr kumimoji="1" lang="en-US" altLang="ja-JP" dirty="0"/>
          </a:p>
          <a:p>
            <a:r>
              <a:rPr kumimoji="1" lang="ja-JP" altLang="en-US"/>
              <a:t>また、下段の提案手法の回路では赤枠の部分が非ゼロの要素のみで構成されているゲートによって生じたデッドスペースになっており、この領域にはゲートを配置せず、回路の深さも既存手法に比べるとやや増加しています。</a:t>
            </a:r>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10</a:t>
            </a:fld>
            <a:endParaRPr kumimoji="1" lang="ja-JP" altLang="en-US"/>
          </a:p>
        </p:txBody>
      </p:sp>
    </p:spTree>
    <p:extLst>
      <p:ext uri="{BB962C8B-B14F-4D97-AF65-F5344CB8AC3E}">
        <p14:creationId xmlns:p14="http://schemas.microsoft.com/office/powerpoint/2010/main" val="327462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最後に、まとめと今後の課題になります。</a:t>
            </a:r>
            <a:endParaRPr kumimoji="1" lang="en-US" altLang="ja-JP" dirty="0"/>
          </a:p>
          <a:p>
            <a:endParaRPr kumimoji="1" lang="en-US" altLang="ja-JP" dirty="0"/>
          </a:p>
          <a:p>
            <a:r>
              <a:rPr kumimoji="1" lang="ja-JP" altLang="en-US"/>
              <a:t>既存手法の問題点であるシミュレート時の再帰数の指数関数的増大を抑制するために量子ゲートの</a:t>
            </a:r>
            <a:r>
              <a:rPr kumimoji="1" lang="en-US" altLang="ja-JP" dirty="0"/>
              <a:t>QMDD</a:t>
            </a:r>
            <a:r>
              <a:rPr kumimoji="1" lang="ja-JP" altLang="en-US"/>
              <a:t>の形状に注目したシミュレーション手法について提案いたしました。</a:t>
            </a:r>
            <a:endParaRPr kumimoji="1" lang="en-US" altLang="ja-JP" dirty="0"/>
          </a:p>
          <a:p>
            <a:r>
              <a:rPr kumimoji="1" lang="ja-JP" altLang="en-US"/>
              <a:t>具体的には単一量子ゲートであれば</a:t>
            </a:r>
            <a:r>
              <a:rPr kumimoji="1" lang="en-US" altLang="ja-JP" dirty="0"/>
              <a:t>0</a:t>
            </a:r>
            <a:r>
              <a:rPr kumimoji="1" lang="ja-JP" altLang="en-US"/>
              <a:t>の要素の有無、多量子ゲートであれば零行列の有無で分類し、再帰数を増大させるようなゲートは終端ノードに接続されるような設計を行う。</a:t>
            </a:r>
            <a:endParaRPr kumimoji="1" lang="en-US" altLang="ja-JP" dirty="0"/>
          </a:p>
          <a:p>
            <a:endParaRPr kumimoji="1" lang="en-US" altLang="ja-JP" dirty="0"/>
          </a:p>
          <a:p>
            <a:r>
              <a:rPr kumimoji="1" lang="ja-JP" altLang="en-US"/>
              <a:t>今後の課題では、提案手法の拡張案として、</a:t>
            </a:r>
            <a:r>
              <a:rPr kumimoji="1" lang="en-US" altLang="ja-JP" dirty="0"/>
              <a:t>QMDD</a:t>
            </a:r>
            <a:r>
              <a:rPr kumimoji="1" lang="ja-JP" altLang="en-US"/>
              <a:t>の変数順序の入れ替えでのデッドスペース削減や、多量子ゲートの制御ビットとターゲットビットの大小関係を考慮した最適化を行っていきたいと考えています。</a:t>
            </a:r>
            <a:endParaRPr kumimoji="1" lang="en-US" altLang="ja-JP" dirty="0"/>
          </a:p>
          <a:p>
            <a:endParaRPr kumimoji="1" lang="en-US" altLang="ja-JP" dirty="0"/>
          </a:p>
          <a:p>
            <a:r>
              <a:rPr kumimoji="1" lang="ja-JP" altLang="en-US"/>
              <a:t>以上になります。</a:t>
            </a:r>
            <a:endParaRPr kumimoji="1" lang="en-US" altLang="ja-JP" dirty="0"/>
          </a:p>
        </p:txBody>
      </p:sp>
      <p:sp>
        <p:nvSpPr>
          <p:cNvPr id="4" name="スライド番号プレースホルダー 3"/>
          <p:cNvSpPr>
            <a:spLocks noGrp="1"/>
          </p:cNvSpPr>
          <p:nvPr>
            <p:ph type="sldNum" sz="quarter" idx="5"/>
          </p:nvPr>
        </p:nvSpPr>
        <p:spPr/>
        <p:txBody>
          <a:bodyPr/>
          <a:lstStyle/>
          <a:p>
            <a:fld id="{8F6FC832-1C17-2B46-9D92-3AA382C5F850}" type="slidenum">
              <a:rPr kumimoji="1" lang="ja-JP" altLang="en-US" smtClean="0"/>
              <a:t>11</a:t>
            </a:fld>
            <a:endParaRPr kumimoji="1" lang="ja-JP" altLang="en-US"/>
          </a:p>
        </p:txBody>
      </p:sp>
    </p:spTree>
    <p:extLst>
      <p:ext uri="{BB962C8B-B14F-4D97-AF65-F5344CB8AC3E}">
        <p14:creationId xmlns:p14="http://schemas.microsoft.com/office/powerpoint/2010/main" val="351510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F4FCCAA-E98D-924E-8192-CCFDFD99EBAA}" type="slidenum">
              <a:rPr kumimoji="1" lang="ja-JP" altLang="en-US" smtClean="0"/>
              <a:t>14</a:t>
            </a:fld>
            <a:endParaRPr kumimoji="1" lang="ja-JP" altLang="en-US"/>
          </a:p>
        </p:txBody>
      </p:sp>
    </p:spTree>
    <p:extLst>
      <p:ext uri="{BB962C8B-B14F-4D97-AF65-F5344CB8AC3E}">
        <p14:creationId xmlns:p14="http://schemas.microsoft.com/office/powerpoint/2010/main" val="3917056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90566A-FB34-40BB-89ED-909F1B54EE0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115562EE-6A63-65AD-6725-D58C653B7B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BC2BAAE-29D0-0685-DE12-FB5A469D0D3C}"/>
              </a:ext>
            </a:extLst>
          </p:cNvPr>
          <p:cNvSpPr>
            <a:spLocks noGrp="1"/>
          </p:cNvSpPr>
          <p:nvPr>
            <p:ph type="dt" sz="half" idx="10"/>
          </p:nvPr>
        </p:nvSpPr>
        <p:spPr/>
        <p:txBody>
          <a:bodyPr/>
          <a:lstStyle/>
          <a:p>
            <a:fld id="{40ACDCCD-ECE1-404C-B9DC-99F4549AF587}" type="datetime1">
              <a:rPr kumimoji="1" lang="ja-JP" altLang="en-US" smtClean="0"/>
              <a:t>2025/12/22</a:t>
            </a:fld>
            <a:endParaRPr kumimoji="1" lang="ja-JP" altLang="en-US"/>
          </a:p>
        </p:txBody>
      </p:sp>
      <p:sp>
        <p:nvSpPr>
          <p:cNvPr id="5" name="フッター プレースホルダー 4">
            <a:extLst>
              <a:ext uri="{FF2B5EF4-FFF2-40B4-BE49-F238E27FC236}">
                <a16:creationId xmlns:a16="http://schemas.microsoft.com/office/drawing/2014/main" id="{1692C3F7-6E59-E090-F543-63F11DABD0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65CFEFF-D44E-A443-29C7-DB1804E4BF46}"/>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381362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F103CD-2A3B-957C-EC49-753C9E2F9A8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7EBBD17-02B2-FCF1-25E5-C3235F53D9E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AF46DAB-5A75-5B6E-39C4-C359A430EA27}"/>
              </a:ext>
            </a:extLst>
          </p:cNvPr>
          <p:cNvSpPr>
            <a:spLocks noGrp="1"/>
          </p:cNvSpPr>
          <p:nvPr>
            <p:ph type="dt" sz="half" idx="10"/>
          </p:nvPr>
        </p:nvSpPr>
        <p:spPr/>
        <p:txBody>
          <a:bodyPr/>
          <a:lstStyle/>
          <a:p>
            <a:fld id="{5FCC8A69-A3F7-E24B-A06F-B86971B3B22A}" type="datetime1">
              <a:rPr kumimoji="1" lang="ja-JP" altLang="en-US" smtClean="0"/>
              <a:t>2025/12/22</a:t>
            </a:fld>
            <a:endParaRPr kumimoji="1" lang="ja-JP" altLang="en-US"/>
          </a:p>
        </p:txBody>
      </p:sp>
      <p:sp>
        <p:nvSpPr>
          <p:cNvPr id="5" name="フッター プレースホルダー 4">
            <a:extLst>
              <a:ext uri="{FF2B5EF4-FFF2-40B4-BE49-F238E27FC236}">
                <a16:creationId xmlns:a16="http://schemas.microsoft.com/office/drawing/2014/main" id="{2BB06AA3-BD9D-0186-B1B7-20BB62CD240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395702-A898-D83B-C808-574ACB50E09B}"/>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4190154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1E3CC9-C4CB-6ED7-2986-2DED393FA67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D261FAC-6BFC-7FA5-047E-A03826CC3D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3ED0179-471C-D5CB-5B88-9A7C60F302BD}"/>
              </a:ext>
            </a:extLst>
          </p:cNvPr>
          <p:cNvSpPr>
            <a:spLocks noGrp="1"/>
          </p:cNvSpPr>
          <p:nvPr>
            <p:ph type="dt" sz="half" idx="10"/>
          </p:nvPr>
        </p:nvSpPr>
        <p:spPr/>
        <p:txBody>
          <a:bodyPr/>
          <a:lstStyle/>
          <a:p>
            <a:fld id="{9425F785-B32B-8240-B7C1-E03359B3D1B5}" type="datetime1">
              <a:rPr kumimoji="1" lang="ja-JP" altLang="en-US" smtClean="0"/>
              <a:t>2025/12/22</a:t>
            </a:fld>
            <a:endParaRPr kumimoji="1" lang="ja-JP" altLang="en-US"/>
          </a:p>
        </p:txBody>
      </p:sp>
      <p:sp>
        <p:nvSpPr>
          <p:cNvPr id="5" name="フッター プレースホルダー 4">
            <a:extLst>
              <a:ext uri="{FF2B5EF4-FFF2-40B4-BE49-F238E27FC236}">
                <a16:creationId xmlns:a16="http://schemas.microsoft.com/office/drawing/2014/main" id="{E36539B3-BB8D-D3BB-0055-FE420D4DA6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2B7036-773C-9EC3-ADF2-5AD0486520FE}"/>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170462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14C69C-30EC-D10D-B172-FD4ED8075F2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CCC1B55-0115-5DB4-23C5-C4FFA639E1D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3F08616-4894-DFB7-985A-8898E373CA2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FCD3602-4CCB-480E-97E1-DB82B580FAA3}"/>
              </a:ext>
            </a:extLst>
          </p:cNvPr>
          <p:cNvSpPr>
            <a:spLocks noGrp="1"/>
          </p:cNvSpPr>
          <p:nvPr>
            <p:ph type="dt" sz="half" idx="10"/>
          </p:nvPr>
        </p:nvSpPr>
        <p:spPr/>
        <p:txBody>
          <a:bodyPr/>
          <a:lstStyle/>
          <a:p>
            <a:fld id="{6748B249-895E-9348-AA58-11D360C3A97F}" type="datetime1">
              <a:rPr kumimoji="1" lang="ja-JP" altLang="en-US" smtClean="0"/>
              <a:t>2025/12/22</a:t>
            </a:fld>
            <a:endParaRPr kumimoji="1" lang="ja-JP" altLang="en-US"/>
          </a:p>
        </p:txBody>
      </p:sp>
      <p:sp>
        <p:nvSpPr>
          <p:cNvPr id="6" name="フッター プレースホルダー 5">
            <a:extLst>
              <a:ext uri="{FF2B5EF4-FFF2-40B4-BE49-F238E27FC236}">
                <a16:creationId xmlns:a16="http://schemas.microsoft.com/office/drawing/2014/main" id="{ACC7435A-0BC3-DEEB-957E-35379009DF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F6C2E5B-6AE6-0F86-F95A-93BEBA279BF3}"/>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3759339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3471AD-17C9-A001-F0C7-AA5FAE2731C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A7B8220-8A0E-BCC7-55A1-1A40130FE3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9C290D-F019-E8E9-93B3-BF8C05D27DF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478BAB3-0AA5-2A67-11E7-B39BBAD2FF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EAA196C-AC3B-7275-437C-DE854DFCFFD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814B3ED-70E4-A29C-4183-718EBC81E315}"/>
              </a:ext>
            </a:extLst>
          </p:cNvPr>
          <p:cNvSpPr>
            <a:spLocks noGrp="1"/>
          </p:cNvSpPr>
          <p:nvPr>
            <p:ph type="dt" sz="half" idx="10"/>
          </p:nvPr>
        </p:nvSpPr>
        <p:spPr/>
        <p:txBody>
          <a:bodyPr/>
          <a:lstStyle/>
          <a:p>
            <a:fld id="{489FC0C0-01DE-5D41-92E0-2B0FB51BB226}" type="datetime1">
              <a:rPr kumimoji="1" lang="ja-JP" altLang="en-US" smtClean="0"/>
              <a:t>2025/12/22</a:t>
            </a:fld>
            <a:endParaRPr kumimoji="1" lang="ja-JP" altLang="en-US"/>
          </a:p>
        </p:txBody>
      </p:sp>
      <p:sp>
        <p:nvSpPr>
          <p:cNvPr id="8" name="フッター プレースホルダー 7">
            <a:extLst>
              <a:ext uri="{FF2B5EF4-FFF2-40B4-BE49-F238E27FC236}">
                <a16:creationId xmlns:a16="http://schemas.microsoft.com/office/drawing/2014/main" id="{D092A18E-3998-0F37-9690-3B7390C1F77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5D06042-F89B-8612-ABB8-7260B1E6CDAB}"/>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96645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68D57B-8E63-240B-1B6F-77EB31DFD53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5FD9C1-BFF3-6A2F-D44B-9975A795D3D1}"/>
              </a:ext>
            </a:extLst>
          </p:cNvPr>
          <p:cNvSpPr>
            <a:spLocks noGrp="1"/>
          </p:cNvSpPr>
          <p:nvPr>
            <p:ph type="dt" sz="half" idx="10"/>
          </p:nvPr>
        </p:nvSpPr>
        <p:spPr/>
        <p:txBody>
          <a:bodyPr/>
          <a:lstStyle/>
          <a:p>
            <a:fld id="{869D29F1-347E-9E4A-9837-D451BECC302F}" type="datetime1">
              <a:rPr kumimoji="1" lang="ja-JP" altLang="en-US" smtClean="0"/>
              <a:t>2025/12/22</a:t>
            </a:fld>
            <a:endParaRPr kumimoji="1" lang="ja-JP" altLang="en-US"/>
          </a:p>
        </p:txBody>
      </p:sp>
      <p:sp>
        <p:nvSpPr>
          <p:cNvPr id="4" name="フッター プレースホルダー 3">
            <a:extLst>
              <a:ext uri="{FF2B5EF4-FFF2-40B4-BE49-F238E27FC236}">
                <a16:creationId xmlns:a16="http://schemas.microsoft.com/office/drawing/2014/main" id="{44C9F5B9-654C-167D-A899-2180727F7FD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B450731-C926-1A12-09D3-AA99239424B7}"/>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2905480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84B6429-532D-C4FE-C511-8AEC05CBDC6B}"/>
              </a:ext>
            </a:extLst>
          </p:cNvPr>
          <p:cNvSpPr>
            <a:spLocks noGrp="1"/>
          </p:cNvSpPr>
          <p:nvPr>
            <p:ph type="dt" sz="half" idx="10"/>
          </p:nvPr>
        </p:nvSpPr>
        <p:spPr/>
        <p:txBody>
          <a:bodyPr/>
          <a:lstStyle/>
          <a:p>
            <a:fld id="{02B93DE7-3BFB-BC4A-9F05-DE0F4DDD055D}" type="datetime1">
              <a:rPr kumimoji="1" lang="ja-JP" altLang="en-US" smtClean="0"/>
              <a:t>2025/12/22</a:t>
            </a:fld>
            <a:endParaRPr kumimoji="1" lang="ja-JP" altLang="en-US"/>
          </a:p>
        </p:txBody>
      </p:sp>
      <p:sp>
        <p:nvSpPr>
          <p:cNvPr id="3" name="フッター プレースホルダー 2">
            <a:extLst>
              <a:ext uri="{FF2B5EF4-FFF2-40B4-BE49-F238E27FC236}">
                <a16:creationId xmlns:a16="http://schemas.microsoft.com/office/drawing/2014/main" id="{F0DB8BFD-C0B5-018C-F3A0-95E6E77FB5A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82EE592-BBED-CB97-E496-1FAC3C280A54}"/>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231224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71CE3A-C7C4-36CB-D850-180EC49794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749CA9-4B33-4F22-C28E-24EC9A49E6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8DB7482-B133-1A8A-2312-D6E515D287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E85100E-DA58-1882-40A7-3FD842EBFA8F}"/>
              </a:ext>
            </a:extLst>
          </p:cNvPr>
          <p:cNvSpPr>
            <a:spLocks noGrp="1"/>
          </p:cNvSpPr>
          <p:nvPr>
            <p:ph type="dt" sz="half" idx="10"/>
          </p:nvPr>
        </p:nvSpPr>
        <p:spPr/>
        <p:txBody>
          <a:bodyPr/>
          <a:lstStyle/>
          <a:p>
            <a:fld id="{A3D06D9B-CC18-0E44-86E8-3096BB54316D}" type="datetime1">
              <a:rPr kumimoji="1" lang="ja-JP" altLang="en-US" smtClean="0"/>
              <a:t>2025/12/22</a:t>
            </a:fld>
            <a:endParaRPr kumimoji="1" lang="ja-JP" altLang="en-US"/>
          </a:p>
        </p:txBody>
      </p:sp>
      <p:sp>
        <p:nvSpPr>
          <p:cNvPr id="6" name="フッター プレースホルダー 5">
            <a:extLst>
              <a:ext uri="{FF2B5EF4-FFF2-40B4-BE49-F238E27FC236}">
                <a16:creationId xmlns:a16="http://schemas.microsoft.com/office/drawing/2014/main" id="{A148FC22-5220-E0EE-DF85-8D18FF74131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40C55EC-447E-CA24-27A5-FC7483112D63}"/>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155988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52AFD4-9D64-5F0D-17F5-EE30A028D23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8C6CB6E-6840-CFEF-8916-E09C582CA0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11B09B-38E3-EF6D-DBDB-94E52FAC6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6651F6F-4671-9D07-64AB-BC2605E9E5C6}"/>
              </a:ext>
            </a:extLst>
          </p:cNvPr>
          <p:cNvSpPr>
            <a:spLocks noGrp="1"/>
          </p:cNvSpPr>
          <p:nvPr>
            <p:ph type="dt" sz="half" idx="10"/>
          </p:nvPr>
        </p:nvSpPr>
        <p:spPr/>
        <p:txBody>
          <a:bodyPr/>
          <a:lstStyle/>
          <a:p>
            <a:fld id="{BD9941B9-FC25-3D45-AFC9-5565E82A13D2}" type="datetime1">
              <a:rPr kumimoji="1" lang="ja-JP" altLang="en-US" smtClean="0"/>
              <a:t>2025/12/22</a:t>
            </a:fld>
            <a:endParaRPr kumimoji="1" lang="ja-JP" altLang="en-US"/>
          </a:p>
        </p:txBody>
      </p:sp>
      <p:sp>
        <p:nvSpPr>
          <p:cNvPr id="6" name="フッター プレースホルダー 5">
            <a:extLst>
              <a:ext uri="{FF2B5EF4-FFF2-40B4-BE49-F238E27FC236}">
                <a16:creationId xmlns:a16="http://schemas.microsoft.com/office/drawing/2014/main" id="{C9232FAA-BBC5-DA11-9153-4362C751132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54E7FAE-3068-71E4-2ABA-19E05A9E120F}"/>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2665508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4B5464-BF58-CFBE-D0C8-059B9BDA4AF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B364736-2FA5-1190-3031-F408C20C8E0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9783B4-4080-DCA9-1D09-9AF42B847137}"/>
              </a:ext>
            </a:extLst>
          </p:cNvPr>
          <p:cNvSpPr>
            <a:spLocks noGrp="1"/>
          </p:cNvSpPr>
          <p:nvPr>
            <p:ph type="dt" sz="half" idx="10"/>
          </p:nvPr>
        </p:nvSpPr>
        <p:spPr/>
        <p:txBody>
          <a:bodyPr/>
          <a:lstStyle/>
          <a:p>
            <a:fld id="{914296E8-DA8E-B74E-93EB-E0FA41B10BF6}" type="datetime1">
              <a:rPr kumimoji="1" lang="ja-JP" altLang="en-US" smtClean="0"/>
              <a:t>2025/12/22</a:t>
            </a:fld>
            <a:endParaRPr kumimoji="1" lang="ja-JP" altLang="en-US"/>
          </a:p>
        </p:txBody>
      </p:sp>
      <p:sp>
        <p:nvSpPr>
          <p:cNvPr id="5" name="フッター プレースホルダー 4">
            <a:extLst>
              <a:ext uri="{FF2B5EF4-FFF2-40B4-BE49-F238E27FC236}">
                <a16:creationId xmlns:a16="http://schemas.microsoft.com/office/drawing/2014/main" id="{BBD5AB79-1640-9B5A-0326-1C9E2514D3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EF0723-469C-BB66-61E4-1B39C7470A49}"/>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289504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2C2C11D-FDAF-AE61-9F93-A7D445B654F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43BD950-0B3C-D14B-FD42-5DB4C6D5246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6A3C37-C190-878C-4562-DDCA92D32CDE}"/>
              </a:ext>
            </a:extLst>
          </p:cNvPr>
          <p:cNvSpPr>
            <a:spLocks noGrp="1"/>
          </p:cNvSpPr>
          <p:nvPr>
            <p:ph type="dt" sz="half" idx="10"/>
          </p:nvPr>
        </p:nvSpPr>
        <p:spPr/>
        <p:txBody>
          <a:bodyPr/>
          <a:lstStyle/>
          <a:p>
            <a:fld id="{0A766FF2-201E-5543-B10B-E80F2325898E}" type="datetime1">
              <a:rPr kumimoji="1" lang="ja-JP" altLang="en-US" smtClean="0"/>
              <a:t>2025/12/22</a:t>
            </a:fld>
            <a:endParaRPr kumimoji="1" lang="ja-JP" altLang="en-US"/>
          </a:p>
        </p:txBody>
      </p:sp>
      <p:sp>
        <p:nvSpPr>
          <p:cNvPr id="5" name="フッター プレースホルダー 4">
            <a:extLst>
              <a:ext uri="{FF2B5EF4-FFF2-40B4-BE49-F238E27FC236}">
                <a16:creationId xmlns:a16="http://schemas.microsoft.com/office/drawing/2014/main" id="{BEDE83B1-7174-7868-A84A-7F898826DD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E4EC120-E428-255F-08E7-8F298C764118}"/>
              </a:ext>
            </a:extLst>
          </p:cNvPr>
          <p:cNvSpPr>
            <a:spLocks noGrp="1"/>
          </p:cNvSpPr>
          <p:nvPr>
            <p:ph type="sldNum" sz="quarter" idx="12"/>
          </p:nvPr>
        </p:nvSpPr>
        <p:spPr/>
        <p:txBody>
          <a:body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224001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98D1020-AE1E-A6AB-510C-8F4E3C2FA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98BBE29-D4F5-B6A1-46F1-BFF80A61F8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3F0ED12-96F1-6F5A-5F74-1EC9368BD9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F4A43D-4A20-914C-9D65-3BB73CA12932}" type="datetime1">
              <a:rPr kumimoji="1" lang="ja-JP" altLang="en-US" smtClean="0"/>
              <a:t>2025/12/22</a:t>
            </a:fld>
            <a:endParaRPr kumimoji="1" lang="ja-JP" altLang="en-US"/>
          </a:p>
        </p:txBody>
      </p:sp>
      <p:sp>
        <p:nvSpPr>
          <p:cNvPr id="5" name="フッター プレースホルダー 4">
            <a:extLst>
              <a:ext uri="{FF2B5EF4-FFF2-40B4-BE49-F238E27FC236}">
                <a16:creationId xmlns:a16="http://schemas.microsoft.com/office/drawing/2014/main" id="{70EB5D25-29CC-6799-F7F0-6DAE1C02A7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D4098E5-3F86-01DB-FB84-21C90AC30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DD3F26-AD0F-FC47-9ED8-571159D68F9B}" type="slidenum">
              <a:rPr kumimoji="1" lang="ja-JP" altLang="en-US" smtClean="0"/>
              <a:t>‹#›</a:t>
            </a:fld>
            <a:endParaRPr kumimoji="1" lang="ja-JP" altLang="en-US"/>
          </a:p>
        </p:txBody>
      </p:sp>
    </p:spTree>
    <p:extLst>
      <p:ext uri="{BB962C8B-B14F-4D97-AF65-F5344CB8AC3E}">
        <p14:creationId xmlns:p14="http://schemas.microsoft.com/office/powerpoint/2010/main" val="1223484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80.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6.png"/><Relationship Id="rId7" Type="http://schemas.openxmlformats.org/officeDocument/2006/relationships/image" Target="../media/image1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0.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710.png"/><Relationship Id="rId4" Type="http://schemas.openxmlformats.org/officeDocument/2006/relationships/image" Target="../media/image60.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0.png"/><Relationship Id="rId3" Type="http://schemas.openxmlformats.org/officeDocument/2006/relationships/image" Target="../media/image130.png"/><Relationship Id="rId7" Type="http://schemas.openxmlformats.org/officeDocument/2006/relationships/image" Target="../media/image160.png"/><Relationship Id="rId12"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18.png"/><Relationship Id="rId5" Type="http://schemas.openxmlformats.org/officeDocument/2006/relationships/image" Target="../media/image16.png"/><Relationship Id="rId10" Type="http://schemas.openxmlformats.org/officeDocument/2006/relationships/image" Target="../media/image40.png"/><Relationship Id="rId4" Type="http://schemas.openxmlformats.org/officeDocument/2006/relationships/image" Target="../media/image14.png"/><Relationship Id="rId9" Type="http://schemas.openxmlformats.org/officeDocument/2006/relationships/image" Target="../media/image39.png"/><Relationship Id="rId14" Type="http://schemas.openxmlformats.org/officeDocument/2006/relationships/image" Target="../media/image44.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18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40.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480.png"/><Relationship Id="rId13" Type="http://schemas.openxmlformats.org/officeDocument/2006/relationships/image" Target="../media/image530.png"/><Relationship Id="rId18" Type="http://schemas.openxmlformats.org/officeDocument/2006/relationships/image" Target="../media/image29.png"/><Relationship Id="rId3" Type="http://schemas.openxmlformats.org/officeDocument/2006/relationships/image" Target="../media/image340.png"/><Relationship Id="rId7" Type="http://schemas.openxmlformats.org/officeDocument/2006/relationships/image" Target="../media/image420.png"/><Relationship Id="rId12" Type="http://schemas.openxmlformats.org/officeDocument/2006/relationships/image" Target="../media/image520.png"/><Relationship Id="rId17" Type="http://schemas.openxmlformats.org/officeDocument/2006/relationships/image" Target="../media/image62.png"/><Relationship Id="rId2" Type="http://schemas.openxmlformats.org/officeDocument/2006/relationships/notesSlide" Target="../notesSlides/notesSlide12.xml"/><Relationship Id="rId16" Type="http://schemas.openxmlformats.org/officeDocument/2006/relationships/image" Target="../media/image560.png"/><Relationship Id="rId20"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411.png"/><Relationship Id="rId11" Type="http://schemas.openxmlformats.org/officeDocument/2006/relationships/image" Target="../media/image510.png"/><Relationship Id="rId5" Type="http://schemas.openxmlformats.org/officeDocument/2006/relationships/image" Target="../media/image27.png"/><Relationship Id="rId15" Type="http://schemas.openxmlformats.org/officeDocument/2006/relationships/image" Target="../media/image550.png"/><Relationship Id="rId10" Type="http://schemas.openxmlformats.org/officeDocument/2006/relationships/image" Target="../media/image500.png"/><Relationship Id="rId19" Type="http://schemas.openxmlformats.org/officeDocument/2006/relationships/image" Target="../media/image63.png"/><Relationship Id="rId4" Type="http://schemas.openxmlformats.org/officeDocument/2006/relationships/image" Target="../media/image26.png"/><Relationship Id="rId9" Type="http://schemas.openxmlformats.org/officeDocument/2006/relationships/image" Target="../media/image490.png"/><Relationship Id="rId14" Type="http://schemas.openxmlformats.org/officeDocument/2006/relationships/image" Target="../media/image540.png"/></Relationships>
</file>

<file path=ppt/slides/_rels/slide15.xml.rels><?xml version="1.0" encoding="UTF-8" standalone="yes"?>
<Relationships xmlns="http://schemas.openxmlformats.org/package/2006/relationships"><Relationship Id="rId8" Type="http://schemas.openxmlformats.org/officeDocument/2006/relationships/image" Target="../media/image611.png"/><Relationship Id="rId13" Type="http://schemas.openxmlformats.org/officeDocument/2006/relationships/image" Target="../media/image66.png"/><Relationship Id="rId3" Type="http://schemas.openxmlformats.org/officeDocument/2006/relationships/image" Target="../media/image27.png"/><Relationship Id="rId7" Type="http://schemas.openxmlformats.org/officeDocument/2006/relationships/image" Target="../media/image600.png"/><Relationship Id="rId12" Type="http://schemas.openxmlformats.org/officeDocument/2006/relationships/image" Target="../media/image650.png"/><Relationship Id="rId17" Type="http://schemas.openxmlformats.org/officeDocument/2006/relationships/image" Target="../media/image26.png"/><Relationship Id="rId2" Type="http://schemas.openxmlformats.org/officeDocument/2006/relationships/image" Target="../media/image580.png"/><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540.png"/><Relationship Id="rId11" Type="http://schemas.openxmlformats.org/officeDocument/2006/relationships/image" Target="../media/image640.png"/><Relationship Id="rId5" Type="http://schemas.openxmlformats.org/officeDocument/2006/relationships/image" Target="../media/image590.png"/><Relationship Id="rId15" Type="http://schemas.openxmlformats.org/officeDocument/2006/relationships/image" Target="../media/image68.png"/><Relationship Id="rId10" Type="http://schemas.openxmlformats.org/officeDocument/2006/relationships/image" Target="../media/image630.png"/><Relationship Id="rId9" Type="http://schemas.openxmlformats.org/officeDocument/2006/relationships/image" Target="../media/image65.png"/><Relationship Id="rId14" Type="http://schemas.openxmlformats.org/officeDocument/2006/relationships/image" Target="../media/image67.png"/></Relationships>
</file>

<file path=ppt/slides/_rels/slide16.xml.rels><?xml version="1.0" encoding="UTF-8" standalone="yes"?>
<Relationships xmlns="http://schemas.openxmlformats.org/package/2006/relationships"><Relationship Id="rId8" Type="http://schemas.openxmlformats.org/officeDocument/2006/relationships/image" Target="../media/image510.png"/><Relationship Id="rId13" Type="http://schemas.openxmlformats.org/officeDocument/2006/relationships/image" Target="../media/image611.png"/><Relationship Id="rId18" Type="http://schemas.openxmlformats.org/officeDocument/2006/relationships/image" Target="../media/image76.png"/><Relationship Id="rId3" Type="http://schemas.openxmlformats.org/officeDocument/2006/relationships/image" Target="../media/image26.png"/><Relationship Id="rId21" Type="http://schemas.openxmlformats.org/officeDocument/2006/relationships/image" Target="../media/image79.png"/><Relationship Id="rId7" Type="http://schemas.openxmlformats.org/officeDocument/2006/relationships/image" Target="../media/image70.png"/><Relationship Id="rId12" Type="http://schemas.openxmlformats.org/officeDocument/2006/relationships/image" Target="../media/image600.png"/><Relationship Id="rId17" Type="http://schemas.openxmlformats.org/officeDocument/2006/relationships/image" Target="../media/image75.png"/><Relationship Id="rId25" Type="http://schemas.openxmlformats.org/officeDocument/2006/relationships/image" Target="../media/image31.png"/><Relationship Id="rId2" Type="http://schemas.openxmlformats.org/officeDocument/2006/relationships/image" Target="../media/image690.png"/><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420.png"/><Relationship Id="rId11" Type="http://schemas.openxmlformats.org/officeDocument/2006/relationships/image" Target="../media/image590.png"/><Relationship Id="rId24" Type="http://schemas.openxmlformats.org/officeDocument/2006/relationships/image" Target="../media/image82.png"/><Relationship Id="rId5" Type="http://schemas.openxmlformats.org/officeDocument/2006/relationships/image" Target="../media/image411.png"/><Relationship Id="rId15" Type="http://schemas.openxmlformats.org/officeDocument/2006/relationships/image" Target="../media/image73.png"/><Relationship Id="rId23" Type="http://schemas.openxmlformats.org/officeDocument/2006/relationships/image" Target="../media/image81.png"/><Relationship Id="rId10" Type="http://schemas.openxmlformats.org/officeDocument/2006/relationships/image" Target="../media/image72.png"/><Relationship Id="rId19" Type="http://schemas.openxmlformats.org/officeDocument/2006/relationships/image" Target="../media/image77.png"/><Relationship Id="rId4" Type="http://schemas.openxmlformats.org/officeDocument/2006/relationships/image" Target="../media/image27.png"/><Relationship Id="rId9" Type="http://schemas.openxmlformats.org/officeDocument/2006/relationships/image" Target="../media/image71.png"/><Relationship Id="rId14" Type="http://schemas.openxmlformats.org/officeDocument/2006/relationships/image" Target="../media/image62.png"/><Relationship Id="rId22" Type="http://schemas.openxmlformats.org/officeDocument/2006/relationships/image" Target="../media/image800.png"/></Relationships>
</file>

<file path=ppt/slides/_rels/slide17.xml.rels><?xml version="1.0" encoding="UTF-8" standalone="yes"?>
<Relationships xmlns="http://schemas.openxmlformats.org/package/2006/relationships"><Relationship Id="rId8" Type="http://schemas.openxmlformats.org/officeDocument/2006/relationships/image" Target="../media/image490.png"/><Relationship Id="rId13" Type="http://schemas.openxmlformats.org/officeDocument/2006/relationships/image" Target="../media/image540.png"/><Relationship Id="rId18" Type="http://schemas.openxmlformats.org/officeDocument/2006/relationships/image" Target="../media/image85.png"/><Relationship Id="rId3" Type="http://schemas.openxmlformats.org/officeDocument/2006/relationships/image" Target="../media/image26.png"/><Relationship Id="rId7" Type="http://schemas.openxmlformats.org/officeDocument/2006/relationships/image" Target="../media/image480.png"/><Relationship Id="rId12" Type="http://schemas.openxmlformats.org/officeDocument/2006/relationships/image" Target="../media/image530.png"/><Relationship Id="rId17" Type="http://schemas.openxmlformats.org/officeDocument/2006/relationships/image" Target="../media/image84.png"/><Relationship Id="rId2" Type="http://schemas.openxmlformats.org/officeDocument/2006/relationships/image" Target="../media/image830.png"/><Relationship Id="rId16"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420.png"/><Relationship Id="rId11" Type="http://schemas.openxmlformats.org/officeDocument/2006/relationships/image" Target="../media/image520.png"/><Relationship Id="rId5" Type="http://schemas.openxmlformats.org/officeDocument/2006/relationships/image" Target="../media/image411.png"/><Relationship Id="rId15" Type="http://schemas.openxmlformats.org/officeDocument/2006/relationships/image" Target="../media/image560.png"/><Relationship Id="rId10" Type="http://schemas.openxmlformats.org/officeDocument/2006/relationships/image" Target="../media/image510.png"/><Relationship Id="rId19" Type="http://schemas.openxmlformats.org/officeDocument/2006/relationships/image" Target="../media/image32.png"/><Relationship Id="rId4" Type="http://schemas.openxmlformats.org/officeDocument/2006/relationships/image" Target="../media/image27.png"/><Relationship Id="rId9" Type="http://schemas.openxmlformats.org/officeDocument/2006/relationships/image" Target="../media/image500.png"/><Relationship Id="rId14" Type="http://schemas.openxmlformats.org/officeDocument/2006/relationships/image" Target="../media/image550.png"/></Relationships>
</file>

<file path=ppt/slides/_rels/slide1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20.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280.png"/><Relationship Id="rId7" Type="http://schemas.openxmlformats.org/officeDocument/2006/relationships/image" Target="../media/image38.png"/><Relationship Id="rId2" Type="http://schemas.openxmlformats.org/officeDocument/2006/relationships/image" Target="../media/image26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371EC0-13C8-2482-7018-27885F87D2E7}"/>
              </a:ext>
            </a:extLst>
          </p:cNvPr>
          <p:cNvSpPr>
            <a:spLocks noGrp="1"/>
          </p:cNvSpPr>
          <p:nvPr>
            <p:ph type="ctrTitle"/>
          </p:nvPr>
        </p:nvSpPr>
        <p:spPr>
          <a:xfrm>
            <a:off x="459059" y="1141955"/>
            <a:ext cx="11273882" cy="2387600"/>
          </a:xfrm>
        </p:spPr>
        <p:txBody>
          <a:bodyPr>
            <a:normAutofit fontScale="90000"/>
          </a:bodyPr>
          <a:lstStyle/>
          <a:p>
            <a:r>
              <a:rPr kumimoji="1" lang="ja-JP" altLang="en-US"/>
              <a:t>同時に適用する量子ゲートの</a:t>
            </a:r>
            <a:br>
              <a:rPr kumimoji="1" lang="en-US" altLang="ja-JP" dirty="0"/>
            </a:br>
            <a:r>
              <a:rPr kumimoji="1" lang="ja-JP" altLang="en-US"/>
              <a:t>適切な選択による</a:t>
            </a:r>
            <a:br>
              <a:rPr kumimoji="1" lang="en-US" altLang="ja-JP" dirty="0"/>
            </a:br>
            <a:r>
              <a:rPr kumimoji="1" lang="en-US" altLang="ja-JP" dirty="0"/>
              <a:t>QMDD</a:t>
            </a:r>
            <a:r>
              <a:rPr kumimoji="1" lang="ja-JP" altLang="en-US"/>
              <a:t>の量子回路シミュレーション</a:t>
            </a:r>
          </a:p>
        </p:txBody>
      </p:sp>
      <p:sp>
        <p:nvSpPr>
          <p:cNvPr id="3" name="字幕 2">
            <a:extLst>
              <a:ext uri="{FF2B5EF4-FFF2-40B4-BE49-F238E27FC236}">
                <a16:creationId xmlns:a16="http://schemas.microsoft.com/office/drawing/2014/main" id="{876B64C5-D80A-B101-9F65-AE8E636856C1}"/>
              </a:ext>
            </a:extLst>
          </p:cNvPr>
          <p:cNvSpPr>
            <a:spLocks noGrp="1"/>
          </p:cNvSpPr>
          <p:nvPr>
            <p:ph type="subTitle" idx="1"/>
          </p:nvPr>
        </p:nvSpPr>
        <p:spPr/>
        <p:txBody>
          <a:bodyPr/>
          <a:lstStyle/>
          <a:p>
            <a:r>
              <a:rPr lang="ja-JP" altLang="en-US"/>
              <a:t>次世代コンピューティング研究室</a:t>
            </a:r>
            <a:endParaRPr kumimoji="1" lang="en-US" altLang="ja-JP" dirty="0"/>
          </a:p>
          <a:p>
            <a:r>
              <a:rPr lang="ja-JP" altLang="en-US"/>
              <a:t>三石</a:t>
            </a:r>
            <a:r>
              <a:rPr lang="en-US" altLang="ja-JP" dirty="0"/>
              <a:t> </a:t>
            </a:r>
            <a:r>
              <a:rPr lang="ja-JP" altLang="en-US"/>
              <a:t>海人</a:t>
            </a:r>
            <a:endParaRPr kumimoji="1" lang="ja-JP" altLang="en-US"/>
          </a:p>
        </p:txBody>
      </p:sp>
    </p:spTree>
    <p:extLst>
      <p:ext uri="{BB962C8B-B14F-4D97-AF65-F5344CB8AC3E}">
        <p14:creationId xmlns:p14="http://schemas.microsoft.com/office/powerpoint/2010/main" val="3343468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946C40-4537-222C-BC70-F9238B510D98}"/>
              </a:ext>
            </a:extLst>
          </p:cNvPr>
          <p:cNvSpPr>
            <a:spLocks noGrp="1"/>
          </p:cNvSpPr>
          <p:nvPr>
            <p:ph type="title"/>
          </p:nvPr>
        </p:nvSpPr>
        <p:spPr/>
        <p:txBody>
          <a:bodyPr/>
          <a:lstStyle/>
          <a:p>
            <a:r>
              <a:rPr kumimoji="1" lang="en-US" altLang="ja-JP" dirty="0"/>
              <a:t>QMDD</a:t>
            </a:r>
            <a:r>
              <a:rPr kumimoji="1" lang="ja-JP" altLang="en-US"/>
              <a:t>を用いた表現</a:t>
            </a:r>
          </a:p>
        </p:txBody>
      </p:sp>
      <p:sp>
        <p:nvSpPr>
          <p:cNvPr id="3" name="コンテンツ プレースホルダー 2">
            <a:extLst>
              <a:ext uri="{FF2B5EF4-FFF2-40B4-BE49-F238E27FC236}">
                <a16:creationId xmlns:a16="http://schemas.microsoft.com/office/drawing/2014/main" id="{AF4BE56A-50A7-E22E-90B9-26F9D33C38C6}"/>
              </a:ext>
            </a:extLst>
          </p:cNvPr>
          <p:cNvSpPr>
            <a:spLocks noGrp="1"/>
          </p:cNvSpPr>
          <p:nvPr>
            <p:ph idx="1"/>
          </p:nvPr>
        </p:nvSpPr>
        <p:spPr/>
        <p:txBody>
          <a:bodyPr/>
          <a:lstStyle/>
          <a:p>
            <a:r>
              <a:rPr kumimoji="1" lang="en-US" altLang="ja-JP" dirty="0"/>
              <a:t>QMDD : Quantum Multiple-valued Decision Diagrams</a:t>
            </a:r>
          </a:p>
          <a:p>
            <a:pPr lvl="1"/>
            <a:r>
              <a:rPr kumimoji="1" lang="ja-JP" altLang="en-US"/>
              <a:t>量子回路を表現・操作するためのデータ構造</a:t>
            </a:r>
            <a:endParaRPr kumimoji="1" lang="en-US" altLang="ja-JP" dirty="0"/>
          </a:p>
          <a:p>
            <a:pPr lvl="1"/>
            <a:r>
              <a:rPr lang="ja-JP" altLang="en-US"/>
              <a:t>行列をスカラになるまで</a:t>
            </a:r>
            <a:r>
              <a:rPr lang="en-US" altLang="ja-JP" dirty="0"/>
              <a:t>4</a:t>
            </a:r>
            <a:r>
              <a:rPr lang="ja-JP" altLang="en-US"/>
              <a:t>分割して表現</a:t>
            </a:r>
            <a:endParaRPr kumimoji="1" lang="en-US" altLang="ja-JP" dirty="0"/>
          </a:p>
          <a:p>
            <a:pPr lvl="1"/>
            <a:r>
              <a:rPr lang="ja-JP" altLang="en-US"/>
              <a:t>行列表現よりも</a:t>
            </a:r>
            <a:r>
              <a:rPr lang="ja-JP" altLang="en-US">
                <a:solidFill>
                  <a:srgbClr val="FF0000"/>
                </a:solidFill>
              </a:rPr>
              <a:t>必要メモリを削減</a:t>
            </a:r>
            <a:endParaRPr lang="en-US" altLang="ja-JP" dirty="0">
              <a:solidFill>
                <a:srgbClr val="FF0000"/>
              </a:solidFill>
            </a:endParaRPr>
          </a:p>
          <a:p>
            <a:pPr lvl="2"/>
            <a:r>
              <a:rPr kumimoji="1" lang="ja-JP" altLang="en-US"/>
              <a:t>零行列や共通する部分行列を利用して圧縮</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76842DBF-1755-BBD8-59FE-277BAB37F8A6}"/>
                  </a:ext>
                </a:extLst>
              </p:cNvPr>
              <p:cNvSpPr txBox="1"/>
              <p:nvPr/>
            </p:nvSpPr>
            <p:spPr>
              <a:xfrm>
                <a:off x="1788794" y="4183380"/>
                <a:ext cx="2245995" cy="68371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𝑈</m:t>
                      </m:r>
                      <m:r>
                        <a:rPr kumimoji="1" lang="en-US" altLang="ja-JP" sz="2400" b="0" i="1" smtClean="0">
                          <a:latin typeface="Cambria Math" panose="02040503050406030204" pitchFamily="18" charset="0"/>
                        </a:rPr>
                        <m:t>=</m:t>
                      </m:r>
                      <m:d>
                        <m:dPr>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𝑈</m:t>
                                    </m:r>
                                  </m:e>
                                  <m:sub>
                                    <m:r>
                                      <a:rPr kumimoji="1" lang="en-US" altLang="ja-JP" sz="2400" b="0" i="1" smtClean="0">
                                        <a:latin typeface="Cambria Math" panose="02040503050406030204" pitchFamily="18" charset="0"/>
                                      </a:rPr>
                                      <m:t>00</m:t>
                                    </m:r>
                                  </m:sub>
                                </m:sSub>
                              </m:e>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𝑈</m:t>
                                    </m:r>
                                  </m:e>
                                  <m:sub>
                                    <m:r>
                                      <a:rPr kumimoji="1" lang="en-US" altLang="ja-JP" sz="2400" b="0" i="1" smtClean="0">
                                        <a:latin typeface="Cambria Math" panose="02040503050406030204" pitchFamily="18" charset="0"/>
                                      </a:rPr>
                                      <m:t>01</m:t>
                                    </m:r>
                                  </m:sub>
                                </m:sSub>
                              </m:e>
                            </m:mr>
                            <m:m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𝑈</m:t>
                                    </m:r>
                                  </m:e>
                                  <m:sub>
                                    <m:r>
                                      <a:rPr kumimoji="1" lang="en-US" altLang="ja-JP" sz="2400" b="0" i="1" smtClean="0">
                                        <a:latin typeface="Cambria Math" panose="02040503050406030204" pitchFamily="18" charset="0"/>
                                      </a:rPr>
                                      <m:t>10</m:t>
                                    </m:r>
                                  </m:sub>
                                </m:sSub>
                              </m:e>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𝑈</m:t>
                                    </m:r>
                                  </m:e>
                                  <m:sub>
                                    <m:r>
                                      <a:rPr kumimoji="1" lang="en-US" altLang="ja-JP" sz="2400" b="0" i="1" smtClean="0">
                                        <a:latin typeface="Cambria Math" panose="02040503050406030204" pitchFamily="18" charset="0"/>
                                      </a:rPr>
                                      <m:t>11</m:t>
                                    </m:r>
                                  </m:sub>
                                </m:sSub>
                              </m:e>
                            </m:mr>
                          </m:m>
                        </m:e>
                      </m:d>
                    </m:oMath>
                  </m:oMathPara>
                </a14:m>
                <a:endParaRPr kumimoji="1" lang="ja-JP" altLang="en-US" sz="2400"/>
              </a:p>
            </p:txBody>
          </p:sp>
        </mc:Choice>
        <mc:Fallback xmlns="">
          <p:sp>
            <p:nvSpPr>
              <p:cNvPr id="4" name="テキスト ボックス 3">
                <a:extLst>
                  <a:ext uri="{FF2B5EF4-FFF2-40B4-BE49-F238E27FC236}">
                    <a16:creationId xmlns:a16="http://schemas.microsoft.com/office/drawing/2014/main" id="{76842DBF-1755-BBD8-59FE-277BAB37F8A6}"/>
                  </a:ext>
                </a:extLst>
              </p:cNvPr>
              <p:cNvSpPr txBox="1">
                <a:spLocks noRot="1" noChangeAspect="1" noMove="1" noResize="1" noEditPoints="1" noAdjustHandles="1" noChangeArrowheads="1" noChangeShapeType="1" noTextEdit="1"/>
              </p:cNvSpPr>
              <p:nvPr/>
            </p:nvSpPr>
            <p:spPr>
              <a:xfrm>
                <a:off x="1788794" y="4183380"/>
                <a:ext cx="2245995" cy="683713"/>
              </a:xfrm>
              <a:prstGeom prst="rect">
                <a:avLst/>
              </a:prstGeom>
              <a:blipFill>
                <a:blip r:embed="rId3"/>
                <a:stretch>
                  <a:fillRect l="-2247" t="-1818" b="-7273"/>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9CB9512F-E3BB-5B41-4628-71E85E39B324}"/>
              </a:ext>
            </a:extLst>
          </p:cNvPr>
          <p:cNvSpPr txBox="1"/>
          <p:nvPr/>
        </p:nvSpPr>
        <p:spPr>
          <a:xfrm>
            <a:off x="2351721" y="5942568"/>
            <a:ext cx="1120140" cy="369332"/>
          </a:xfrm>
          <a:prstGeom prst="rect">
            <a:avLst/>
          </a:prstGeom>
          <a:noFill/>
        </p:spPr>
        <p:txBody>
          <a:bodyPr wrap="square" rtlCol="0">
            <a:spAutoFit/>
          </a:bodyPr>
          <a:lstStyle/>
          <a:p>
            <a:r>
              <a:rPr kumimoji="1" lang="ja-JP" altLang="en-US" b="1"/>
              <a:t>行列表現</a:t>
            </a:r>
          </a:p>
        </p:txBody>
      </p:sp>
      <p:sp>
        <p:nvSpPr>
          <p:cNvPr id="8" name="テキスト ボックス 7">
            <a:extLst>
              <a:ext uri="{FF2B5EF4-FFF2-40B4-BE49-F238E27FC236}">
                <a16:creationId xmlns:a16="http://schemas.microsoft.com/office/drawing/2014/main" id="{693D2F1D-5F86-474E-40D0-0A73C4F4BAC3}"/>
              </a:ext>
            </a:extLst>
          </p:cNvPr>
          <p:cNvSpPr txBox="1"/>
          <p:nvPr/>
        </p:nvSpPr>
        <p:spPr>
          <a:xfrm>
            <a:off x="7875435" y="5942568"/>
            <a:ext cx="936517" cy="369332"/>
          </a:xfrm>
          <a:prstGeom prst="rect">
            <a:avLst/>
          </a:prstGeom>
          <a:noFill/>
        </p:spPr>
        <p:txBody>
          <a:bodyPr wrap="square" rtlCol="0">
            <a:spAutoFit/>
          </a:bodyPr>
          <a:lstStyle/>
          <a:p>
            <a:r>
              <a:rPr kumimoji="1" lang="en-US" altLang="ja-JP" b="1" dirty="0"/>
              <a:t>QMDD</a:t>
            </a:r>
            <a:endParaRPr kumimoji="1" lang="ja-JP" altLang="en-US" b="1"/>
          </a:p>
        </p:txBody>
      </p:sp>
      <p:pic>
        <p:nvPicPr>
          <p:cNvPr id="7" name="図 6" descr="黒い背景と白い文字&#10;&#10;自動的に生成された説明">
            <a:extLst>
              <a:ext uri="{FF2B5EF4-FFF2-40B4-BE49-F238E27FC236}">
                <a16:creationId xmlns:a16="http://schemas.microsoft.com/office/drawing/2014/main" id="{D3AFADEB-08FA-28E6-B55D-319C8C02D748}"/>
              </a:ext>
            </a:extLst>
          </p:cNvPr>
          <p:cNvPicPr>
            <a:picLocks noChangeAspect="1"/>
          </p:cNvPicPr>
          <p:nvPr/>
        </p:nvPicPr>
        <p:blipFill>
          <a:blip r:embed="rId4"/>
          <a:stretch>
            <a:fillRect/>
          </a:stretch>
        </p:blipFill>
        <p:spPr>
          <a:xfrm>
            <a:off x="6402711" y="2831653"/>
            <a:ext cx="4000495" cy="2975978"/>
          </a:xfrm>
          <a:prstGeom prst="rect">
            <a:avLst/>
          </a:prstGeom>
        </p:spPr>
      </p:pic>
      <p:sp>
        <p:nvSpPr>
          <p:cNvPr id="9" name="スライド番号プレースホルダー 8">
            <a:extLst>
              <a:ext uri="{FF2B5EF4-FFF2-40B4-BE49-F238E27FC236}">
                <a16:creationId xmlns:a16="http://schemas.microsoft.com/office/drawing/2014/main" id="{46D76037-5C80-9FC9-76D4-946CC07447F5}"/>
              </a:ext>
            </a:extLst>
          </p:cNvPr>
          <p:cNvSpPr>
            <a:spLocks noGrp="1"/>
          </p:cNvSpPr>
          <p:nvPr>
            <p:ph type="sldNum" sz="quarter" idx="12"/>
          </p:nvPr>
        </p:nvSpPr>
        <p:spPr/>
        <p:txBody>
          <a:bodyPr/>
          <a:lstStyle/>
          <a:p>
            <a:fld id="{EA2F3317-65BA-D746-98B8-3038158C8C28}" type="slidenum">
              <a:rPr kumimoji="1" lang="ja-JP" altLang="en-US" smtClean="0"/>
              <a:t>2</a:t>
            </a:fld>
            <a:endParaRPr kumimoji="1" lang="ja-JP" altLang="en-US"/>
          </a:p>
        </p:txBody>
      </p:sp>
      <p:sp>
        <p:nvSpPr>
          <p:cNvPr id="26" name="円/楕円 25">
            <a:extLst>
              <a:ext uri="{FF2B5EF4-FFF2-40B4-BE49-F238E27FC236}">
                <a16:creationId xmlns:a16="http://schemas.microsoft.com/office/drawing/2014/main" id="{844F6F19-119C-91D2-06FE-ACE294D5954D}"/>
              </a:ext>
            </a:extLst>
          </p:cNvPr>
          <p:cNvSpPr/>
          <p:nvPr/>
        </p:nvSpPr>
        <p:spPr>
          <a:xfrm rot="3175257">
            <a:off x="6962333" y="3673883"/>
            <a:ext cx="826702" cy="2584075"/>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4D20296F-859D-D2F3-C056-50C1948E9A0C}"/>
              </a:ext>
            </a:extLst>
          </p:cNvPr>
          <p:cNvSpPr/>
          <p:nvPr/>
        </p:nvSpPr>
        <p:spPr>
          <a:xfrm rot="1514347">
            <a:off x="7622697" y="4133200"/>
            <a:ext cx="826702" cy="1917343"/>
          </a:xfrm>
          <a:prstGeom prst="ellipse">
            <a:avLst/>
          </a:prstGeom>
          <a:noFill/>
          <a:ln>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27">
            <a:extLst>
              <a:ext uri="{FF2B5EF4-FFF2-40B4-BE49-F238E27FC236}">
                <a16:creationId xmlns:a16="http://schemas.microsoft.com/office/drawing/2014/main" id="{15E04F87-A857-DD0A-D8DD-9C0399AC0816}"/>
              </a:ext>
            </a:extLst>
          </p:cNvPr>
          <p:cNvSpPr/>
          <p:nvPr/>
        </p:nvSpPr>
        <p:spPr>
          <a:xfrm rot="20234308">
            <a:off x="8365892" y="4096471"/>
            <a:ext cx="826702" cy="1917343"/>
          </a:xfrm>
          <a:prstGeom prst="ellipse">
            <a:avLst/>
          </a:prstGeom>
          <a:noFill/>
          <a:ln>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a:extLst>
              <a:ext uri="{FF2B5EF4-FFF2-40B4-BE49-F238E27FC236}">
                <a16:creationId xmlns:a16="http://schemas.microsoft.com/office/drawing/2014/main" id="{6EBE49DE-B5D3-940B-E5C5-84E1F19ED0BB}"/>
              </a:ext>
            </a:extLst>
          </p:cNvPr>
          <p:cNvSpPr/>
          <p:nvPr/>
        </p:nvSpPr>
        <p:spPr>
          <a:xfrm rot="18532584">
            <a:off x="9005602" y="3673883"/>
            <a:ext cx="826702" cy="2584075"/>
          </a:xfrm>
          <a:prstGeom prst="ellipse">
            <a:avLst/>
          </a:prstGeom>
          <a:noFill/>
          <a:ln>
            <a:solidFill>
              <a:srgbClr val="7030A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角丸四角形 29">
            <a:extLst>
              <a:ext uri="{FF2B5EF4-FFF2-40B4-BE49-F238E27FC236}">
                <a16:creationId xmlns:a16="http://schemas.microsoft.com/office/drawing/2014/main" id="{497A7C0A-9FB8-6462-0426-B47998E6506C}"/>
              </a:ext>
            </a:extLst>
          </p:cNvPr>
          <p:cNvSpPr/>
          <p:nvPr/>
        </p:nvSpPr>
        <p:spPr>
          <a:xfrm>
            <a:off x="2523698" y="4163831"/>
            <a:ext cx="671977" cy="361408"/>
          </a:xfrm>
          <a:prstGeom prst="round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5829F2C2-ADB7-6932-CDAD-A330F3EB1F59}"/>
              </a:ext>
            </a:extLst>
          </p:cNvPr>
          <p:cNvSpPr/>
          <p:nvPr/>
        </p:nvSpPr>
        <p:spPr>
          <a:xfrm flipV="1">
            <a:off x="2521280" y="4525236"/>
            <a:ext cx="671976" cy="369301"/>
          </a:xfrm>
          <a:prstGeom prst="roundRect">
            <a:avLst/>
          </a:prstGeom>
          <a:noFill/>
          <a:ln w="28575">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角丸四角形 31">
            <a:extLst>
              <a:ext uri="{FF2B5EF4-FFF2-40B4-BE49-F238E27FC236}">
                <a16:creationId xmlns:a16="http://schemas.microsoft.com/office/drawing/2014/main" id="{57B02F4C-B8E0-0DCD-1674-42BDA96190A4}"/>
              </a:ext>
            </a:extLst>
          </p:cNvPr>
          <p:cNvSpPr/>
          <p:nvPr/>
        </p:nvSpPr>
        <p:spPr>
          <a:xfrm flipH="1">
            <a:off x="3193254" y="4178514"/>
            <a:ext cx="669556" cy="341855"/>
          </a:xfrm>
          <a:prstGeom prst="roundRect">
            <a:avLst/>
          </a:prstGeom>
          <a:noFill/>
          <a:ln w="28575">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角丸四角形 32">
            <a:extLst>
              <a:ext uri="{FF2B5EF4-FFF2-40B4-BE49-F238E27FC236}">
                <a16:creationId xmlns:a16="http://schemas.microsoft.com/office/drawing/2014/main" id="{E5427364-8771-6D50-A68C-F38DF0916780}"/>
              </a:ext>
            </a:extLst>
          </p:cNvPr>
          <p:cNvSpPr/>
          <p:nvPr/>
        </p:nvSpPr>
        <p:spPr>
          <a:xfrm>
            <a:off x="3193255" y="4525236"/>
            <a:ext cx="669551" cy="369281"/>
          </a:xfrm>
          <a:prstGeom prst="roundRect">
            <a:avLst/>
          </a:prstGeom>
          <a:noFill/>
          <a:ln w="28575">
            <a:solidFill>
              <a:srgbClr val="7030A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47053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checkerboard(across)">
                                      <p:cBhvr>
                                        <p:cTn id="7" dur="500"/>
                                        <p:tgtEl>
                                          <p:spTgt spid="3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checkerboard(across)">
                                      <p:cBhvr>
                                        <p:cTn id="10" dur="500"/>
                                        <p:tgtEl>
                                          <p:spTgt spid="31"/>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checkerboard(across)">
                                      <p:cBhvr>
                                        <p:cTn id="13" dur="500"/>
                                        <p:tgtEl>
                                          <p:spTgt spid="33"/>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checkerboard(across)">
                                      <p:cBhvr>
                                        <p:cTn id="16" dur="500"/>
                                        <p:tgtEl>
                                          <p:spTgt spid="32"/>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checkerboard(across)">
                                      <p:cBhvr>
                                        <p:cTn id="19" dur="500"/>
                                        <p:tgtEl>
                                          <p:spTgt spid="26"/>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checkerboard(across)">
                                      <p:cBhvr>
                                        <p:cTn id="22" dur="500"/>
                                        <p:tgtEl>
                                          <p:spTgt spid="2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checkerboard(across)">
                                      <p:cBhvr>
                                        <p:cTn id="25" dur="500"/>
                                        <p:tgtEl>
                                          <p:spTgt spid="29"/>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checkerboard(across)">
                                      <p:cBhvr>
                                        <p:cTn id="2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EA7A3-B247-BDD4-6674-25DA5A0E903E}"/>
            </a:ext>
          </a:extLst>
        </p:cNvPr>
        <p:cNvGrpSpPr/>
        <p:nvPr/>
      </p:nvGrpSpPr>
      <p:grpSpPr>
        <a:xfrm>
          <a:off x="0" y="0"/>
          <a:ext cx="0" cy="0"/>
          <a:chOff x="0" y="0"/>
          <a:chExt cx="0" cy="0"/>
        </a:xfrm>
      </p:grpSpPr>
      <p:pic>
        <p:nvPicPr>
          <p:cNvPr id="7" name="コンテンツ プレースホルダー 6" descr="ダイアグラム&#10;&#10;中程度の精度で自動的に生成された説明">
            <a:extLst>
              <a:ext uri="{FF2B5EF4-FFF2-40B4-BE49-F238E27FC236}">
                <a16:creationId xmlns:a16="http://schemas.microsoft.com/office/drawing/2014/main" id="{F4723785-77F1-61FF-8457-E6F6FEA3A572}"/>
              </a:ext>
            </a:extLst>
          </p:cNvPr>
          <p:cNvPicPr>
            <a:picLocks noGrp="1" noChangeAspect="1"/>
          </p:cNvPicPr>
          <p:nvPr>
            <p:ph sz="half" idx="2"/>
          </p:nvPr>
        </p:nvPicPr>
        <p:blipFill>
          <a:blip r:embed="rId3"/>
          <a:stretch>
            <a:fillRect/>
          </a:stretch>
        </p:blipFill>
        <p:spPr>
          <a:xfrm>
            <a:off x="6853328" y="217480"/>
            <a:ext cx="4065647" cy="6423040"/>
          </a:xfrm>
        </p:spPr>
      </p:pic>
      <p:sp>
        <p:nvSpPr>
          <p:cNvPr id="4" name="タイトル 3">
            <a:extLst>
              <a:ext uri="{FF2B5EF4-FFF2-40B4-BE49-F238E27FC236}">
                <a16:creationId xmlns:a16="http://schemas.microsoft.com/office/drawing/2014/main" id="{E474707C-772D-78B5-A093-2816552A9361}"/>
              </a:ext>
            </a:extLst>
          </p:cNvPr>
          <p:cNvSpPr>
            <a:spLocks noGrp="1"/>
          </p:cNvSpPr>
          <p:nvPr>
            <p:ph type="title"/>
          </p:nvPr>
        </p:nvSpPr>
        <p:spPr/>
        <p:txBody>
          <a:bodyPr/>
          <a:lstStyle/>
          <a:p>
            <a:r>
              <a:rPr lang="en-US" altLang="ja-JP" dirty="0"/>
              <a:t>QMDD</a:t>
            </a:r>
            <a:r>
              <a:rPr lang="ja-JP" altLang="en-US"/>
              <a:t>の構造</a:t>
            </a:r>
          </a:p>
        </p:txBody>
      </p:sp>
      <p:sp>
        <p:nvSpPr>
          <p:cNvPr id="5" name="コンテンツ プレースホルダー 4">
            <a:extLst>
              <a:ext uri="{FF2B5EF4-FFF2-40B4-BE49-F238E27FC236}">
                <a16:creationId xmlns:a16="http://schemas.microsoft.com/office/drawing/2014/main" id="{4454B091-8B4B-B730-E17B-5F9BE8C2978C}"/>
              </a:ext>
            </a:extLst>
          </p:cNvPr>
          <p:cNvSpPr>
            <a:spLocks noGrp="1"/>
          </p:cNvSpPr>
          <p:nvPr>
            <p:ph sz="half" idx="1"/>
          </p:nvPr>
        </p:nvSpPr>
        <p:spPr/>
        <p:txBody>
          <a:bodyPr/>
          <a:lstStyle/>
          <a:p>
            <a:r>
              <a:rPr lang="ja-JP" altLang="en-US"/>
              <a:t>例</a:t>
            </a:r>
            <a:r>
              <a:rPr lang="en-US" altLang="ja-JP" dirty="0"/>
              <a:t>) CV</a:t>
            </a:r>
            <a:r>
              <a:rPr lang="ja-JP" altLang="en-US"/>
              <a:t>ゲート</a:t>
            </a:r>
          </a:p>
        </p:txBody>
      </p:sp>
      <p:pic>
        <p:nvPicPr>
          <p:cNvPr id="13" name="図 12" descr="カレンダー が含まれている画像&#10;&#10;自動的に生成された説明">
            <a:extLst>
              <a:ext uri="{FF2B5EF4-FFF2-40B4-BE49-F238E27FC236}">
                <a16:creationId xmlns:a16="http://schemas.microsoft.com/office/drawing/2014/main" id="{D7C09BBE-01B3-5DDB-3401-8A1D784D4FF7}"/>
              </a:ext>
            </a:extLst>
          </p:cNvPr>
          <p:cNvPicPr>
            <a:picLocks noChangeAspect="1"/>
          </p:cNvPicPr>
          <p:nvPr/>
        </p:nvPicPr>
        <p:blipFill>
          <a:blip r:embed="rId4"/>
          <a:stretch>
            <a:fillRect/>
          </a:stretch>
        </p:blipFill>
        <p:spPr>
          <a:xfrm>
            <a:off x="591485" y="2971799"/>
            <a:ext cx="5343825" cy="2747963"/>
          </a:xfrm>
          <a:prstGeom prst="rect">
            <a:avLst/>
          </a:prstGeom>
        </p:spPr>
      </p:pic>
      <p:cxnSp>
        <p:nvCxnSpPr>
          <p:cNvPr id="2" name="直線コネクタ 1">
            <a:extLst>
              <a:ext uri="{FF2B5EF4-FFF2-40B4-BE49-F238E27FC236}">
                <a16:creationId xmlns:a16="http://schemas.microsoft.com/office/drawing/2014/main" id="{C6B36BA1-BA65-FCC2-9FB7-33268BED06BC}"/>
              </a:ext>
            </a:extLst>
          </p:cNvPr>
          <p:cNvCxnSpPr>
            <a:cxnSpLocks/>
          </p:cNvCxnSpPr>
          <p:nvPr/>
        </p:nvCxnSpPr>
        <p:spPr>
          <a:xfrm>
            <a:off x="671495" y="4246196"/>
            <a:ext cx="5343825" cy="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 name="直線コネクタ 2">
            <a:extLst>
              <a:ext uri="{FF2B5EF4-FFF2-40B4-BE49-F238E27FC236}">
                <a16:creationId xmlns:a16="http://schemas.microsoft.com/office/drawing/2014/main" id="{4F51D4D9-965A-E101-5A2F-169AB562FBDC}"/>
              </a:ext>
            </a:extLst>
          </p:cNvPr>
          <p:cNvCxnSpPr>
            <a:cxnSpLocks/>
          </p:cNvCxnSpPr>
          <p:nvPr/>
        </p:nvCxnSpPr>
        <p:spPr>
          <a:xfrm>
            <a:off x="2698852" y="2824119"/>
            <a:ext cx="14326" cy="2932967"/>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DA691EBC-8C1C-7310-A03F-B6F60A1BCC42}"/>
              </a:ext>
            </a:extLst>
          </p:cNvPr>
          <p:cNvCxnSpPr>
            <a:cxnSpLocks/>
          </p:cNvCxnSpPr>
          <p:nvPr/>
        </p:nvCxnSpPr>
        <p:spPr>
          <a:xfrm>
            <a:off x="591485" y="3616410"/>
            <a:ext cx="2972809" cy="0"/>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35FDC16B-2C31-B8F0-F176-EEB98B355134}"/>
              </a:ext>
            </a:extLst>
          </p:cNvPr>
          <p:cNvCxnSpPr>
            <a:cxnSpLocks/>
          </p:cNvCxnSpPr>
          <p:nvPr/>
        </p:nvCxnSpPr>
        <p:spPr>
          <a:xfrm flipH="1">
            <a:off x="1752149" y="2861251"/>
            <a:ext cx="16567" cy="1561459"/>
          </a:xfrm>
          <a:prstGeom prst="line">
            <a:avLst/>
          </a:prstGeom>
          <a:ln>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11" name="曲折矢印 10">
            <a:extLst>
              <a:ext uri="{FF2B5EF4-FFF2-40B4-BE49-F238E27FC236}">
                <a16:creationId xmlns:a16="http://schemas.microsoft.com/office/drawing/2014/main" id="{061F8626-DAD4-33B4-ED8B-BBFA2093A907}"/>
              </a:ext>
            </a:extLst>
          </p:cNvPr>
          <p:cNvSpPr/>
          <p:nvPr/>
        </p:nvSpPr>
        <p:spPr>
          <a:xfrm flipH="1" flipV="1">
            <a:off x="6433935" y="4857846"/>
            <a:ext cx="863973" cy="1552837"/>
          </a:xfrm>
          <a:prstGeom prst="bentArrow">
            <a:avLst>
              <a:gd name="adj1" fmla="val 14547"/>
              <a:gd name="adj2" fmla="val 25000"/>
              <a:gd name="adj3" fmla="val 25000"/>
              <a:gd name="adj4" fmla="val 29528"/>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B61681A1-A49B-CBCB-B48D-EC486A25625A}"/>
                  </a:ext>
                </a:extLst>
              </p:cNvPr>
              <p:cNvSpPr txBox="1"/>
              <p:nvPr/>
            </p:nvSpPr>
            <p:spPr>
              <a:xfrm>
                <a:off x="5596962" y="5964665"/>
                <a:ext cx="779380" cy="4619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i="1" smtClean="0">
                              <a:latin typeface="Cambria Math" panose="02040503050406030204" pitchFamily="18" charset="0"/>
                            </a:rPr>
                          </m:ctrlPr>
                        </m:dPr>
                        <m:e>
                          <m:m>
                            <m:mPr>
                              <m:plcHide m:val="on"/>
                              <m:mcs>
                                <m:mc>
                                  <m:mcPr>
                                    <m:count m:val="2"/>
                                    <m:mcJc m:val="center"/>
                                  </m:mcPr>
                                </m:mc>
                              </m:mcs>
                              <m:ctrlPr>
                                <a:rPr kumimoji="1" lang="en-US" altLang="ja-JP" i="1" smtClean="0">
                                  <a:latin typeface="Cambria Math" panose="02040503050406030204" pitchFamily="18" charset="0"/>
                                </a:rPr>
                              </m:ctrlPr>
                            </m:mPr>
                            <m:mr>
                              <m:e>
                                <m:r>
                                  <a:rPr kumimoji="1" lang="en-US" altLang="ja-JP" i="1" smtClean="0">
                                    <a:latin typeface="Cambria Math" panose="02040503050406030204" pitchFamily="18" charset="0"/>
                                  </a:rPr>
                                  <m:t>1</m:t>
                                </m:r>
                              </m:e>
                              <m:e>
                                <m:r>
                                  <a:rPr kumimoji="1" lang="en-US" altLang="ja-JP" i="1" smtClean="0">
                                    <a:latin typeface="Cambria Math" panose="02040503050406030204" pitchFamily="18" charset="0"/>
                                  </a:rPr>
                                  <m:t>0</m:t>
                                </m:r>
                              </m:e>
                            </m:mr>
                            <m:mr>
                              <m:e>
                                <m:r>
                                  <a:rPr kumimoji="1" lang="en-US" altLang="ja-JP" i="1" smtClean="0">
                                    <a:latin typeface="Cambria Math" panose="02040503050406030204" pitchFamily="18" charset="0"/>
                                  </a:rPr>
                                  <m:t>0</m:t>
                                </m:r>
                              </m:e>
                              <m:e>
                                <m:r>
                                  <a:rPr kumimoji="1" lang="en-US" altLang="ja-JP" i="1" smtClean="0">
                                    <a:latin typeface="Cambria Math" panose="02040503050406030204" pitchFamily="18" charset="0"/>
                                  </a:rPr>
                                  <m:t>1</m:t>
                                </m:r>
                              </m:e>
                            </m:mr>
                          </m:m>
                        </m:e>
                      </m:d>
                    </m:oMath>
                  </m:oMathPara>
                </a14:m>
                <a:endParaRPr kumimoji="1" lang="ja-JP" altLang="en-US"/>
              </a:p>
            </p:txBody>
          </p:sp>
        </mc:Choice>
        <mc:Fallback xmlns="">
          <p:sp>
            <p:nvSpPr>
              <p:cNvPr id="12" name="テキスト ボックス 11">
                <a:extLst>
                  <a:ext uri="{FF2B5EF4-FFF2-40B4-BE49-F238E27FC236}">
                    <a16:creationId xmlns:a16="http://schemas.microsoft.com/office/drawing/2014/main" id="{B61681A1-A49B-CBCB-B48D-EC486A25625A}"/>
                  </a:ext>
                </a:extLst>
              </p:cNvPr>
              <p:cNvSpPr txBox="1">
                <a:spLocks noRot="1" noChangeAspect="1" noMove="1" noResize="1" noEditPoints="1" noAdjustHandles="1" noChangeArrowheads="1" noChangeShapeType="1" noTextEdit="1"/>
              </p:cNvSpPr>
              <p:nvPr/>
            </p:nvSpPr>
            <p:spPr>
              <a:xfrm>
                <a:off x="5596962" y="5964665"/>
                <a:ext cx="779380" cy="461921"/>
              </a:xfrm>
              <a:prstGeom prst="rect">
                <a:avLst/>
              </a:prstGeom>
              <a:blipFill>
                <a:blip r:embed="rId5"/>
                <a:stretch>
                  <a:fillRect t="-2703" b="-16216"/>
                </a:stretch>
              </a:blipFill>
            </p:spPr>
            <p:txBody>
              <a:bodyPr/>
              <a:lstStyle/>
              <a:p>
                <a:r>
                  <a:rPr lang="ja-JP" altLang="en-US">
                    <a:noFill/>
                  </a:rPr>
                  <a:t> </a:t>
                </a:r>
              </a:p>
            </p:txBody>
          </p:sp>
        </mc:Fallback>
      </mc:AlternateContent>
      <p:sp>
        <p:nvSpPr>
          <p:cNvPr id="14" name="正方形/長方形 13">
            <a:extLst>
              <a:ext uri="{FF2B5EF4-FFF2-40B4-BE49-F238E27FC236}">
                <a16:creationId xmlns:a16="http://schemas.microsoft.com/office/drawing/2014/main" id="{270D677F-1397-B10C-B3E3-65FEEE8C2CA3}"/>
              </a:ext>
            </a:extLst>
          </p:cNvPr>
          <p:cNvSpPr/>
          <p:nvPr/>
        </p:nvSpPr>
        <p:spPr>
          <a:xfrm>
            <a:off x="2706150" y="2934475"/>
            <a:ext cx="3002988" cy="1311721"/>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DF53CB2-33E4-AE48-572E-36FF69FA31F9}"/>
              </a:ext>
            </a:extLst>
          </p:cNvPr>
          <p:cNvSpPr/>
          <p:nvPr/>
        </p:nvSpPr>
        <p:spPr>
          <a:xfrm>
            <a:off x="838199" y="4246196"/>
            <a:ext cx="1867951" cy="1372827"/>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202CAC7-D316-CB25-C4D5-4D5BE133316D}"/>
              </a:ext>
            </a:extLst>
          </p:cNvPr>
          <p:cNvSpPr/>
          <p:nvPr/>
        </p:nvSpPr>
        <p:spPr>
          <a:xfrm>
            <a:off x="1752045" y="2934475"/>
            <a:ext cx="946703" cy="681935"/>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E1E73E-A893-1857-69E7-8C3937BD3F1D}"/>
              </a:ext>
            </a:extLst>
          </p:cNvPr>
          <p:cNvSpPr/>
          <p:nvPr/>
        </p:nvSpPr>
        <p:spPr>
          <a:xfrm>
            <a:off x="838200" y="3612889"/>
            <a:ext cx="921351" cy="633307"/>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9D6C4630-3246-EC74-1294-C8272ECC94C1}"/>
              </a:ext>
            </a:extLst>
          </p:cNvPr>
          <p:cNvSpPr/>
          <p:nvPr/>
        </p:nvSpPr>
        <p:spPr>
          <a:xfrm>
            <a:off x="1759551" y="3616410"/>
            <a:ext cx="939197" cy="62626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B7E262E-73EE-F933-DCE8-462BEF4539F2}"/>
              </a:ext>
            </a:extLst>
          </p:cNvPr>
          <p:cNvSpPr/>
          <p:nvPr/>
        </p:nvSpPr>
        <p:spPr>
          <a:xfrm>
            <a:off x="838200" y="2934475"/>
            <a:ext cx="921247" cy="681935"/>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B96F3C14-88CA-102D-B982-FD546C6BCD5E}"/>
              </a:ext>
            </a:extLst>
          </p:cNvPr>
          <p:cNvSpPr/>
          <p:nvPr/>
        </p:nvSpPr>
        <p:spPr>
          <a:xfrm>
            <a:off x="2698748" y="4246195"/>
            <a:ext cx="1548478" cy="693843"/>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9468F205-210F-2DBF-F0E6-19EDFE5652E0}"/>
              </a:ext>
            </a:extLst>
          </p:cNvPr>
          <p:cNvSpPr/>
          <p:nvPr/>
        </p:nvSpPr>
        <p:spPr>
          <a:xfrm>
            <a:off x="2706151" y="4943558"/>
            <a:ext cx="1541178" cy="674038"/>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5E6669EE-C668-BAB5-78FC-819F80D7B8A0}"/>
              </a:ext>
            </a:extLst>
          </p:cNvPr>
          <p:cNvSpPr/>
          <p:nvPr/>
        </p:nvSpPr>
        <p:spPr>
          <a:xfrm>
            <a:off x="4247226" y="4951891"/>
            <a:ext cx="1461912" cy="674039"/>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F47ABEC6-1C91-B51E-7299-435789735D51}"/>
              </a:ext>
            </a:extLst>
          </p:cNvPr>
          <p:cNvSpPr/>
          <p:nvPr/>
        </p:nvSpPr>
        <p:spPr>
          <a:xfrm>
            <a:off x="4240522" y="4246195"/>
            <a:ext cx="1468616" cy="705696"/>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83D94432-C32E-DB76-23B3-9AF8C39FE419}"/>
              </a:ext>
            </a:extLst>
          </p:cNvPr>
          <p:cNvSpPr/>
          <p:nvPr/>
        </p:nvSpPr>
        <p:spPr>
          <a:xfrm>
            <a:off x="8593566" y="2611804"/>
            <a:ext cx="322671" cy="322671"/>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7EEF4C0F-05B2-2545-9CDF-D189A47DA8F4}"/>
              </a:ext>
            </a:extLst>
          </p:cNvPr>
          <p:cNvSpPr/>
          <p:nvPr/>
        </p:nvSpPr>
        <p:spPr>
          <a:xfrm>
            <a:off x="9070552" y="2611803"/>
            <a:ext cx="322671" cy="322671"/>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E7D59065-1671-55C4-4EA1-677B64476798}"/>
              </a:ext>
            </a:extLst>
          </p:cNvPr>
          <p:cNvSpPr/>
          <p:nvPr/>
        </p:nvSpPr>
        <p:spPr>
          <a:xfrm>
            <a:off x="7927069" y="3235959"/>
            <a:ext cx="322671" cy="322671"/>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015768E8-2A24-5CB3-2711-296D3354DFFF}"/>
              </a:ext>
            </a:extLst>
          </p:cNvPr>
          <p:cNvSpPr/>
          <p:nvPr/>
        </p:nvSpPr>
        <p:spPr>
          <a:xfrm>
            <a:off x="7527241" y="3373056"/>
            <a:ext cx="322671" cy="322671"/>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74FC3882-AB3A-297B-8FA7-E9673D8CF394}"/>
              </a:ext>
            </a:extLst>
          </p:cNvPr>
          <p:cNvSpPr>
            <a:spLocks noGrp="1"/>
          </p:cNvSpPr>
          <p:nvPr>
            <p:ph type="sldNum" sz="quarter" idx="12"/>
          </p:nvPr>
        </p:nvSpPr>
        <p:spPr/>
        <p:txBody>
          <a:bodyPr/>
          <a:lstStyle/>
          <a:p>
            <a:fld id="{EA2F3317-65BA-D746-98B8-3038158C8C28}" type="slidenum">
              <a:rPr kumimoji="1" lang="ja-JP" altLang="en-US" smtClean="0"/>
              <a:t>3</a:t>
            </a:fld>
            <a:endParaRPr kumimoji="1" lang="ja-JP" altLang="en-US"/>
          </a:p>
        </p:txBody>
      </p:sp>
    </p:spTree>
    <p:extLst>
      <p:ext uri="{BB962C8B-B14F-4D97-AF65-F5344CB8AC3E}">
        <p14:creationId xmlns:p14="http://schemas.microsoft.com/office/powerpoint/2010/main" val="307513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35A4EF-B385-D8F7-7CC1-08E1229E733E}"/>
              </a:ext>
            </a:extLst>
          </p:cNvPr>
          <p:cNvSpPr>
            <a:spLocks noGrp="1"/>
          </p:cNvSpPr>
          <p:nvPr>
            <p:ph type="title"/>
          </p:nvPr>
        </p:nvSpPr>
        <p:spPr/>
        <p:txBody>
          <a:bodyPr/>
          <a:lstStyle/>
          <a:p>
            <a:r>
              <a:rPr lang="ja-JP" altLang="en-US"/>
              <a:t>従来</a:t>
            </a:r>
            <a:r>
              <a:rPr kumimoji="1" lang="ja-JP" altLang="en-US"/>
              <a:t>のシミュレーション手法</a:t>
            </a:r>
          </a:p>
        </p:txBody>
      </p:sp>
      <p:sp>
        <p:nvSpPr>
          <p:cNvPr id="3" name="コンテンツ プレースホルダー 2">
            <a:extLst>
              <a:ext uri="{FF2B5EF4-FFF2-40B4-BE49-F238E27FC236}">
                <a16:creationId xmlns:a16="http://schemas.microsoft.com/office/drawing/2014/main" id="{196A97A3-E3CF-14A4-1B39-174F7B02B8B7}"/>
              </a:ext>
            </a:extLst>
          </p:cNvPr>
          <p:cNvSpPr>
            <a:spLocks noGrp="1"/>
          </p:cNvSpPr>
          <p:nvPr>
            <p:ph idx="1"/>
          </p:nvPr>
        </p:nvSpPr>
        <p:spPr/>
        <p:txBody>
          <a:bodyPr>
            <a:normAutofit fontScale="92500" lnSpcReduction="10000"/>
          </a:bodyPr>
          <a:lstStyle/>
          <a:p>
            <a:r>
              <a:rPr lang="ja-JP" altLang="en-US"/>
              <a:t>量子回路の</a:t>
            </a:r>
            <a:r>
              <a:rPr lang="ja-JP" altLang="en-US">
                <a:solidFill>
                  <a:srgbClr val="FF0000"/>
                </a:solidFill>
              </a:rPr>
              <a:t>深さを最小</a:t>
            </a:r>
            <a:r>
              <a:rPr lang="ja-JP" altLang="en-US"/>
              <a:t>にするような設計</a:t>
            </a:r>
            <a:endParaRPr lang="en-US" altLang="ja-JP" dirty="0"/>
          </a:p>
          <a:p>
            <a:pPr marL="914400" lvl="1" indent="-457200">
              <a:buFont typeface="+mj-lt"/>
              <a:buAutoNum type="arabicPeriod"/>
            </a:pPr>
            <a:r>
              <a:rPr kumimoji="1" lang="ja-JP" altLang="en-US"/>
              <a:t>並列実行可能なゲートを同じレイヤに配置</a:t>
            </a:r>
            <a:endParaRPr kumimoji="1" lang="en-US" altLang="ja-JP" dirty="0"/>
          </a:p>
          <a:p>
            <a:pPr marL="914400" lvl="1" indent="-457200">
              <a:buFont typeface="+mj-lt"/>
              <a:buAutoNum type="arabicPeriod"/>
            </a:pPr>
            <a:r>
              <a:rPr lang="ja-JP" altLang="en-US"/>
              <a:t>同一レイヤ上のゲート群をまとめ、一つの</a:t>
            </a:r>
            <a:r>
              <a:rPr lang="en-US" altLang="ja-JP" dirty="0"/>
              <a:t>QMDD</a:t>
            </a:r>
            <a:r>
              <a:rPr lang="ja-JP" altLang="en-US"/>
              <a:t>を生成（</a:t>
            </a:r>
            <a:r>
              <a:rPr lang="ja-JP" altLang="en-US">
                <a:solidFill>
                  <a:srgbClr val="FF0000"/>
                </a:solidFill>
              </a:rPr>
              <a:t>ゲート連結</a:t>
            </a:r>
            <a:r>
              <a:rPr lang="ja-JP" altLang="en-US"/>
              <a:t>）</a:t>
            </a:r>
            <a:endParaRPr lang="en-US" altLang="ja-JP" dirty="0"/>
          </a:p>
          <a:p>
            <a:pPr marL="914400" lvl="1" indent="-457200">
              <a:buFont typeface="+mj-lt"/>
              <a:buAutoNum type="arabicPeriod"/>
            </a:pPr>
            <a:r>
              <a:rPr kumimoji="1" lang="ja-JP" altLang="en-US"/>
              <a:t>量子状態との積をとり、</a:t>
            </a:r>
            <a:r>
              <a:rPr kumimoji="1" lang="en-US" altLang="ja-JP" dirty="0"/>
              <a:t> 1</a:t>
            </a:r>
            <a:r>
              <a:rPr kumimoji="1" lang="ja-JP" altLang="en-US"/>
              <a:t>ステップで</a:t>
            </a:r>
            <a:r>
              <a:rPr kumimoji="1" lang="en-US" altLang="ja-JP" dirty="0"/>
              <a:t>1</a:t>
            </a:r>
            <a:r>
              <a:rPr kumimoji="1" lang="ja-JP" altLang="en-US"/>
              <a:t>レイヤ分のゲートを適用</a:t>
            </a:r>
            <a:endParaRPr kumimoji="1" lang="en-US" altLang="ja-JP" dirty="0"/>
          </a:p>
          <a:p>
            <a:pPr marL="0" indent="0">
              <a:buNone/>
            </a:pPr>
            <a:endParaRPr kumimoji="1" lang="en-US" altLang="ja-JP" dirty="0"/>
          </a:p>
          <a:p>
            <a:endParaRPr lang="en-US" altLang="ja-JP" dirty="0"/>
          </a:p>
          <a:p>
            <a:pPr marL="0" indent="0">
              <a:buNone/>
            </a:pPr>
            <a:endParaRPr kumimoji="1" lang="en-US" altLang="ja-JP" dirty="0"/>
          </a:p>
          <a:p>
            <a:pPr marL="0" indent="0">
              <a:buNone/>
            </a:pPr>
            <a:r>
              <a:rPr kumimoji="1" lang="ja-JP" altLang="en-US" b="1"/>
              <a:t>問題点</a:t>
            </a:r>
            <a:endParaRPr kumimoji="1" lang="en-US" altLang="ja-JP" b="1" dirty="0"/>
          </a:p>
          <a:p>
            <a:r>
              <a:rPr lang="en-US" altLang="ja-JP" dirty="0"/>
              <a:t>QMDD</a:t>
            </a:r>
            <a:r>
              <a:rPr lang="ja-JP" altLang="en-US"/>
              <a:t>サイズ大</a:t>
            </a:r>
            <a:endParaRPr lang="en-US" altLang="ja-JP" dirty="0"/>
          </a:p>
          <a:p>
            <a:r>
              <a:rPr kumimoji="1" lang="ja-JP" altLang="en-US" u="sng"/>
              <a:t>連結するゲートの形状に依存して演算時の</a:t>
            </a:r>
            <a:r>
              <a:rPr kumimoji="1" lang="ja-JP" altLang="en-US" u="sng">
                <a:solidFill>
                  <a:srgbClr val="FF0000"/>
                </a:solidFill>
              </a:rPr>
              <a:t>再帰数が増加</a:t>
            </a:r>
          </a:p>
        </p:txBody>
      </p:sp>
      <p:sp>
        <p:nvSpPr>
          <p:cNvPr id="6" name="スライド番号プレースホルダー 5">
            <a:extLst>
              <a:ext uri="{FF2B5EF4-FFF2-40B4-BE49-F238E27FC236}">
                <a16:creationId xmlns:a16="http://schemas.microsoft.com/office/drawing/2014/main" id="{898D01EF-45CA-5DA5-4BFC-A71407CFD82E}"/>
              </a:ext>
            </a:extLst>
          </p:cNvPr>
          <p:cNvSpPr>
            <a:spLocks noGrp="1"/>
          </p:cNvSpPr>
          <p:nvPr>
            <p:ph type="sldNum" sz="quarter" idx="12"/>
          </p:nvPr>
        </p:nvSpPr>
        <p:spPr/>
        <p:txBody>
          <a:bodyPr/>
          <a:lstStyle/>
          <a:p>
            <a:fld id="{B7DD3F26-AD0F-FC47-9ED8-571159D68F9B}" type="slidenum">
              <a:rPr kumimoji="1" lang="ja-JP" altLang="en-US" smtClean="0"/>
              <a:t>4</a:t>
            </a:fld>
            <a:endParaRPr kumimoji="1" lang="ja-JP" altLang="en-US"/>
          </a:p>
        </p:txBody>
      </p:sp>
      <p:pic>
        <p:nvPicPr>
          <p:cNvPr id="9" name="図 8" descr="時計 が含まれている画像&#10;&#10;自動的に生成された説明">
            <a:extLst>
              <a:ext uri="{FF2B5EF4-FFF2-40B4-BE49-F238E27FC236}">
                <a16:creationId xmlns:a16="http://schemas.microsoft.com/office/drawing/2014/main" id="{E86EE5C6-48FC-E8F0-222A-2A196F9DB426}"/>
              </a:ext>
            </a:extLst>
          </p:cNvPr>
          <p:cNvPicPr>
            <a:picLocks noChangeAspect="1"/>
          </p:cNvPicPr>
          <p:nvPr/>
        </p:nvPicPr>
        <p:blipFill>
          <a:blip r:embed="rId3"/>
          <a:stretch>
            <a:fillRect/>
          </a:stretch>
        </p:blipFill>
        <p:spPr>
          <a:xfrm>
            <a:off x="4298950" y="3460532"/>
            <a:ext cx="3594100" cy="1409700"/>
          </a:xfrm>
          <a:prstGeom prst="rect">
            <a:avLst/>
          </a:prstGeom>
        </p:spPr>
      </p:pic>
      <p:sp>
        <p:nvSpPr>
          <p:cNvPr id="10" name="正方形/長方形 9">
            <a:extLst>
              <a:ext uri="{FF2B5EF4-FFF2-40B4-BE49-F238E27FC236}">
                <a16:creationId xmlns:a16="http://schemas.microsoft.com/office/drawing/2014/main" id="{31EE4351-3A43-D043-84CE-654142CF2C54}"/>
              </a:ext>
            </a:extLst>
          </p:cNvPr>
          <p:cNvSpPr/>
          <p:nvPr/>
        </p:nvSpPr>
        <p:spPr>
          <a:xfrm>
            <a:off x="5037719" y="3481535"/>
            <a:ext cx="454361" cy="1346042"/>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655E4C8-553F-5A10-F981-17D15FE2B543}"/>
              </a:ext>
            </a:extLst>
          </p:cNvPr>
          <p:cNvSpPr/>
          <p:nvPr/>
        </p:nvSpPr>
        <p:spPr>
          <a:xfrm>
            <a:off x="5647319" y="3481535"/>
            <a:ext cx="454361" cy="1346042"/>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6C207DB9-8111-D500-8ADB-F9B7111C4C82}"/>
              </a:ext>
            </a:extLst>
          </p:cNvPr>
          <p:cNvSpPr/>
          <p:nvPr/>
        </p:nvSpPr>
        <p:spPr>
          <a:xfrm>
            <a:off x="6273959" y="3480445"/>
            <a:ext cx="454361" cy="1346042"/>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75A7778-4F1C-1FAC-C4F4-49D6613D0714}"/>
              </a:ext>
            </a:extLst>
          </p:cNvPr>
          <p:cNvSpPr/>
          <p:nvPr/>
        </p:nvSpPr>
        <p:spPr>
          <a:xfrm>
            <a:off x="6900599" y="3480445"/>
            <a:ext cx="454361" cy="870054"/>
          </a:xfrm>
          <a:prstGeom prst="rect">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64697C0C-08B7-1B6F-2157-9F3DD2731DD9}"/>
                  </a:ext>
                </a:extLst>
              </p:cNvPr>
              <p:cNvSpPr txBox="1"/>
              <p:nvPr/>
            </p:nvSpPr>
            <p:spPr>
              <a:xfrm>
                <a:off x="7749984" y="4685566"/>
                <a:ext cx="111216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𝑉</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𝑋</m:t>
                      </m:r>
                      <m:r>
                        <a:rPr lang="en-US" altLang="ja-JP" i="1">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𝑋</m:t>
                      </m:r>
                    </m:oMath>
                  </m:oMathPara>
                </a14:m>
                <a:endParaRPr kumimoji="1" lang="ja-JP" altLang="en-US"/>
              </a:p>
            </p:txBody>
          </p:sp>
        </mc:Choice>
        <mc:Fallback xmlns="">
          <p:sp>
            <p:nvSpPr>
              <p:cNvPr id="14" name="テキスト ボックス 13">
                <a:extLst>
                  <a:ext uri="{FF2B5EF4-FFF2-40B4-BE49-F238E27FC236}">
                    <a16:creationId xmlns:a16="http://schemas.microsoft.com/office/drawing/2014/main" id="{64697C0C-08B7-1B6F-2157-9F3DD2731DD9}"/>
                  </a:ext>
                </a:extLst>
              </p:cNvPr>
              <p:cNvSpPr txBox="1">
                <a:spLocks noRot="1" noChangeAspect="1" noMove="1" noResize="1" noEditPoints="1" noAdjustHandles="1" noChangeArrowheads="1" noChangeShapeType="1" noTextEdit="1"/>
              </p:cNvSpPr>
              <p:nvPr/>
            </p:nvSpPr>
            <p:spPr>
              <a:xfrm>
                <a:off x="7749984" y="4685566"/>
                <a:ext cx="1112164" cy="369332"/>
              </a:xfrm>
              <a:prstGeom prst="rect">
                <a:avLst/>
              </a:prstGeom>
              <a:blipFill>
                <a:blip r:embed="rId5"/>
                <a:stretch>
                  <a:fillRect b="-3448"/>
                </a:stretch>
              </a:blipFill>
            </p:spPr>
            <p:txBody>
              <a:bodyPr/>
              <a:lstStyle/>
              <a:p>
                <a:r>
                  <a:rPr lang="ja-JP" altLang="en-US">
                    <a:noFill/>
                  </a:rPr>
                  <a:t> </a:t>
                </a:r>
              </a:p>
            </p:txBody>
          </p:sp>
        </mc:Fallback>
      </mc:AlternateContent>
      <p:cxnSp>
        <p:nvCxnSpPr>
          <p:cNvPr id="16" name="直線矢印コネクタ 15">
            <a:extLst>
              <a:ext uri="{FF2B5EF4-FFF2-40B4-BE49-F238E27FC236}">
                <a16:creationId xmlns:a16="http://schemas.microsoft.com/office/drawing/2014/main" id="{B1A4A651-A013-67EA-DE58-1903AB380676}"/>
              </a:ext>
            </a:extLst>
          </p:cNvPr>
          <p:cNvCxnSpPr>
            <a:stCxn id="12" idx="2"/>
            <a:endCxn id="14" idx="1"/>
          </p:cNvCxnSpPr>
          <p:nvPr/>
        </p:nvCxnSpPr>
        <p:spPr>
          <a:xfrm>
            <a:off x="6501140" y="4826487"/>
            <a:ext cx="1248844" cy="437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0D740CA8-B3C9-D95A-F6D2-47F8F768A3A8}"/>
                  </a:ext>
                </a:extLst>
              </p:cNvPr>
              <p:cNvSpPr txBox="1"/>
              <p:nvPr/>
            </p:nvSpPr>
            <p:spPr>
              <a:xfrm>
                <a:off x="7831490" y="3194169"/>
                <a:ext cx="7570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ea typeface="Cambria Math" panose="02040503050406030204" pitchFamily="18" charset="0"/>
                        </a:rPr>
                        <m:t>𝑋</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𝑉</m:t>
                      </m:r>
                    </m:oMath>
                  </m:oMathPara>
                </a14:m>
                <a:endParaRPr kumimoji="1" lang="ja-JP" altLang="en-US"/>
              </a:p>
            </p:txBody>
          </p:sp>
        </mc:Choice>
        <mc:Fallback xmlns="">
          <p:sp>
            <p:nvSpPr>
              <p:cNvPr id="17" name="テキスト ボックス 16">
                <a:extLst>
                  <a:ext uri="{FF2B5EF4-FFF2-40B4-BE49-F238E27FC236}">
                    <a16:creationId xmlns:a16="http://schemas.microsoft.com/office/drawing/2014/main" id="{0D740CA8-B3C9-D95A-F6D2-47F8F768A3A8}"/>
                  </a:ext>
                </a:extLst>
              </p:cNvPr>
              <p:cNvSpPr txBox="1">
                <a:spLocks noRot="1" noChangeAspect="1" noMove="1" noResize="1" noEditPoints="1" noAdjustHandles="1" noChangeArrowheads="1" noChangeShapeType="1" noTextEdit="1"/>
              </p:cNvSpPr>
              <p:nvPr/>
            </p:nvSpPr>
            <p:spPr>
              <a:xfrm>
                <a:off x="7831490" y="3194169"/>
                <a:ext cx="757067" cy="369332"/>
              </a:xfrm>
              <a:prstGeom prst="rect">
                <a:avLst/>
              </a:prstGeom>
              <a:blipFill>
                <a:blip r:embed="rId6"/>
                <a:stretch>
                  <a:fillRect b="-3333"/>
                </a:stretch>
              </a:blipFill>
            </p:spPr>
            <p:txBody>
              <a:bodyPr/>
              <a:lstStyle/>
              <a:p>
                <a:r>
                  <a:rPr lang="ja-JP" altLang="en-US">
                    <a:noFill/>
                  </a:rPr>
                  <a:t> </a:t>
                </a:r>
              </a:p>
            </p:txBody>
          </p:sp>
        </mc:Fallback>
      </mc:AlternateContent>
      <p:cxnSp>
        <p:nvCxnSpPr>
          <p:cNvPr id="18" name="直線矢印コネクタ 17">
            <a:extLst>
              <a:ext uri="{FF2B5EF4-FFF2-40B4-BE49-F238E27FC236}">
                <a16:creationId xmlns:a16="http://schemas.microsoft.com/office/drawing/2014/main" id="{735BAB4F-B221-67F0-881D-DCFF239FE732}"/>
              </a:ext>
            </a:extLst>
          </p:cNvPr>
          <p:cNvCxnSpPr>
            <a:cxnSpLocks/>
            <a:stCxn id="13" idx="0"/>
            <a:endCxn id="17" idx="1"/>
          </p:cNvCxnSpPr>
          <p:nvPr/>
        </p:nvCxnSpPr>
        <p:spPr>
          <a:xfrm flipV="1">
            <a:off x="7127780" y="3378835"/>
            <a:ext cx="703710" cy="1016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C2F0089C-64AD-8CDD-3FB5-F2051A91EF8E}"/>
                  </a:ext>
                </a:extLst>
              </p:cNvPr>
              <p:cNvSpPr txBox="1"/>
              <p:nvPr/>
            </p:nvSpPr>
            <p:spPr>
              <a:xfrm>
                <a:off x="2852936" y="4685566"/>
                <a:ext cx="11123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ea typeface="Cambria Math" panose="02040503050406030204" pitchFamily="18" charset="0"/>
                        </a:rPr>
                        <m:t>𝑋</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𝐻</m:t>
                      </m:r>
                      <m:r>
                        <a:rPr lang="en-US" altLang="ja-JP" i="1">
                          <a:latin typeface="Cambria Math" panose="02040503050406030204" pitchFamily="18" charset="0"/>
                          <a:ea typeface="Cambria Math" panose="02040503050406030204" pitchFamily="18" charset="0"/>
                        </a:rPr>
                        <m:t>⨂</m:t>
                      </m:r>
                      <m:r>
                        <m:rPr>
                          <m:sty m:val="p"/>
                        </m:rPr>
                        <a:rPr lang="en-US" altLang="ja-JP" b="0" i="0" smtClean="0">
                          <a:latin typeface="Cambria Math" panose="02040503050406030204" pitchFamily="18" charset="0"/>
                          <a:ea typeface="Cambria Math" panose="02040503050406030204" pitchFamily="18" charset="0"/>
                        </a:rPr>
                        <m:t>X</m:t>
                      </m:r>
                    </m:oMath>
                  </m:oMathPara>
                </a14:m>
                <a:endParaRPr kumimoji="1" lang="ja-JP" altLang="en-US"/>
              </a:p>
            </p:txBody>
          </p:sp>
        </mc:Choice>
        <mc:Fallback xmlns="">
          <p:sp>
            <p:nvSpPr>
              <p:cNvPr id="22" name="テキスト ボックス 21">
                <a:extLst>
                  <a:ext uri="{FF2B5EF4-FFF2-40B4-BE49-F238E27FC236}">
                    <a16:creationId xmlns:a16="http://schemas.microsoft.com/office/drawing/2014/main" id="{C2F0089C-64AD-8CDD-3FB5-F2051A91EF8E}"/>
                  </a:ext>
                </a:extLst>
              </p:cNvPr>
              <p:cNvSpPr txBox="1">
                <a:spLocks noRot="1" noChangeAspect="1" noMove="1" noResize="1" noEditPoints="1" noAdjustHandles="1" noChangeArrowheads="1" noChangeShapeType="1" noTextEdit="1"/>
              </p:cNvSpPr>
              <p:nvPr/>
            </p:nvSpPr>
            <p:spPr>
              <a:xfrm>
                <a:off x="2852936" y="4685566"/>
                <a:ext cx="1112356" cy="369332"/>
              </a:xfrm>
              <a:prstGeom prst="rect">
                <a:avLst/>
              </a:prstGeom>
              <a:blipFill>
                <a:blip r:embed="rId7"/>
                <a:stretch>
                  <a:fillRect b="-3448"/>
                </a:stretch>
              </a:blipFill>
            </p:spPr>
            <p:txBody>
              <a:bodyPr/>
              <a:lstStyle/>
              <a:p>
                <a:r>
                  <a:rPr lang="ja-JP" altLang="en-US">
                    <a:noFill/>
                  </a:rPr>
                  <a:t> </a:t>
                </a:r>
              </a:p>
            </p:txBody>
          </p:sp>
        </mc:Fallback>
      </mc:AlternateContent>
      <p:cxnSp>
        <p:nvCxnSpPr>
          <p:cNvPr id="24" name="直線矢印コネクタ 23">
            <a:extLst>
              <a:ext uri="{FF2B5EF4-FFF2-40B4-BE49-F238E27FC236}">
                <a16:creationId xmlns:a16="http://schemas.microsoft.com/office/drawing/2014/main" id="{85B2171E-117C-B56A-E125-8FE9BAB10D35}"/>
              </a:ext>
            </a:extLst>
          </p:cNvPr>
          <p:cNvCxnSpPr>
            <a:cxnSpLocks/>
            <a:stCxn id="10" idx="2"/>
            <a:endCxn id="22" idx="3"/>
          </p:cNvCxnSpPr>
          <p:nvPr/>
        </p:nvCxnSpPr>
        <p:spPr>
          <a:xfrm flipH="1">
            <a:off x="3965292" y="4827577"/>
            <a:ext cx="1299608" cy="426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EBD8CE27-F93B-9243-4B8F-23737FCA1FCE}"/>
                  </a:ext>
                </a:extLst>
              </p:cNvPr>
              <p:cNvSpPr txBox="1"/>
              <p:nvPr/>
            </p:nvSpPr>
            <p:spPr>
              <a:xfrm>
                <a:off x="2643453" y="3194169"/>
                <a:ext cx="8862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ea typeface="Cambria Math" panose="02040503050406030204" pitchFamily="18" charset="0"/>
                        </a:rPr>
                        <m:t>𝐶𝑋</m:t>
                      </m:r>
                      <m:r>
                        <a:rPr lang="en-US" altLang="ja-JP" i="1">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𝑇</m:t>
                      </m:r>
                    </m:oMath>
                  </m:oMathPara>
                </a14:m>
                <a:endParaRPr kumimoji="1" lang="ja-JP" altLang="en-US"/>
              </a:p>
            </p:txBody>
          </p:sp>
        </mc:Choice>
        <mc:Fallback xmlns="">
          <p:sp>
            <p:nvSpPr>
              <p:cNvPr id="28" name="テキスト ボックス 27">
                <a:extLst>
                  <a:ext uri="{FF2B5EF4-FFF2-40B4-BE49-F238E27FC236}">
                    <a16:creationId xmlns:a16="http://schemas.microsoft.com/office/drawing/2014/main" id="{EBD8CE27-F93B-9243-4B8F-23737FCA1FCE}"/>
                  </a:ext>
                </a:extLst>
              </p:cNvPr>
              <p:cNvSpPr txBox="1">
                <a:spLocks noRot="1" noChangeAspect="1" noMove="1" noResize="1" noEditPoints="1" noAdjustHandles="1" noChangeArrowheads="1" noChangeShapeType="1" noTextEdit="1"/>
              </p:cNvSpPr>
              <p:nvPr/>
            </p:nvSpPr>
            <p:spPr>
              <a:xfrm>
                <a:off x="2643453" y="3194169"/>
                <a:ext cx="886268" cy="369332"/>
              </a:xfrm>
              <a:prstGeom prst="rect">
                <a:avLst/>
              </a:prstGeom>
              <a:blipFill>
                <a:blip r:embed="rId8"/>
                <a:stretch>
                  <a:fillRect b="-3333"/>
                </a:stretch>
              </a:blipFill>
            </p:spPr>
            <p:txBody>
              <a:bodyPr/>
              <a:lstStyle/>
              <a:p>
                <a:r>
                  <a:rPr lang="ja-JP" altLang="en-US">
                    <a:noFill/>
                  </a:rPr>
                  <a:t> </a:t>
                </a:r>
              </a:p>
            </p:txBody>
          </p:sp>
        </mc:Fallback>
      </mc:AlternateContent>
      <p:cxnSp>
        <p:nvCxnSpPr>
          <p:cNvPr id="29" name="直線矢印コネクタ 28">
            <a:extLst>
              <a:ext uri="{FF2B5EF4-FFF2-40B4-BE49-F238E27FC236}">
                <a16:creationId xmlns:a16="http://schemas.microsoft.com/office/drawing/2014/main" id="{F19FD2CC-4F7C-FE36-9997-831B28740DCF}"/>
              </a:ext>
            </a:extLst>
          </p:cNvPr>
          <p:cNvCxnSpPr>
            <a:cxnSpLocks/>
            <a:stCxn id="11" idx="0"/>
            <a:endCxn id="28" idx="3"/>
          </p:cNvCxnSpPr>
          <p:nvPr/>
        </p:nvCxnSpPr>
        <p:spPr>
          <a:xfrm flipH="1" flipV="1">
            <a:off x="3529721" y="3378835"/>
            <a:ext cx="2344779" cy="1027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9281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5B21F-8EEA-3C6B-1A82-CAB687022476}"/>
              </a:ext>
            </a:extLst>
          </p:cNvPr>
          <p:cNvSpPr>
            <a:spLocks noGrp="1"/>
          </p:cNvSpPr>
          <p:nvPr>
            <p:ph type="title"/>
          </p:nvPr>
        </p:nvSpPr>
        <p:spPr/>
        <p:txBody>
          <a:bodyPr/>
          <a:lstStyle/>
          <a:p>
            <a:r>
              <a:rPr kumimoji="1" lang="ja-JP" altLang="en-US"/>
              <a:t>ゲート連結</a:t>
            </a:r>
          </a:p>
        </p:txBody>
      </p:sp>
      <p:sp>
        <p:nvSpPr>
          <p:cNvPr id="3" name="コンテンツ プレースホルダー 2">
            <a:extLst>
              <a:ext uri="{FF2B5EF4-FFF2-40B4-BE49-F238E27FC236}">
                <a16:creationId xmlns:a16="http://schemas.microsoft.com/office/drawing/2014/main" id="{6B961404-F359-2CA4-5A27-E87052788F01}"/>
              </a:ext>
            </a:extLst>
          </p:cNvPr>
          <p:cNvSpPr>
            <a:spLocks noGrp="1"/>
          </p:cNvSpPr>
          <p:nvPr>
            <p:ph idx="1"/>
          </p:nvPr>
        </p:nvSpPr>
        <p:spPr/>
        <p:txBody>
          <a:bodyPr/>
          <a:lstStyle/>
          <a:p>
            <a:r>
              <a:rPr lang="ja-JP" altLang="en-US">
                <a:solidFill>
                  <a:srgbClr val="FF0000"/>
                </a:solidFill>
              </a:rPr>
              <a:t>テンソル積</a:t>
            </a:r>
            <a:r>
              <a:rPr lang="ja-JP" altLang="en-US"/>
              <a:t>で実装</a:t>
            </a:r>
            <a:endParaRPr lang="en-US" altLang="ja-JP" dirty="0"/>
          </a:p>
          <a:p>
            <a:pPr marL="0" indent="0">
              <a:buNone/>
            </a:pPr>
            <a:endParaRPr kumimoji="1" lang="en-US" altLang="ja-JP" dirty="0"/>
          </a:p>
          <a:p>
            <a:r>
              <a:rPr kumimoji="1" lang="en-US" altLang="ja-JP" dirty="0"/>
              <a:t>QMDD</a:t>
            </a:r>
            <a:r>
              <a:rPr kumimoji="1" lang="ja-JP" altLang="en-US"/>
              <a:t>では終端ノード</a:t>
            </a:r>
            <a:r>
              <a:rPr lang="ja-JP" altLang="en-US"/>
              <a:t>を始点ノードに置換する処理</a:t>
            </a:r>
            <a:endParaRPr lang="en-US" altLang="ja-JP" dirty="0"/>
          </a:p>
        </p:txBody>
      </p:sp>
      <p:sp>
        <p:nvSpPr>
          <p:cNvPr id="5" name="スライド番号プレースホルダー 4">
            <a:extLst>
              <a:ext uri="{FF2B5EF4-FFF2-40B4-BE49-F238E27FC236}">
                <a16:creationId xmlns:a16="http://schemas.microsoft.com/office/drawing/2014/main" id="{DB0102C2-99C2-AD78-9C7C-B0B444E682BB}"/>
              </a:ext>
            </a:extLst>
          </p:cNvPr>
          <p:cNvSpPr>
            <a:spLocks noGrp="1"/>
          </p:cNvSpPr>
          <p:nvPr>
            <p:ph type="sldNum" sz="quarter" idx="12"/>
          </p:nvPr>
        </p:nvSpPr>
        <p:spPr/>
        <p:txBody>
          <a:bodyPr/>
          <a:lstStyle/>
          <a:p>
            <a:fld id="{EA2F3317-65BA-D746-98B8-3038158C8C28}" type="slidenum">
              <a:rPr kumimoji="1" lang="ja-JP" altLang="en-US" smtClean="0"/>
              <a:t>5</a:t>
            </a:fld>
            <a:endParaRPr kumimoji="1" lang="ja-JP" altLang="en-US"/>
          </a:p>
        </p:txBody>
      </p:sp>
      <p:pic>
        <p:nvPicPr>
          <p:cNvPr id="7" name="図 6" descr="時計 が含まれている画像&#10;&#10;自動的に生成された説明">
            <a:extLst>
              <a:ext uri="{FF2B5EF4-FFF2-40B4-BE49-F238E27FC236}">
                <a16:creationId xmlns:a16="http://schemas.microsoft.com/office/drawing/2014/main" id="{F1461C18-BC33-C21A-9BD8-DC4B8E8D276F}"/>
              </a:ext>
            </a:extLst>
          </p:cNvPr>
          <p:cNvPicPr>
            <a:picLocks noChangeAspect="1"/>
          </p:cNvPicPr>
          <p:nvPr/>
        </p:nvPicPr>
        <p:blipFill>
          <a:blip r:embed="rId3"/>
          <a:stretch>
            <a:fillRect/>
          </a:stretch>
        </p:blipFill>
        <p:spPr>
          <a:xfrm>
            <a:off x="0" y="3958393"/>
            <a:ext cx="2649117" cy="1592624"/>
          </a:xfrm>
          <a:prstGeom prst="rect">
            <a:avLst/>
          </a:prstGeom>
        </p:spPr>
      </p:pic>
      <p:pic>
        <p:nvPicPr>
          <p:cNvPr id="9" name="図 8" descr="アイコン が含まれている画像&#10;&#10;自動的に生成された説明">
            <a:extLst>
              <a:ext uri="{FF2B5EF4-FFF2-40B4-BE49-F238E27FC236}">
                <a16:creationId xmlns:a16="http://schemas.microsoft.com/office/drawing/2014/main" id="{CBE72A4D-C8AF-0E05-73C5-59B3A191764E}"/>
              </a:ext>
            </a:extLst>
          </p:cNvPr>
          <p:cNvPicPr>
            <a:picLocks noChangeAspect="1"/>
          </p:cNvPicPr>
          <p:nvPr/>
        </p:nvPicPr>
        <p:blipFill>
          <a:blip r:embed="rId4"/>
          <a:stretch>
            <a:fillRect/>
          </a:stretch>
        </p:blipFill>
        <p:spPr>
          <a:xfrm>
            <a:off x="4036529" y="3611232"/>
            <a:ext cx="1507010" cy="3075709"/>
          </a:xfrm>
          <a:prstGeom prst="rect">
            <a:avLst/>
          </a:prstGeom>
        </p:spPr>
      </p:pic>
      <p:pic>
        <p:nvPicPr>
          <p:cNvPr id="13" name="図 12" descr="アプリケーション が含まれている画像&#10;&#10;自動的に生成された説明">
            <a:extLst>
              <a:ext uri="{FF2B5EF4-FFF2-40B4-BE49-F238E27FC236}">
                <a16:creationId xmlns:a16="http://schemas.microsoft.com/office/drawing/2014/main" id="{5A35DE30-714F-078E-D28E-4C4D925C0E3A}"/>
              </a:ext>
            </a:extLst>
          </p:cNvPr>
          <p:cNvPicPr>
            <a:picLocks noChangeAspect="1"/>
          </p:cNvPicPr>
          <p:nvPr/>
        </p:nvPicPr>
        <p:blipFill>
          <a:blip r:embed="rId5"/>
          <a:stretch>
            <a:fillRect/>
          </a:stretch>
        </p:blipFill>
        <p:spPr>
          <a:xfrm>
            <a:off x="6648460" y="3611232"/>
            <a:ext cx="1507010" cy="3075709"/>
          </a:xfrm>
          <a:prstGeom prst="rect">
            <a:avLst/>
          </a:prstGeom>
        </p:spPr>
      </p:pic>
      <p:pic>
        <p:nvPicPr>
          <p:cNvPr id="15" name="図 14" descr="ボール, 時計, テーブル, 挿絵 が含まれている画像&#10;&#10;自動的に生成された説明">
            <a:extLst>
              <a:ext uri="{FF2B5EF4-FFF2-40B4-BE49-F238E27FC236}">
                <a16:creationId xmlns:a16="http://schemas.microsoft.com/office/drawing/2014/main" id="{82166B8A-629E-F048-FEE9-F223447D3B90}"/>
              </a:ext>
            </a:extLst>
          </p:cNvPr>
          <p:cNvPicPr>
            <a:picLocks noChangeAspect="1"/>
          </p:cNvPicPr>
          <p:nvPr/>
        </p:nvPicPr>
        <p:blipFill>
          <a:blip r:embed="rId6"/>
          <a:stretch>
            <a:fillRect/>
          </a:stretch>
        </p:blipFill>
        <p:spPr>
          <a:xfrm>
            <a:off x="9866940" y="989008"/>
            <a:ext cx="1645856" cy="5322562"/>
          </a:xfrm>
          <a:prstGeom prst="rect">
            <a:avLst/>
          </a:prstGeom>
        </p:spPr>
      </p:pic>
      <p:sp>
        <p:nvSpPr>
          <p:cNvPr id="16" name="右矢印 15">
            <a:extLst>
              <a:ext uri="{FF2B5EF4-FFF2-40B4-BE49-F238E27FC236}">
                <a16:creationId xmlns:a16="http://schemas.microsoft.com/office/drawing/2014/main" id="{DE840419-6999-C66A-2C49-85420E51163C}"/>
              </a:ext>
            </a:extLst>
          </p:cNvPr>
          <p:cNvSpPr/>
          <p:nvPr/>
        </p:nvSpPr>
        <p:spPr>
          <a:xfrm>
            <a:off x="2564849" y="4566658"/>
            <a:ext cx="1287093" cy="376094"/>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右矢印 16">
            <a:extLst>
              <a:ext uri="{FF2B5EF4-FFF2-40B4-BE49-F238E27FC236}">
                <a16:creationId xmlns:a16="http://schemas.microsoft.com/office/drawing/2014/main" id="{1F87A06B-55FC-5052-3926-12835C30BE8A}"/>
              </a:ext>
            </a:extLst>
          </p:cNvPr>
          <p:cNvSpPr/>
          <p:nvPr/>
        </p:nvSpPr>
        <p:spPr>
          <a:xfrm rot="20718136">
            <a:off x="8334875" y="4409531"/>
            <a:ext cx="1287093" cy="376094"/>
          </a:xfrm>
          <a:prstGeom prst="right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B3C664A9-6E34-0287-F442-6D45D5FCA68B}"/>
                  </a:ext>
                </a:extLst>
              </p:cNvPr>
              <p:cNvSpPr txBox="1"/>
              <p:nvPr/>
            </p:nvSpPr>
            <p:spPr>
              <a:xfrm>
                <a:off x="5829100" y="4477706"/>
                <a:ext cx="53379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ja-JP" altLang="en-US" sz="3600" i="1" smtClean="0">
                          <a:latin typeface="Cambria Math" panose="02040503050406030204" pitchFamily="18" charset="0"/>
                        </a:rPr>
                        <m:t>⨂</m:t>
                      </m:r>
                    </m:oMath>
                  </m:oMathPara>
                </a14:m>
                <a:endParaRPr kumimoji="1" lang="ja-JP" altLang="en-US" sz="3600"/>
              </a:p>
            </p:txBody>
          </p:sp>
        </mc:Choice>
        <mc:Fallback xmlns="">
          <p:sp>
            <p:nvSpPr>
              <p:cNvPr id="18" name="テキスト ボックス 17">
                <a:extLst>
                  <a:ext uri="{FF2B5EF4-FFF2-40B4-BE49-F238E27FC236}">
                    <a16:creationId xmlns:a16="http://schemas.microsoft.com/office/drawing/2014/main" id="{B3C664A9-6E34-0287-F442-6D45D5FCA68B}"/>
                  </a:ext>
                </a:extLst>
              </p:cNvPr>
              <p:cNvSpPr txBox="1">
                <a:spLocks noRot="1" noChangeAspect="1" noMove="1" noResize="1" noEditPoints="1" noAdjustHandles="1" noChangeArrowheads="1" noChangeShapeType="1" noTextEdit="1"/>
              </p:cNvSpPr>
              <p:nvPr/>
            </p:nvSpPr>
            <p:spPr>
              <a:xfrm>
                <a:off x="5829100" y="4477706"/>
                <a:ext cx="533799" cy="553998"/>
              </a:xfrm>
              <a:prstGeom prst="rect">
                <a:avLst/>
              </a:prstGeom>
              <a:blipFill>
                <a:blip r:embed="rId7"/>
                <a:stretch>
                  <a:fillRect l="-18182" r="-18182" b="-1590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C8088E09-072A-6C13-5E96-3FD8F0FE43D4}"/>
                  </a:ext>
                </a:extLst>
              </p:cNvPr>
              <p:cNvSpPr txBox="1"/>
              <p:nvPr/>
            </p:nvSpPr>
            <p:spPr>
              <a:xfrm>
                <a:off x="2811321" y="4289659"/>
                <a:ext cx="5958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𝑋</m:t>
                      </m:r>
                    </m:oMath>
                  </m:oMathPara>
                </a14:m>
                <a:endParaRPr kumimoji="1" lang="ja-JP" altLang="en-US"/>
              </a:p>
            </p:txBody>
          </p:sp>
        </mc:Choice>
        <mc:Fallback xmlns="">
          <p:sp>
            <p:nvSpPr>
              <p:cNvPr id="19" name="テキスト ボックス 18">
                <a:extLst>
                  <a:ext uri="{FF2B5EF4-FFF2-40B4-BE49-F238E27FC236}">
                    <a16:creationId xmlns:a16="http://schemas.microsoft.com/office/drawing/2014/main" id="{C8088E09-072A-6C13-5E96-3FD8F0FE43D4}"/>
                  </a:ext>
                </a:extLst>
              </p:cNvPr>
              <p:cNvSpPr txBox="1">
                <a:spLocks noRot="1" noChangeAspect="1" noMove="1" noResize="1" noEditPoints="1" noAdjustHandles="1" noChangeArrowheads="1" noChangeShapeType="1" noTextEdit="1"/>
              </p:cNvSpPr>
              <p:nvPr/>
            </p:nvSpPr>
            <p:spPr>
              <a:xfrm>
                <a:off x="2811321" y="4289659"/>
                <a:ext cx="595869" cy="276999"/>
              </a:xfrm>
              <a:prstGeom prst="rect">
                <a:avLst/>
              </a:prstGeom>
              <a:blipFill>
                <a:blip r:embed="rId8"/>
                <a:stretch>
                  <a:fillRect l="-8333" r="-6250" b="-17391"/>
                </a:stretch>
              </a:blipFill>
            </p:spPr>
            <p:txBody>
              <a:bodyPr/>
              <a:lstStyle/>
              <a:p>
                <a:r>
                  <a:rPr lang="ja-JP" altLang="en-US">
                    <a:noFill/>
                  </a:rPr>
                  <a:t> </a:t>
                </a:r>
              </a:p>
            </p:txBody>
          </p:sp>
        </mc:Fallback>
      </mc:AlternateContent>
      <p:sp>
        <p:nvSpPr>
          <p:cNvPr id="8" name="正方形/長方形 7">
            <a:extLst>
              <a:ext uri="{FF2B5EF4-FFF2-40B4-BE49-F238E27FC236}">
                <a16:creationId xmlns:a16="http://schemas.microsoft.com/office/drawing/2014/main" id="{276218D0-C056-9770-F5B5-34A4DAE02948}"/>
              </a:ext>
            </a:extLst>
          </p:cNvPr>
          <p:cNvSpPr/>
          <p:nvPr/>
        </p:nvSpPr>
        <p:spPr>
          <a:xfrm>
            <a:off x="3801455" y="3451790"/>
            <a:ext cx="1977158" cy="3292475"/>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021B3FB4-78C5-864D-E7FF-0148E16497DF}"/>
              </a:ext>
            </a:extLst>
          </p:cNvPr>
          <p:cNvSpPr/>
          <p:nvPr/>
        </p:nvSpPr>
        <p:spPr>
          <a:xfrm>
            <a:off x="9743153" y="2194705"/>
            <a:ext cx="1977158" cy="1944132"/>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C8304653-552F-C69A-E826-1E0C63A96906}"/>
              </a:ext>
            </a:extLst>
          </p:cNvPr>
          <p:cNvSpPr/>
          <p:nvPr/>
        </p:nvSpPr>
        <p:spPr>
          <a:xfrm>
            <a:off x="6409432" y="3451789"/>
            <a:ext cx="1977158" cy="3292475"/>
          </a:xfrm>
          <a:prstGeom prst="rect">
            <a:avLst/>
          </a:prstGeom>
          <a:noFill/>
          <a:ln w="28575">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313E3ED-C070-C5CE-0D23-76B4CB14CD51}"/>
              </a:ext>
            </a:extLst>
          </p:cNvPr>
          <p:cNvSpPr/>
          <p:nvPr/>
        </p:nvSpPr>
        <p:spPr>
          <a:xfrm>
            <a:off x="9743153" y="4138838"/>
            <a:ext cx="1977158" cy="1944132"/>
          </a:xfrm>
          <a:prstGeom prst="rect">
            <a:avLst/>
          </a:prstGeom>
          <a:noFill/>
          <a:ln w="28575">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95305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C47D69-CC51-BB7E-6E9A-21D68C5278DF}"/>
              </a:ext>
            </a:extLst>
          </p:cNvPr>
          <p:cNvSpPr>
            <a:spLocks noGrp="1"/>
          </p:cNvSpPr>
          <p:nvPr>
            <p:ph type="title"/>
          </p:nvPr>
        </p:nvSpPr>
        <p:spPr/>
        <p:txBody>
          <a:bodyPr/>
          <a:lstStyle/>
          <a:p>
            <a:r>
              <a:rPr kumimoji="1" lang="ja-JP" altLang="en-US"/>
              <a:t>単一量子ゲート</a:t>
            </a:r>
            <a:r>
              <a:rPr kumimoji="1" lang="en-US" altLang="ja-JP" dirty="0"/>
              <a:t>QMDD</a:t>
            </a:r>
            <a:r>
              <a:rPr kumimoji="1" lang="ja-JP" altLang="en-US"/>
              <a:t>の形状による大別</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762437C9-E30A-17CE-27D3-56D0F534D43A}"/>
                  </a:ext>
                </a:extLst>
              </p:cNvPr>
              <p:cNvSpPr>
                <a:spLocks noGrp="1"/>
              </p:cNvSpPr>
              <p:nvPr>
                <p:ph type="body" idx="1"/>
              </p:nvPr>
            </p:nvSpPr>
            <p:spPr/>
            <p:txBody>
              <a:bodyPr/>
              <a:lstStyle/>
              <a:p>
                <a14:m>
                  <m:oMath xmlns:m="http://schemas.openxmlformats.org/officeDocument/2006/math">
                    <m:r>
                      <a:rPr kumimoji="1" lang="en-US" altLang="ja-JP" b="1" i="1" smtClean="0">
                        <a:latin typeface="Cambria Math" panose="02040503050406030204" pitchFamily="18" charset="0"/>
                      </a:rPr>
                      <m:t>𝟎</m:t>
                    </m:r>
                  </m:oMath>
                </a14:m>
                <a:r>
                  <a:rPr kumimoji="1" lang="ja-JP" altLang="en-US"/>
                  <a:t>の要素を持つ</a:t>
                </a:r>
              </a:p>
            </p:txBody>
          </p:sp>
        </mc:Choice>
        <mc:Fallback xmlns="">
          <p:sp>
            <p:nvSpPr>
              <p:cNvPr id="3" name="テキスト プレースホルダー 2">
                <a:extLst>
                  <a:ext uri="{FF2B5EF4-FFF2-40B4-BE49-F238E27FC236}">
                    <a16:creationId xmlns:a16="http://schemas.microsoft.com/office/drawing/2014/main" id="{762437C9-E30A-17CE-27D3-56D0F534D43A}"/>
                  </a:ext>
                </a:extLst>
              </p:cNvPr>
              <p:cNvSpPr>
                <a:spLocks noGrp="1" noRot="1" noChangeAspect="1" noMove="1" noResize="1" noEditPoints="1" noAdjustHandles="1" noChangeArrowheads="1" noChangeShapeType="1" noTextEdit="1"/>
              </p:cNvSpPr>
              <p:nvPr>
                <p:ph type="body" idx="1"/>
              </p:nvPr>
            </p:nvSpPr>
            <p:spPr>
              <a:blipFill>
                <a:blip r:embed="rId3"/>
                <a:stretch>
                  <a:fillRect l="-246"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コンテンツ プレースホルダー 3">
                <a:extLst>
                  <a:ext uri="{FF2B5EF4-FFF2-40B4-BE49-F238E27FC236}">
                    <a16:creationId xmlns:a16="http://schemas.microsoft.com/office/drawing/2014/main" id="{E53BC16D-65C0-80AB-E0AE-CE7FB72EABF4}"/>
                  </a:ext>
                </a:extLst>
              </p:cNvPr>
              <p:cNvSpPr>
                <a:spLocks noGrp="1"/>
              </p:cNvSpPr>
              <p:nvPr>
                <p:ph sz="half" idx="2"/>
              </p:nvPr>
            </p:nvSpPr>
            <p:spPr/>
            <p:txBody>
              <a:bodyPr/>
              <a:lstStyle/>
              <a:p>
                <a:r>
                  <a:rPr kumimoji="1" lang="ja-JP" altLang="en-US"/>
                  <a:t>例</a:t>
                </a:r>
                <a:r>
                  <a:rPr lang="en-US" altLang="ja-JP" dirty="0">
                    <a:sym typeface="Wingdings" pitchFamily="2" charset="2"/>
                  </a:rPr>
                  <a:t>: </a:t>
                </a:r>
                <a14:m>
                  <m:oMath xmlns:m="http://schemas.openxmlformats.org/officeDocument/2006/math">
                    <m:r>
                      <a:rPr lang="en-US" altLang="ja-JP" b="0" i="1" smtClean="0">
                        <a:latin typeface="Cambria Math" panose="02040503050406030204" pitchFamily="18" charset="0"/>
                        <a:sym typeface="Wingdings" pitchFamily="2" charset="2"/>
                      </a:rPr>
                      <m:t>𝑋</m:t>
                    </m:r>
                  </m:oMath>
                </a14:m>
                <a:r>
                  <a:rPr kumimoji="1" lang="ja-JP" altLang="en-US"/>
                  <a:t>ゲート</a:t>
                </a:r>
                <a:endParaRPr kumimoji="1" lang="en-US" altLang="ja-JP" dirty="0"/>
              </a:p>
              <a:p>
                <a:pPr marL="0" indent="0">
                  <a:buNone/>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𝑋</m:t>
                      </m:r>
                      <m:r>
                        <a:rPr kumimoji="1" lang="en-US" altLang="ja-JP" b="0" i="1" smtClean="0">
                          <a:latin typeface="Cambria Math" panose="02040503050406030204" pitchFamily="18" charset="0"/>
                        </a:rPr>
                        <m:t>=</m:t>
                      </m:r>
                      <m:d>
                        <m:dPr>
                          <m:ctrlPr>
                            <a:rPr kumimoji="1" lang="en-US" altLang="ja-JP" i="1" smtClean="0">
                              <a:latin typeface="Cambria Math" panose="02040503050406030204" pitchFamily="18" charset="0"/>
                            </a:rPr>
                          </m:ctrlPr>
                        </m:dPr>
                        <m:e>
                          <m:m>
                            <m:mPr>
                              <m:mcs>
                                <m:mc>
                                  <m:mcPr>
                                    <m:count m:val="2"/>
                                    <m:mcJc m:val="center"/>
                                  </m:mcPr>
                                </m:mc>
                              </m:mcs>
                              <m:ctrlPr>
                                <a:rPr kumimoji="1" lang="en-US" altLang="ja-JP"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1</m:t>
                                </m:r>
                              </m:e>
                            </m:mr>
                            <m:mr>
                              <m:e>
                                <m:r>
                                  <a:rPr kumimoji="1" lang="en-US" altLang="ja-JP" b="0" i="1" smtClean="0">
                                    <a:latin typeface="Cambria Math" panose="02040503050406030204" pitchFamily="18" charset="0"/>
                                  </a:rPr>
                                  <m:t>1</m:t>
                                </m:r>
                              </m:e>
                              <m:e>
                                <m:r>
                                  <a:rPr kumimoji="1" lang="en-US" altLang="ja-JP" b="0" i="1" smtClean="0">
                                    <a:latin typeface="Cambria Math" panose="02040503050406030204" pitchFamily="18" charset="0"/>
                                  </a:rPr>
                                  <m:t>0</m:t>
                                </m:r>
                              </m:e>
                            </m:mr>
                          </m:m>
                        </m:e>
                      </m:d>
                    </m:oMath>
                  </m:oMathPara>
                </a14:m>
                <a:endParaRPr kumimoji="1" lang="en-US" altLang="ja-JP" dirty="0"/>
              </a:p>
              <a:p>
                <a:pPr marL="0" indent="0">
                  <a:buNone/>
                </a:pPr>
                <a:endParaRPr kumimoji="1" lang="ja-JP" altLang="en-US"/>
              </a:p>
            </p:txBody>
          </p:sp>
        </mc:Choice>
        <mc:Fallback xmlns="">
          <p:sp>
            <p:nvSpPr>
              <p:cNvPr id="4" name="コンテンツ プレースホルダー 3">
                <a:extLst>
                  <a:ext uri="{FF2B5EF4-FFF2-40B4-BE49-F238E27FC236}">
                    <a16:creationId xmlns:a16="http://schemas.microsoft.com/office/drawing/2014/main" id="{E53BC16D-65C0-80AB-E0AE-CE7FB72EABF4}"/>
                  </a:ext>
                </a:extLst>
              </p:cNvPr>
              <p:cNvSpPr>
                <a:spLocks noGrp="1" noRot="1" noChangeAspect="1" noMove="1" noResize="1" noEditPoints="1" noAdjustHandles="1" noChangeArrowheads="1" noChangeShapeType="1" noTextEdit="1"/>
              </p:cNvSpPr>
              <p:nvPr>
                <p:ph sz="half" idx="2"/>
              </p:nvPr>
            </p:nvSpPr>
            <p:spPr>
              <a:blipFill>
                <a:blip r:embed="rId4"/>
                <a:stretch>
                  <a:fillRect l="-2211" t="-2749"/>
                </a:stretch>
              </a:blipFill>
            </p:spPr>
            <p:txBody>
              <a:bodyPr/>
              <a:lstStyle/>
              <a:p>
                <a:r>
                  <a:rPr lang="ja-JP" altLang="en-US">
                    <a:noFill/>
                  </a:rPr>
                  <a:t> </a:t>
                </a:r>
              </a:p>
            </p:txBody>
          </p:sp>
        </mc:Fallback>
      </mc:AlternateContent>
      <p:sp>
        <p:nvSpPr>
          <p:cNvPr id="5" name="テキスト プレースホルダー 4">
            <a:extLst>
              <a:ext uri="{FF2B5EF4-FFF2-40B4-BE49-F238E27FC236}">
                <a16:creationId xmlns:a16="http://schemas.microsoft.com/office/drawing/2014/main" id="{8568D51A-D0DC-724C-DE3B-60F237792EDE}"/>
              </a:ext>
            </a:extLst>
          </p:cNvPr>
          <p:cNvSpPr>
            <a:spLocks noGrp="1"/>
          </p:cNvSpPr>
          <p:nvPr>
            <p:ph type="body" sz="quarter" idx="3"/>
          </p:nvPr>
        </p:nvSpPr>
        <p:spPr/>
        <p:txBody>
          <a:bodyPr/>
          <a:lstStyle/>
          <a:p>
            <a:r>
              <a:rPr kumimoji="1" lang="ja-JP" altLang="en-US"/>
              <a:t>非ゼロの要素のみを持つ</a:t>
            </a:r>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251733BC-71C7-EEDD-3CE6-FBEE55847BA3}"/>
                  </a:ext>
                </a:extLst>
              </p:cNvPr>
              <p:cNvSpPr>
                <a:spLocks noGrp="1"/>
              </p:cNvSpPr>
              <p:nvPr>
                <p:ph sz="quarter" idx="4"/>
              </p:nvPr>
            </p:nvSpPr>
            <p:spPr/>
            <p:txBody>
              <a:bodyPr/>
              <a:lstStyle/>
              <a:p>
                <a:r>
                  <a:rPr kumimoji="1" lang="ja-JP" altLang="en-US"/>
                  <a:t>例</a:t>
                </a:r>
                <a:r>
                  <a:rPr kumimoji="1" lang="en-US" altLang="ja-JP" dirty="0"/>
                  <a:t>: </a:t>
                </a:r>
                <a14:m>
                  <m:oMath xmlns:m="http://schemas.openxmlformats.org/officeDocument/2006/math">
                    <m:r>
                      <a:rPr kumimoji="1" lang="en-US" altLang="ja-JP" b="0" i="1" smtClean="0">
                        <a:latin typeface="Cambria Math" panose="02040503050406030204" pitchFamily="18" charset="0"/>
                      </a:rPr>
                      <m:t>𝐻</m:t>
                    </m:r>
                  </m:oMath>
                </a14:m>
                <a:r>
                  <a:rPr kumimoji="1" lang="ja-JP" altLang="en-US"/>
                  <a:t>ゲート</a:t>
                </a:r>
                <a:endParaRPr kumimoji="1" lang="en-US" altLang="ja-JP" dirty="0"/>
              </a:p>
              <a:p>
                <a:pPr marL="0" indent="0">
                  <a:buNone/>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2</m:t>
                              </m:r>
                            </m:e>
                          </m:rad>
                        </m:den>
                      </m:f>
                      <m:d>
                        <m:dPr>
                          <m:ctrlPr>
                            <a:rPr kumimoji="1" lang="en-US" altLang="ja-JP" i="1" smtClean="0">
                              <a:latin typeface="Cambria Math" panose="02040503050406030204" pitchFamily="18" charset="0"/>
                            </a:rPr>
                          </m:ctrlPr>
                        </m:dPr>
                        <m:e>
                          <m:m>
                            <m:mPr>
                              <m:mcs>
                                <m:mc>
                                  <m:mcPr>
                                    <m:count m:val="2"/>
                                    <m:mcJc m:val="center"/>
                                  </m:mcPr>
                                </m:mc>
                              </m:mcs>
                              <m:ctrlPr>
                                <a:rPr kumimoji="1" lang="en-US" altLang="ja-JP"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1</m:t>
                                </m:r>
                              </m:e>
                              <m:e>
                                <m:r>
                                  <a:rPr kumimoji="1" lang="en-US" altLang="ja-JP" b="0" i="1" smtClean="0">
                                    <a:latin typeface="Cambria Math" panose="02040503050406030204" pitchFamily="18" charset="0"/>
                                  </a:rPr>
                                  <m:t>1</m:t>
                                </m:r>
                              </m:e>
                            </m:mr>
                            <m:mr>
                              <m:e>
                                <m:r>
                                  <a:rPr kumimoji="1" lang="en-US" altLang="ja-JP" b="0" i="1" smtClean="0">
                                    <a:latin typeface="Cambria Math" panose="02040503050406030204" pitchFamily="18" charset="0"/>
                                  </a:rPr>
                                  <m:t>1</m:t>
                                </m:r>
                              </m:e>
                              <m:e>
                                <m:r>
                                  <a:rPr kumimoji="1" lang="en-US" altLang="ja-JP" b="0" i="1" smtClean="0">
                                    <a:latin typeface="Cambria Math" panose="02040503050406030204" pitchFamily="18" charset="0"/>
                                  </a:rPr>
                                  <m:t>−1</m:t>
                                </m:r>
                              </m:e>
                            </m:mr>
                          </m:m>
                        </m:e>
                      </m:d>
                    </m:oMath>
                  </m:oMathPara>
                </a14:m>
                <a:endParaRPr kumimoji="1" lang="en-US" altLang="ja-JP" dirty="0"/>
              </a:p>
              <a:p>
                <a:endParaRPr kumimoji="1" lang="ja-JP" altLang="en-US"/>
              </a:p>
            </p:txBody>
          </p:sp>
        </mc:Choice>
        <mc:Fallback xmlns="">
          <p:sp>
            <p:nvSpPr>
              <p:cNvPr id="6" name="コンテンツ プレースホルダー 5">
                <a:extLst>
                  <a:ext uri="{FF2B5EF4-FFF2-40B4-BE49-F238E27FC236}">
                    <a16:creationId xmlns:a16="http://schemas.microsoft.com/office/drawing/2014/main" id="{251733BC-71C7-EEDD-3CE6-FBEE55847BA3}"/>
                  </a:ext>
                </a:extLst>
              </p:cNvPr>
              <p:cNvSpPr>
                <a:spLocks noGrp="1" noRot="1" noChangeAspect="1" noMove="1" noResize="1" noEditPoints="1" noAdjustHandles="1" noChangeArrowheads="1" noChangeShapeType="1" noTextEdit="1"/>
              </p:cNvSpPr>
              <p:nvPr>
                <p:ph sz="quarter" idx="4"/>
              </p:nvPr>
            </p:nvSpPr>
            <p:spPr>
              <a:blipFill>
                <a:blip r:embed="rId5"/>
                <a:stretch>
                  <a:fillRect l="-2200" t="-274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471DA501-B924-86DC-5181-E96A86B7419C}"/>
                  </a:ext>
                </a:extLst>
              </p:cNvPr>
              <p:cNvSpPr txBox="1"/>
              <p:nvPr/>
            </p:nvSpPr>
            <p:spPr>
              <a:xfrm>
                <a:off x="3096940" y="4347369"/>
                <a:ext cx="2840444" cy="1754326"/>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kumimoji="1" lang="en-US" altLang="ja-JP" b="0" i="1" smtClean="0">
                        <a:latin typeface="Cambria Math" panose="02040503050406030204" pitchFamily="18" charset="0"/>
                      </a:rPr>
                      <m:t>0</m:t>
                    </m:r>
                  </m:oMath>
                </a14:m>
                <a:r>
                  <a:rPr kumimoji="1" lang="ja-JP" altLang="en-US"/>
                  <a:t>の要素の数は</a:t>
                </a:r>
                <a:r>
                  <a:rPr kumimoji="1" lang="en-US" altLang="ja-JP" dirty="0"/>
                  <a:t>2</a:t>
                </a:r>
                <a:r>
                  <a:rPr kumimoji="1" lang="ja-JP" altLang="en-US"/>
                  <a:t>個</a:t>
                </a:r>
                <a:endParaRPr kumimoji="1" lang="en-US" altLang="ja-JP" dirty="0"/>
              </a:p>
              <a:p>
                <a:pPr marL="742950" lvl="1" indent="-285750">
                  <a:buFont typeface="Arial" panose="020B0604020202020204" pitchFamily="34" charset="0"/>
                  <a:buChar char="•"/>
                </a:pPr>
                <a:r>
                  <a:rPr lang="ja-JP" altLang="en-US"/>
                  <a:t>奇数個になるものは存在しない</a:t>
                </a:r>
                <a:br>
                  <a:rPr lang="en-US" altLang="ja-JP" dirty="0"/>
                </a:br>
                <a:endParaRPr lang="en-US" altLang="ja-JP" dirty="0"/>
              </a:p>
              <a:p>
                <a:pPr marL="285750" indent="-285750">
                  <a:buFont typeface="Arial" panose="020B0604020202020204" pitchFamily="34" charset="0"/>
                  <a:buChar char="•"/>
                </a:pPr>
                <a:r>
                  <a:rPr kumimoji="1" lang="ja-JP" altLang="en-US"/>
                  <a:t>演算中に再帰を</a:t>
                </a:r>
                <a:br>
                  <a:rPr kumimoji="1" lang="en-US" altLang="ja-JP" dirty="0"/>
                </a:br>
                <a:r>
                  <a:rPr kumimoji="1" lang="ja-JP" altLang="en-US"/>
                  <a:t>スキップする役割</a:t>
                </a:r>
                <a:endParaRPr kumimoji="1" lang="en-US" altLang="ja-JP" dirty="0"/>
              </a:p>
            </p:txBody>
          </p:sp>
        </mc:Choice>
        <mc:Fallback xmlns="">
          <p:sp>
            <p:nvSpPr>
              <p:cNvPr id="17" name="テキスト ボックス 16">
                <a:extLst>
                  <a:ext uri="{FF2B5EF4-FFF2-40B4-BE49-F238E27FC236}">
                    <a16:creationId xmlns:a16="http://schemas.microsoft.com/office/drawing/2014/main" id="{471DA501-B924-86DC-5181-E96A86B7419C}"/>
                  </a:ext>
                </a:extLst>
              </p:cNvPr>
              <p:cNvSpPr txBox="1">
                <a:spLocks noRot="1" noChangeAspect="1" noMove="1" noResize="1" noEditPoints="1" noAdjustHandles="1" noChangeArrowheads="1" noChangeShapeType="1" noTextEdit="1"/>
              </p:cNvSpPr>
              <p:nvPr/>
            </p:nvSpPr>
            <p:spPr>
              <a:xfrm>
                <a:off x="3096940" y="4347369"/>
                <a:ext cx="2840444" cy="1754326"/>
              </a:xfrm>
              <a:prstGeom prst="rect">
                <a:avLst/>
              </a:prstGeom>
              <a:blipFill>
                <a:blip r:embed="rId6"/>
                <a:stretch>
                  <a:fillRect l="-1333" t="-1439" b="-5036"/>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DFF3091F-9912-3A0C-DE07-90C6C80FB914}"/>
              </a:ext>
            </a:extLst>
          </p:cNvPr>
          <p:cNvSpPr txBox="1"/>
          <p:nvPr/>
        </p:nvSpPr>
        <p:spPr>
          <a:xfrm>
            <a:off x="8802308" y="4844279"/>
            <a:ext cx="2840444" cy="646331"/>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演算時に全てのエッジの探索が必要</a:t>
            </a:r>
            <a:endParaRPr kumimoji="1" lang="en-US" altLang="ja-JP" dirty="0"/>
          </a:p>
        </p:txBody>
      </p:sp>
      <p:sp>
        <p:nvSpPr>
          <p:cNvPr id="7" name="スライド番号プレースホルダー 6">
            <a:extLst>
              <a:ext uri="{FF2B5EF4-FFF2-40B4-BE49-F238E27FC236}">
                <a16:creationId xmlns:a16="http://schemas.microsoft.com/office/drawing/2014/main" id="{6931235C-87B3-19E4-E687-C07F975AAD55}"/>
              </a:ext>
            </a:extLst>
          </p:cNvPr>
          <p:cNvSpPr>
            <a:spLocks noGrp="1"/>
          </p:cNvSpPr>
          <p:nvPr>
            <p:ph type="sldNum" sz="quarter" idx="12"/>
          </p:nvPr>
        </p:nvSpPr>
        <p:spPr/>
        <p:txBody>
          <a:bodyPr/>
          <a:lstStyle/>
          <a:p>
            <a:fld id="{B7DD3F26-AD0F-FC47-9ED8-571159D68F9B}" type="slidenum">
              <a:rPr kumimoji="1" lang="ja-JP" altLang="en-US" smtClean="0"/>
              <a:t>6</a:t>
            </a:fld>
            <a:endParaRPr kumimoji="1" lang="ja-JP" altLang="en-US"/>
          </a:p>
        </p:txBody>
      </p:sp>
      <p:pic>
        <p:nvPicPr>
          <p:cNvPr id="9" name="図 8" descr="アプリケーション が含まれている画像&#10;&#10;自動的に生成された説明">
            <a:extLst>
              <a:ext uri="{FF2B5EF4-FFF2-40B4-BE49-F238E27FC236}">
                <a16:creationId xmlns:a16="http://schemas.microsoft.com/office/drawing/2014/main" id="{BD57843E-19E8-FC96-3C42-D2867E9FD8FC}"/>
              </a:ext>
            </a:extLst>
          </p:cNvPr>
          <p:cNvPicPr>
            <a:picLocks noChangeAspect="1"/>
          </p:cNvPicPr>
          <p:nvPr/>
        </p:nvPicPr>
        <p:blipFill>
          <a:blip r:embed="rId7"/>
          <a:stretch>
            <a:fillRect/>
          </a:stretch>
        </p:blipFill>
        <p:spPr>
          <a:xfrm>
            <a:off x="665164" y="3272857"/>
            <a:ext cx="1689724" cy="3448617"/>
          </a:xfrm>
          <a:prstGeom prst="rect">
            <a:avLst/>
          </a:prstGeom>
        </p:spPr>
      </p:pic>
      <p:pic>
        <p:nvPicPr>
          <p:cNvPr id="18" name="図 17" descr="アイコン が含まれている画像&#10;&#10;自動的に生成された説明">
            <a:extLst>
              <a:ext uri="{FF2B5EF4-FFF2-40B4-BE49-F238E27FC236}">
                <a16:creationId xmlns:a16="http://schemas.microsoft.com/office/drawing/2014/main" id="{661DB48C-C9FE-5EE1-AAFC-E3E38BDEE8B7}"/>
              </a:ext>
            </a:extLst>
          </p:cNvPr>
          <p:cNvPicPr>
            <a:picLocks noChangeAspect="1"/>
          </p:cNvPicPr>
          <p:nvPr/>
        </p:nvPicPr>
        <p:blipFill>
          <a:blip r:embed="rId8"/>
          <a:stretch>
            <a:fillRect/>
          </a:stretch>
        </p:blipFill>
        <p:spPr>
          <a:xfrm>
            <a:off x="6024562" y="3272856"/>
            <a:ext cx="1689724" cy="3448617"/>
          </a:xfrm>
          <a:prstGeom prst="rect">
            <a:avLst/>
          </a:prstGeom>
        </p:spPr>
      </p:pic>
      <p:sp>
        <p:nvSpPr>
          <p:cNvPr id="19" name="正方形/長方形 18">
            <a:extLst>
              <a:ext uri="{FF2B5EF4-FFF2-40B4-BE49-F238E27FC236}">
                <a16:creationId xmlns:a16="http://schemas.microsoft.com/office/drawing/2014/main" id="{258858FC-9EDE-B377-FFD2-CC2C846EE592}"/>
              </a:ext>
            </a:extLst>
          </p:cNvPr>
          <p:cNvSpPr/>
          <p:nvPr/>
        </p:nvSpPr>
        <p:spPr>
          <a:xfrm>
            <a:off x="6278874" y="5372097"/>
            <a:ext cx="1181100" cy="40386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77A08E46-3287-1589-992A-713DEDD5B08E}"/>
              </a:ext>
            </a:extLst>
          </p:cNvPr>
          <p:cNvSpPr/>
          <p:nvPr/>
        </p:nvSpPr>
        <p:spPr>
          <a:xfrm>
            <a:off x="929680" y="5407817"/>
            <a:ext cx="332423" cy="332423"/>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71716D5-2669-8C1C-BA01-F9F2515982AA}"/>
              </a:ext>
            </a:extLst>
          </p:cNvPr>
          <p:cNvSpPr/>
          <p:nvPr/>
        </p:nvSpPr>
        <p:spPr>
          <a:xfrm>
            <a:off x="1760184" y="5407817"/>
            <a:ext cx="332423" cy="332423"/>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72827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37425B-AD63-1731-7282-64152EDE6F8D}"/>
              </a:ext>
            </a:extLst>
          </p:cNvPr>
          <p:cNvSpPr>
            <a:spLocks noGrp="1"/>
          </p:cNvSpPr>
          <p:nvPr>
            <p:ph type="title"/>
          </p:nvPr>
        </p:nvSpPr>
        <p:spPr/>
        <p:txBody>
          <a:bodyPr/>
          <a:lstStyle/>
          <a:p>
            <a:r>
              <a:rPr kumimoji="1" lang="en-US" altLang="ja-JP" dirty="0"/>
              <a:t>QMDD</a:t>
            </a:r>
            <a:r>
              <a:rPr kumimoji="1" lang="ja-JP" altLang="en-US"/>
              <a:t>の形状と計算量の関係</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48BADE0-2C32-73CD-7D8B-C33CFDCE735F}"/>
                  </a:ext>
                </a:extLst>
              </p:cNvPr>
              <p:cNvSpPr>
                <a:spLocks noGrp="1"/>
              </p:cNvSpPr>
              <p:nvPr>
                <p:ph idx="1"/>
              </p:nvPr>
            </p:nvSpPr>
            <p:spPr/>
            <p:txBody>
              <a:bodyPr/>
              <a:lstStyle/>
              <a:p>
                <a14:m>
                  <m:oMath xmlns:m="http://schemas.openxmlformats.org/officeDocument/2006/math">
                    <m:r>
                      <a:rPr kumimoji="1" lang="en-US" altLang="ja-JP" b="0" i="1" smtClean="0">
                        <a:latin typeface="Cambria Math" panose="02040503050406030204" pitchFamily="18" charset="0"/>
                      </a:rPr>
                      <m:t>0</m:t>
                    </m:r>
                  </m:oMath>
                </a14:m>
                <a:r>
                  <a:rPr kumimoji="1" lang="ja-JP" altLang="en-US"/>
                  <a:t>の要素の有無で</a:t>
                </a:r>
                <a:r>
                  <a:rPr lang="ja-JP" altLang="en-US">
                    <a:solidFill>
                      <a:srgbClr val="FF0000"/>
                    </a:solidFill>
                  </a:rPr>
                  <a:t>乗算</a:t>
                </a:r>
                <a:r>
                  <a:rPr kumimoji="1" lang="ja-JP" altLang="en-US"/>
                  <a:t>と</a:t>
                </a:r>
                <a:r>
                  <a:rPr kumimoji="1" lang="ja-JP" altLang="en-US" b="1">
                    <a:solidFill>
                      <a:srgbClr val="FF0000"/>
                    </a:solidFill>
                  </a:rPr>
                  <a:t>加算</a:t>
                </a:r>
                <a:r>
                  <a:rPr lang="ja-JP" altLang="en-US"/>
                  <a:t>の再帰に大差</a:t>
                </a:r>
                <a:endParaRPr lang="en-US" altLang="ja-JP" dirty="0"/>
              </a:p>
              <a:p>
                <a:pPr lvl="1"/>
                <a14:m>
                  <m:oMath xmlns:m="http://schemas.openxmlformats.org/officeDocument/2006/math">
                    <m:r>
                      <a:rPr kumimoji="1" lang="en-US" altLang="ja-JP" b="1" i="1" smtClean="0">
                        <a:latin typeface="Cambria Math" panose="02040503050406030204" pitchFamily="18" charset="0"/>
                      </a:rPr>
                      <m:t>𝟎</m:t>
                    </m:r>
                  </m:oMath>
                </a14:m>
                <a:r>
                  <a:rPr kumimoji="1" lang="ja-JP" altLang="en-US" b="1"/>
                  <a:t>の要素なし</a:t>
                </a:r>
                <a:endParaRPr kumimoji="1" lang="en-US" altLang="ja-JP" b="1" dirty="0"/>
              </a:p>
              <a:p>
                <a:pPr lvl="1"/>
                <a:endParaRPr lang="en-US" altLang="ja-JP" dirty="0"/>
              </a:p>
              <a:p>
                <a:pPr lvl="1"/>
                <a:endParaRPr kumimoji="1" lang="en-US" altLang="ja-JP" dirty="0"/>
              </a:p>
              <a:p>
                <a:pPr lvl="1"/>
                <a:endParaRPr lang="en-US" altLang="ja-JP" dirty="0"/>
              </a:p>
              <a:p>
                <a:pPr lvl="1"/>
                <a:endParaRPr kumimoji="1" lang="en-US" altLang="ja-JP" dirty="0"/>
              </a:p>
              <a:p>
                <a:pPr lvl="1"/>
                <a14:m>
                  <m:oMath xmlns:m="http://schemas.openxmlformats.org/officeDocument/2006/math">
                    <m:r>
                      <a:rPr kumimoji="1" lang="en-US" altLang="ja-JP" b="1" i="1" smtClean="0">
                        <a:latin typeface="Cambria Math" panose="02040503050406030204" pitchFamily="18" charset="0"/>
                      </a:rPr>
                      <m:t>𝟎</m:t>
                    </m:r>
                  </m:oMath>
                </a14:m>
                <a:r>
                  <a:rPr kumimoji="1" lang="ja-JP" altLang="en-US" b="1" dirty="0"/>
                  <a:t>の</a:t>
                </a:r>
                <a:r>
                  <a:rPr kumimoji="1" lang="ja-JP" altLang="en-US" b="1"/>
                  <a:t>要素あり</a:t>
                </a:r>
                <a:endParaRPr kumimoji="1" lang="en-US" altLang="ja-JP" b="1" dirty="0"/>
              </a:p>
              <a:p>
                <a:pPr lvl="2"/>
                <a:r>
                  <a:rPr kumimoji="1" lang="ja-JP" altLang="en-US"/>
                  <a:t>対角行列</a:t>
                </a:r>
                <a:endParaRPr kumimoji="1" lang="en-US" altLang="ja-JP" dirty="0"/>
              </a:p>
              <a:p>
                <a:pPr lvl="2"/>
                <a:r>
                  <a:rPr lang="ja-JP" altLang="en-US"/>
                  <a:t>副対角行列</a:t>
                </a:r>
                <a:endParaRPr kumimoji="1" lang="en-US" altLang="ja-JP" dirty="0"/>
              </a:p>
            </p:txBody>
          </p:sp>
        </mc:Choice>
        <mc:Fallback xmlns="">
          <p:sp>
            <p:nvSpPr>
              <p:cNvPr id="3" name="コンテンツ プレースホルダー 2">
                <a:extLst>
                  <a:ext uri="{FF2B5EF4-FFF2-40B4-BE49-F238E27FC236}">
                    <a16:creationId xmlns:a16="http://schemas.microsoft.com/office/drawing/2014/main" id="{548BADE0-2C32-73CD-7D8B-C33CFDCE735F}"/>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8BF19779-0156-C4C4-C8A1-1772DC29A3F3}"/>
              </a:ext>
            </a:extLst>
          </p:cNvPr>
          <p:cNvSpPr>
            <a:spLocks noGrp="1"/>
          </p:cNvSpPr>
          <p:nvPr>
            <p:ph type="sldNum" sz="quarter" idx="12"/>
          </p:nvPr>
        </p:nvSpPr>
        <p:spPr/>
        <p:txBody>
          <a:bodyPr/>
          <a:lstStyle/>
          <a:p>
            <a:fld id="{EA2F3317-65BA-D746-98B8-3038158C8C28}" type="slidenum">
              <a:rPr kumimoji="1" lang="ja-JP" altLang="en-US" smtClean="0"/>
              <a:t>7</a:t>
            </a:fld>
            <a:endParaRPr kumimoji="1" lang="ja-JP" altLang="en-US"/>
          </a:p>
        </p:txBody>
      </p:sp>
      <p:pic>
        <p:nvPicPr>
          <p:cNvPr id="9" name="図 8" descr="アプリケーション が含まれている画像&#10;&#10;自動的に生成された説明">
            <a:extLst>
              <a:ext uri="{FF2B5EF4-FFF2-40B4-BE49-F238E27FC236}">
                <a16:creationId xmlns:a16="http://schemas.microsoft.com/office/drawing/2014/main" id="{AA4B9DBD-C9EB-AA84-4D54-861F85914248}"/>
              </a:ext>
            </a:extLst>
          </p:cNvPr>
          <p:cNvPicPr>
            <a:picLocks noChangeAspect="1"/>
          </p:cNvPicPr>
          <p:nvPr/>
        </p:nvPicPr>
        <p:blipFill>
          <a:blip r:embed="rId4"/>
          <a:stretch>
            <a:fillRect/>
          </a:stretch>
        </p:blipFill>
        <p:spPr>
          <a:xfrm>
            <a:off x="4128305" y="2251451"/>
            <a:ext cx="1112009" cy="2269539"/>
          </a:xfrm>
          <a:prstGeom prst="rect">
            <a:avLst/>
          </a:prstGeom>
        </p:spPr>
      </p:pic>
      <p:pic>
        <p:nvPicPr>
          <p:cNvPr id="13" name="図 12" descr="グラフィカル ユーザー インターフェイス, アプリケーション&#10;&#10;自動的に生成された説明">
            <a:extLst>
              <a:ext uri="{FF2B5EF4-FFF2-40B4-BE49-F238E27FC236}">
                <a16:creationId xmlns:a16="http://schemas.microsoft.com/office/drawing/2014/main" id="{B33BACE5-4497-134D-9133-189C1BA09147}"/>
              </a:ext>
            </a:extLst>
          </p:cNvPr>
          <p:cNvPicPr>
            <a:picLocks noChangeAspect="1"/>
          </p:cNvPicPr>
          <p:nvPr/>
        </p:nvPicPr>
        <p:blipFill>
          <a:blip r:embed="rId5"/>
          <a:stretch>
            <a:fillRect/>
          </a:stretch>
        </p:blipFill>
        <p:spPr>
          <a:xfrm>
            <a:off x="5946375" y="4520990"/>
            <a:ext cx="1112009" cy="2269539"/>
          </a:xfrm>
          <a:prstGeom prst="rect">
            <a:avLst/>
          </a:prstGeom>
        </p:spPr>
      </p:pic>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C0F7109F-2CF8-F746-589E-A478B44BE877}"/>
              </a:ext>
            </a:extLst>
          </p:cNvPr>
          <p:cNvPicPr>
            <a:picLocks noChangeAspect="1"/>
          </p:cNvPicPr>
          <p:nvPr/>
        </p:nvPicPr>
        <p:blipFill>
          <a:blip r:embed="rId5"/>
          <a:stretch>
            <a:fillRect/>
          </a:stretch>
        </p:blipFill>
        <p:spPr>
          <a:xfrm>
            <a:off x="5946375" y="2239042"/>
            <a:ext cx="1112009" cy="2269539"/>
          </a:xfrm>
          <a:prstGeom prst="rect">
            <a:avLst/>
          </a:prstGeom>
        </p:spPr>
      </p:pic>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C30C43D2-A465-DAC4-7882-A3455D5FC828}"/>
                  </a:ext>
                </a:extLst>
              </p:cNvPr>
              <p:cNvSpPr txBox="1"/>
              <p:nvPr/>
            </p:nvSpPr>
            <p:spPr>
              <a:xfrm>
                <a:off x="1635524" y="2836582"/>
                <a:ext cx="1552348" cy="10992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000" i="1" smtClean="0">
                              <a:latin typeface="Cambria Math" panose="02040503050406030204" pitchFamily="18" charset="0"/>
                            </a:rPr>
                          </m:ctrlPr>
                        </m:dPr>
                        <m:e>
                          <m:m>
                            <m:mPr>
                              <m:mcs>
                                <m:mc>
                                  <m:mcPr>
                                    <m:count m:val="2"/>
                                    <m:mcJc m:val="center"/>
                                  </m:mcPr>
                                </m:mc>
                              </m:mcs>
                              <m:ctrlPr>
                                <a:rPr kumimoji="1" lang="en-US" altLang="ja-JP" sz="2000" i="1" smtClean="0">
                                  <a:latin typeface="Cambria Math" panose="02040503050406030204" pitchFamily="18" charset="0"/>
                                </a:rPr>
                              </m:ctrlPr>
                            </m:mPr>
                            <m:mr>
                              <m:e>
                                <m:r>
                                  <m:rPr>
                                    <m:brk m:alnAt="7"/>
                                  </m:rPr>
                                  <a:rPr kumimoji="1" lang="en-US" altLang="ja-JP" sz="2000" b="0" i="1" smtClean="0">
                                    <a:latin typeface="Cambria Math" panose="02040503050406030204" pitchFamily="18" charset="0"/>
                                  </a:rPr>
                                  <m:t>𝐴</m:t>
                                </m:r>
                              </m:e>
                              <m:e>
                                <m:r>
                                  <a:rPr kumimoji="1" lang="en-US" altLang="ja-JP" sz="2000" b="0" i="1" smtClean="0">
                                    <a:latin typeface="Cambria Math" panose="02040503050406030204" pitchFamily="18" charset="0"/>
                                  </a:rPr>
                                  <m:t>𝐵</m:t>
                                </m:r>
                              </m:e>
                            </m:mr>
                            <m:mr>
                              <m:e>
                                <m:r>
                                  <a:rPr kumimoji="1" lang="en-US" altLang="ja-JP" sz="2000" b="0" i="1" smtClean="0">
                                    <a:latin typeface="Cambria Math" panose="02040503050406030204" pitchFamily="18" charset="0"/>
                                  </a:rPr>
                                  <m:t>𝐶</m:t>
                                </m:r>
                              </m:e>
                              <m:e>
                                <m:r>
                                  <a:rPr kumimoji="1" lang="en-US" altLang="ja-JP" sz="2000" b="0" i="1" smtClean="0">
                                    <a:latin typeface="Cambria Math" panose="02040503050406030204" pitchFamily="18" charset="0"/>
                                  </a:rPr>
                                  <m:t>𝐷</m:t>
                                </m:r>
                              </m:e>
                            </m:mr>
                          </m:m>
                        </m:e>
                      </m:d>
                      <m:d>
                        <m:dPr>
                          <m:ctrlPr>
                            <a:rPr kumimoji="1" lang="en-US" altLang="ja-JP" sz="2000" i="1" smtClean="0">
                              <a:latin typeface="Cambria Math" panose="02040503050406030204" pitchFamily="18" charset="0"/>
                            </a:rPr>
                          </m:ctrlPr>
                        </m:dPr>
                        <m:e>
                          <m:m>
                            <m:mPr>
                              <m:mcs>
                                <m:mc>
                                  <m:mcPr>
                                    <m:count m:val="1"/>
                                    <m:mcJc m:val="center"/>
                                  </m:mcPr>
                                </m:mc>
                              </m:mcs>
                              <m:ctrlPr>
                                <a:rPr kumimoji="1" lang="en-US" altLang="ja-JP" sz="2000" i="1" smtClean="0">
                                  <a:latin typeface="Cambria Math" panose="02040503050406030204" pitchFamily="18" charset="0"/>
                                </a:rPr>
                              </m:ctrlPr>
                            </m:mPr>
                            <m:mr>
                              <m:e>
                                <m:r>
                                  <m:rPr>
                                    <m:brk m:alnAt="7"/>
                                  </m:rPr>
                                  <a:rPr kumimoji="1" lang="en-US" altLang="ja-JP" sz="2000" i="1" smtClean="0">
                                    <a:latin typeface="Cambria Math" panose="02040503050406030204" pitchFamily="18" charset="0"/>
                                    <a:ea typeface="Cambria Math" panose="02040503050406030204" pitchFamily="18" charset="0"/>
                                  </a:rPr>
                                  <m:t>𝛼</m:t>
                                </m:r>
                              </m:e>
                            </m:mr>
                            <m:mr>
                              <m:e>
                                <m:r>
                                  <a:rPr kumimoji="1" lang="en-US" altLang="ja-JP" sz="2000" i="1" smtClean="0">
                                    <a:latin typeface="Cambria Math" panose="02040503050406030204" pitchFamily="18" charset="0"/>
                                    <a:ea typeface="Cambria Math" panose="02040503050406030204" pitchFamily="18" charset="0"/>
                                  </a:rPr>
                                  <m:t>𝛽</m:t>
                                </m:r>
                              </m:e>
                            </m:mr>
                          </m:m>
                        </m:e>
                      </m:d>
                    </m:oMath>
                    <m:oMath xmlns:m="http://schemas.openxmlformats.org/officeDocument/2006/math">
                      <m:r>
                        <a:rPr kumimoji="1" lang="en-US" altLang="ja-JP" sz="2000" b="0" i="1" smtClean="0">
                          <a:latin typeface="Cambria Math" panose="02040503050406030204" pitchFamily="18" charset="0"/>
                        </a:rPr>
                        <m:t>=</m:t>
                      </m:r>
                      <m:d>
                        <m:dPr>
                          <m:ctrlPr>
                            <a:rPr kumimoji="1" lang="en-US" altLang="ja-JP" sz="2000" b="0" i="1" smtClean="0">
                              <a:latin typeface="Cambria Math" panose="02040503050406030204" pitchFamily="18" charset="0"/>
                            </a:rPr>
                          </m:ctrlPr>
                        </m:dPr>
                        <m:e>
                          <m:m>
                            <m:mPr>
                              <m:mcs>
                                <m:mc>
                                  <m:mcPr>
                                    <m:count m:val="1"/>
                                    <m:mcJc m:val="center"/>
                                  </m:mcPr>
                                </m:mc>
                              </m:mcs>
                              <m:ctrlPr>
                                <a:rPr kumimoji="1" lang="en-US" altLang="ja-JP" sz="2000" b="0" i="1" smtClean="0">
                                  <a:latin typeface="Cambria Math" panose="02040503050406030204" pitchFamily="18" charset="0"/>
                                </a:rPr>
                              </m:ctrlPr>
                            </m:mPr>
                            <m:mr>
                              <m:e>
                                <m:r>
                                  <m:rPr>
                                    <m:brk m:alnAt="7"/>
                                  </m:rPr>
                                  <a:rPr kumimoji="1" lang="en-US" altLang="ja-JP" sz="2000" b="0" i="1" smtClean="0">
                                    <a:latin typeface="Cambria Math" panose="02040503050406030204" pitchFamily="18" charset="0"/>
                                  </a:rPr>
                                  <m:t>𝐴</m:t>
                                </m:r>
                                <m:r>
                                  <a:rPr kumimoji="1" lang="en-US" altLang="ja-JP" sz="2000" b="0" i="1" smtClean="0">
                                    <a:latin typeface="Cambria Math" panose="02040503050406030204" pitchFamily="18" charset="0"/>
                                    <a:ea typeface="Cambria Math" panose="02040503050406030204" pitchFamily="18" charset="0"/>
                                  </a:rPr>
                                  <m:t>𝛼</m:t>
                                </m:r>
                                <m:r>
                                  <a:rPr kumimoji="1" lang="en-US" altLang="ja-JP" sz="2000" b="0" i="1" smtClean="0">
                                    <a:latin typeface="Cambria Math" panose="02040503050406030204" pitchFamily="18" charset="0"/>
                                    <a:ea typeface="Cambria Math" panose="02040503050406030204" pitchFamily="18" charset="0"/>
                                  </a:rPr>
                                  <m:t>+</m:t>
                                </m:r>
                                <m:r>
                                  <a:rPr kumimoji="1" lang="en-US" altLang="ja-JP" sz="2000" b="0" i="1" smtClean="0">
                                    <a:latin typeface="Cambria Math" panose="02040503050406030204" pitchFamily="18" charset="0"/>
                                    <a:ea typeface="Cambria Math" panose="02040503050406030204" pitchFamily="18" charset="0"/>
                                  </a:rPr>
                                  <m:t>𝐵</m:t>
                                </m:r>
                                <m:r>
                                  <a:rPr kumimoji="1" lang="en-US" altLang="ja-JP" sz="2000" b="0" i="1" smtClean="0">
                                    <a:latin typeface="Cambria Math" panose="02040503050406030204" pitchFamily="18" charset="0"/>
                                    <a:ea typeface="Cambria Math" panose="02040503050406030204" pitchFamily="18" charset="0"/>
                                  </a:rPr>
                                  <m:t>𝛽</m:t>
                                </m:r>
                              </m:e>
                            </m:mr>
                            <m:mr>
                              <m:e>
                                <m:r>
                                  <a:rPr kumimoji="1" lang="en-US" altLang="ja-JP" sz="2000" b="0" i="1" smtClean="0">
                                    <a:latin typeface="Cambria Math" panose="02040503050406030204" pitchFamily="18" charset="0"/>
                                  </a:rPr>
                                  <m:t>𝐶</m:t>
                                </m:r>
                                <m:r>
                                  <a:rPr kumimoji="1" lang="en-US" altLang="ja-JP" sz="2000" b="0" i="1" smtClean="0">
                                    <a:latin typeface="Cambria Math" panose="02040503050406030204" pitchFamily="18" charset="0"/>
                                    <a:ea typeface="Cambria Math" panose="02040503050406030204" pitchFamily="18" charset="0"/>
                                  </a:rPr>
                                  <m:t>𝛼</m:t>
                                </m:r>
                                <m:r>
                                  <a:rPr kumimoji="1" lang="en-US" altLang="ja-JP" sz="2000" b="0" i="1" smtClean="0">
                                    <a:latin typeface="Cambria Math" panose="02040503050406030204" pitchFamily="18" charset="0"/>
                                    <a:ea typeface="Cambria Math" panose="02040503050406030204" pitchFamily="18" charset="0"/>
                                  </a:rPr>
                                  <m:t>+</m:t>
                                </m:r>
                                <m:r>
                                  <a:rPr kumimoji="1" lang="en-US" altLang="ja-JP" sz="2000" b="0" i="1" smtClean="0">
                                    <a:latin typeface="Cambria Math" panose="02040503050406030204" pitchFamily="18" charset="0"/>
                                    <a:ea typeface="Cambria Math" panose="02040503050406030204" pitchFamily="18" charset="0"/>
                                  </a:rPr>
                                  <m:t>𝐷</m:t>
                                </m:r>
                                <m:r>
                                  <a:rPr kumimoji="1" lang="en-US" altLang="ja-JP" sz="2000" b="0" i="1" smtClean="0">
                                    <a:latin typeface="Cambria Math" panose="02040503050406030204" pitchFamily="18" charset="0"/>
                                    <a:ea typeface="Cambria Math" panose="02040503050406030204" pitchFamily="18" charset="0"/>
                                  </a:rPr>
                                  <m:t>𝛽</m:t>
                                </m:r>
                              </m:e>
                            </m:mr>
                          </m:m>
                        </m:e>
                      </m:d>
                    </m:oMath>
                  </m:oMathPara>
                </a14:m>
                <a:endParaRPr kumimoji="1" lang="ja-JP" altLang="en-US"/>
              </a:p>
            </p:txBody>
          </p:sp>
        </mc:Choice>
        <mc:Fallback xmlns="">
          <p:sp>
            <p:nvSpPr>
              <p:cNvPr id="17" name="テキスト ボックス 16">
                <a:extLst>
                  <a:ext uri="{FF2B5EF4-FFF2-40B4-BE49-F238E27FC236}">
                    <a16:creationId xmlns:a16="http://schemas.microsoft.com/office/drawing/2014/main" id="{C30C43D2-A465-DAC4-7882-A3455D5FC828}"/>
                  </a:ext>
                </a:extLst>
              </p:cNvPr>
              <p:cNvSpPr txBox="1">
                <a:spLocks noRot="1" noChangeAspect="1" noMove="1" noResize="1" noEditPoints="1" noAdjustHandles="1" noChangeArrowheads="1" noChangeShapeType="1" noTextEdit="1"/>
              </p:cNvSpPr>
              <p:nvPr/>
            </p:nvSpPr>
            <p:spPr>
              <a:xfrm>
                <a:off x="1635524" y="2836582"/>
                <a:ext cx="1552348" cy="1099275"/>
              </a:xfrm>
              <a:prstGeom prst="rect">
                <a:avLst/>
              </a:prstGeom>
              <a:blipFill>
                <a:blip r:embed="rId6"/>
                <a:stretch>
                  <a:fillRect t="-2273" b="-909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829FD7E7-FD06-5550-66A1-C806DC9C4A84}"/>
                  </a:ext>
                </a:extLst>
              </p:cNvPr>
              <p:cNvSpPr txBox="1"/>
              <p:nvPr/>
            </p:nvSpPr>
            <p:spPr>
              <a:xfrm>
                <a:off x="1798005" y="5336032"/>
                <a:ext cx="1371401" cy="1078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000" i="1" smtClean="0">
                              <a:latin typeface="Cambria Math" panose="02040503050406030204" pitchFamily="18" charset="0"/>
                            </a:rPr>
                          </m:ctrlPr>
                        </m:dPr>
                        <m:e>
                          <m:m>
                            <m:mPr>
                              <m:mcs>
                                <m:mc>
                                  <m:mcPr>
                                    <m:count m:val="2"/>
                                    <m:mcJc m:val="center"/>
                                  </m:mcPr>
                                </m:mc>
                              </m:mcs>
                              <m:ctrlPr>
                                <a:rPr kumimoji="1" lang="en-US" altLang="ja-JP" sz="2000" i="1" smtClean="0">
                                  <a:latin typeface="Cambria Math" panose="02040503050406030204" pitchFamily="18" charset="0"/>
                                </a:rPr>
                              </m:ctrlPr>
                            </m:mPr>
                            <m:mr>
                              <m:e>
                                <m:r>
                                  <m:rPr>
                                    <m:brk m:alnAt="7"/>
                                  </m:rPr>
                                  <a:rPr kumimoji="1" lang="en-US" altLang="ja-JP" sz="2000" b="0" i="1" smtClean="0">
                                    <a:latin typeface="Cambria Math" panose="02040503050406030204" pitchFamily="18" charset="0"/>
                                  </a:rPr>
                                  <m:t>𝐴</m:t>
                                </m:r>
                              </m:e>
                              <m:e>
                                <m:r>
                                  <a:rPr kumimoji="1" lang="en-US" altLang="ja-JP" sz="2000" b="0" i="1" smtClean="0">
                                    <a:latin typeface="Cambria Math" panose="02040503050406030204" pitchFamily="18" charset="0"/>
                                  </a:rPr>
                                  <m:t>0</m:t>
                                </m:r>
                              </m:e>
                            </m:mr>
                            <m:mr>
                              <m:e>
                                <m:r>
                                  <a:rPr kumimoji="1" lang="en-US" altLang="ja-JP" sz="2000" b="0" i="1" smtClean="0">
                                    <a:latin typeface="Cambria Math" panose="02040503050406030204" pitchFamily="18" charset="0"/>
                                  </a:rPr>
                                  <m:t>0</m:t>
                                </m:r>
                              </m:e>
                              <m:e>
                                <m:r>
                                  <a:rPr kumimoji="1" lang="en-US" altLang="ja-JP" sz="2000" b="0" i="1" smtClean="0">
                                    <a:latin typeface="Cambria Math" panose="02040503050406030204" pitchFamily="18" charset="0"/>
                                  </a:rPr>
                                  <m:t>𝐷</m:t>
                                </m:r>
                              </m:e>
                            </m:mr>
                          </m:m>
                        </m:e>
                      </m:d>
                      <m:d>
                        <m:dPr>
                          <m:ctrlPr>
                            <a:rPr kumimoji="1" lang="en-US" altLang="ja-JP" sz="2000" i="1" smtClean="0">
                              <a:latin typeface="Cambria Math" panose="02040503050406030204" pitchFamily="18" charset="0"/>
                            </a:rPr>
                          </m:ctrlPr>
                        </m:dPr>
                        <m:e>
                          <m:m>
                            <m:mPr>
                              <m:mcs>
                                <m:mc>
                                  <m:mcPr>
                                    <m:count m:val="1"/>
                                    <m:mcJc m:val="center"/>
                                  </m:mcPr>
                                </m:mc>
                              </m:mcs>
                              <m:ctrlPr>
                                <a:rPr kumimoji="1" lang="en-US" altLang="ja-JP" sz="2000" i="1" smtClean="0">
                                  <a:latin typeface="Cambria Math" panose="02040503050406030204" pitchFamily="18" charset="0"/>
                                </a:rPr>
                              </m:ctrlPr>
                            </m:mPr>
                            <m:mr>
                              <m:e>
                                <m:r>
                                  <m:rPr>
                                    <m:brk m:alnAt="7"/>
                                  </m:rPr>
                                  <a:rPr kumimoji="1" lang="en-US" altLang="ja-JP" sz="2000" i="1" smtClean="0">
                                    <a:latin typeface="Cambria Math" panose="02040503050406030204" pitchFamily="18" charset="0"/>
                                    <a:ea typeface="Cambria Math" panose="02040503050406030204" pitchFamily="18" charset="0"/>
                                  </a:rPr>
                                  <m:t>𝛼</m:t>
                                </m:r>
                              </m:e>
                            </m:mr>
                            <m:mr>
                              <m:e>
                                <m:r>
                                  <a:rPr kumimoji="1" lang="en-US" altLang="ja-JP" sz="2000" i="1" smtClean="0">
                                    <a:latin typeface="Cambria Math" panose="02040503050406030204" pitchFamily="18" charset="0"/>
                                    <a:ea typeface="Cambria Math" panose="02040503050406030204" pitchFamily="18" charset="0"/>
                                  </a:rPr>
                                  <m:t>𝛽</m:t>
                                </m:r>
                              </m:e>
                            </m:mr>
                          </m:m>
                        </m:e>
                      </m:d>
                    </m:oMath>
                    <m:oMath xmlns:m="http://schemas.openxmlformats.org/officeDocument/2006/math">
                      <m:r>
                        <a:rPr kumimoji="1" lang="en-US" altLang="ja-JP" sz="2000" b="0" i="1" smtClean="0">
                          <a:latin typeface="Cambria Math" panose="02040503050406030204" pitchFamily="18" charset="0"/>
                        </a:rPr>
                        <m:t>=</m:t>
                      </m:r>
                      <m:d>
                        <m:dPr>
                          <m:ctrlPr>
                            <a:rPr kumimoji="1" lang="en-US" altLang="ja-JP" sz="2000" b="0" i="1" smtClean="0">
                              <a:latin typeface="Cambria Math" panose="02040503050406030204" pitchFamily="18" charset="0"/>
                            </a:rPr>
                          </m:ctrlPr>
                        </m:dPr>
                        <m:e>
                          <m:m>
                            <m:mPr>
                              <m:mcs>
                                <m:mc>
                                  <m:mcPr>
                                    <m:count m:val="1"/>
                                    <m:mcJc m:val="center"/>
                                  </m:mcPr>
                                </m:mc>
                              </m:mcs>
                              <m:ctrlPr>
                                <a:rPr kumimoji="1" lang="en-US" altLang="ja-JP" sz="2000" b="0" i="1" smtClean="0">
                                  <a:latin typeface="Cambria Math" panose="02040503050406030204" pitchFamily="18" charset="0"/>
                                </a:rPr>
                              </m:ctrlPr>
                            </m:mPr>
                            <m:mr>
                              <m:e>
                                <m:r>
                                  <m:rPr>
                                    <m:brk m:alnAt="7"/>
                                  </m:rPr>
                                  <a:rPr kumimoji="1" lang="en-US" altLang="ja-JP" sz="2000" b="0" i="1" smtClean="0">
                                    <a:latin typeface="Cambria Math" panose="02040503050406030204" pitchFamily="18" charset="0"/>
                                  </a:rPr>
                                  <m:t>𝐴</m:t>
                                </m:r>
                                <m:r>
                                  <a:rPr kumimoji="1" lang="en-US" altLang="ja-JP" sz="2000" b="0" i="1" smtClean="0">
                                    <a:latin typeface="Cambria Math" panose="02040503050406030204" pitchFamily="18" charset="0"/>
                                    <a:ea typeface="Cambria Math" panose="02040503050406030204" pitchFamily="18" charset="0"/>
                                  </a:rPr>
                                  <m:t>𝛼</m:t>
                                </m:r>
                              </m:e>
                            </m:mr>
                            <m:mr>
                              <m:e>
                                <m:r>
                                  <a:rPr kumimoji="1" lang="en-US" altLang="ja-JP" sz="2000" b="0" i="1" smtClean="0">
                                    <a:latin typeface="Cambria Math" panose="02040503050406030204" pitchFamily="18" charset="0"/>
                                    <a:ea typeface="Cambria Math" panose="02040503050406030204" pitchFamily="18" charset="0"/>
                                  </a:rPr>
                                  <m:t>𝐷</m:t>
                                </m:r>
                                <m:r>
                                  <a:rPr kumimoji="1" lang="en-US" altLang="ja-JP" sz="2000" b="0" i="1" smtClean="0">
                                    <a:latin typeface="Cambria Math" panose="02040503050406030204" pitchFamily="18" charset="0"/>
                                    <a:ea typeface="Cambria Math" panose="02040503050406030204" pitchFamily="18" charset="0"/>
                                  </a:rPr>
                                  <m:t>𝛽</m:t>
                                </m:r>
                              </m:e>
                            </m:mr>
                          </m:m>
                        </m:e>
                      </m:d>
                    </m:oMath>
                  </m:oMathPara>
                </a14:m>
                <a:endParaRPr kumimoji="1" lang="ja-JP" altLang="en-US"/>
              </a:p>
            </p:txBody>
          </p:sp>
        </mc:Choice>
        <mc:Fallback xmlns="">
          <p:sp>
            <p:nvSpPr>
              <p:cNvPr id="18" name="テキスト ボックス 17">
                <a:extLst>
                  <a:ext uri="{FF2B5EF4-FFF2-40B4-BE49-F238E27FC236}">
                    <a16:creationId xmlns:a16="http://schemas.microsoft.com/office/drawing/2014/main" id="{829FD7E7-FD06-5550-66A1-C806DC9C4A84}"/>
                  </a:ext>
                </a:extLst>
              </p:cNvPr>
              <p:cNvSpPr txBox="1">
                <a:spLocks noRot="1" noChangeAspect="1" noMove="1" noResize="1" noEditPoints="1" noAdjustHandles="1" noChangeArrowheads="1" noChangeShapeType="1" noTextEdit="1"/>
              </p:cNvSpPr>
              <p:nvPr/>
            </p:nvSpPr>
            <p:spPr>
              <a:xfrm>
                <a:off x="1798005" y="5336032"/>
                <a:ext cx="1371401" cy="1078821"/>
              </a:xfrm>
              <a:prstGeom prst="rect">
                <a:avLst/>
              </a:prstGeom>
              <a:blipFill>
                <a:blip r:embed="rId7"/>
                <a:stretch>
                  <a:fillRect l="-917" t="-2353" b="-11765"/>
                </a:stretch>
              </a:blipFill>
            </p:spPr>
            <p:txBody>
              <a:bodyPr/>
              <a:lstStyle/>
              <a:p>
                <a:r>
                  <a:rPr lang="ja-JP" altLang="en-US">
                    <a:noFill/>
                  </a:rPr>
                  <a:t> </a:t>
                </a:r>
              </a:p>
            </p:txBody>
          </p:sp>
        </mc:Fallback>
      </mc:AlternateContent>
      <p:pic>
        <p:nvPicPr>
          <p:cNvPr id="20" name="図 19" descr="アプリケーション が含まれている画像&#10;&#10;自動的に生成された説明">
            <a:extLst>
              <a:ext uri="{FF2B5EF4-FFF2-40B4-BE49-F238E27FC236}">
                <a16:creationId xmlns:a16="http://schemas.microsoft.com/office/drawing/2014/main" id="{676A85DA-D7D6-22DA-FFBC-1344C0267579}"/>
              </a:ext>
            </a:extLst>
          </p:cNvPr>
          <p:cNvPicPr>
            <a:picLocks noChangeAspect="1"/>
          </p:cNvPicPr>
          <p:nvPr/>
        </p:nvPicPr>
        <p:blipFill>
          <a:blip r:embed="rId8"/>
          <a:stretch>
            <a:fillRect/>
          </a:stretch>
        </p:blipFill>
        <p:spPr>
          <a:xfrm>
            <a:off x="4128305" y="4508581"/>
            <a:ext cx="1111255" cy="2268000"/>
          </a:xfrm>
          <a:prstGeom prst="rect">
            <a:avLst/>
          </a:prstGeom>
        </p:spPr>
      </p:pic>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51AAA1A-23F3-4D12-535C-197D2B0E9AC5}"/>
                  </a:ext>
                </a:extLst>
              </p:cNvPr>
              <p:cNvSpPr txBox="1"/>
              <p:nvPr/>
            </p:nvSpPr>
            <p:spPr>
              <a:xfrm>
                <a:off x="5439456" y="3244333"/>
                <a:ext cx="30777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i="1" smtClean="0">
                          <a:latin typeface="Cambria Math" panose="02040503050406030204" pitchFamily="18" charset="0"/>
                          <a:ea typeface="Cambria Math" panose="02040503050406030204" pitchFamily="18" charset="0"/>
                        </a:rPr>
                        <m:t>×</m:t>
                      </m:r>
                    </m:oMath>
                  </m:oMathPara>
                </a14:m>
                <a:endParaRPr kumimoji="1" lang="ja-JP" altLang="en-US" sz="2400"/>
              </a:p>
            </p:txBody>
          </p:sp>
        </mc:Choice>
        <mc:Fallback xmlns="">
          <p:sp>
            <p:nvSpPr>
              <p:cNvPr id="21" name="テキスト ボックス 20">
                <a:extLst>
                  <a:ext uri="{FF2B5EF4-FFF2-40B4-BE49-F238E27FC236}">
                    <a16:creationId xmlns:a16="http://schemas.microsoft.com/office/drawing/2014/main" id="{951AAA1A-23F3-4D12-535C-197D2B0E9AC5}"/>
                  </a:ext>
                </a:extLst>
              </p:cNvPr>
              <p:cNvSpPr txBox="1">
                <a:spLocks noRot="1" noChangeAspect="1" noMove="1" noResize="1" noEditPoints="1" noAdjustHandles="1" noChangeArrowheads="1" noChangeShapeType="1" noTextEdit="1"/>
              </p:cNvSpPr>
              <p:nvPr/>
            </p:nvSpPr>
            <p:spPr>
              <a:xfrm>
                <a:off x="5439456" y="3244333"/>
                <a:ext cx="307777" cy="369332"/>
              </a:xfrm>
              <a:prstGeom prst="rect">
                <a:avLst/>
              </a:prstGeom>
              <a:blipFill>
                <a:blip r:embed="rId9"/>
                <a:stretch>
                  <a:fillRect l="-12000" r="-12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73559979-A374-8758-DADA-8B99F87E5648}"/>
                  </a:ext>
                </a:extLst>
              </p:cNvPr>
              <p:cNvSpPr txBox="1"/>
              <p:nvPr/>
            </p:nvSpPr>
            <p:spPr>
              <a:xfrm>
                <a:off x="5430648" y="5642581"/>
                <a:ext cx="30777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i="1" smtClean="0">
                          <a:latin typeface="Cambria Math" panose="02040503050406030204" pitchFamily="18" charset="0"/>
                          <a:ea typeface="Cambria Math" panose="02040503050406030204" pitchFamily="18" charset="0"/>
                        </a:rPr>
                        <m:t>×</m:t>
                      </m:r>
                    </m:oMath>
                  </m:oMathPara>
                </a14:m>
                <a:endParaRPr kumimoji="1" lang="ja-JP" altLang="en-US" sz="2400"/>
              </a:p>
            </p:txBody>
          </p:sp>
        </mc:Choice>
        <mc:Fallback xmlns="">
          <p:sp>
            <p:nvSpPr>
              <p:cNvPr id="22" name="テキスト ボックス 21">
                <a:extLst>
                  <a:ext uri="{FF2B5EF4-FFF2-40B4-BE49-F238E27FC236}">
                    <a16:creationId xmlns:a16="http://schemas.microsoft.com/office/drawing/2014/main" id="{73559979-A374-8758-DADA-8B99F87E5648}"/>
                  </a:ext>
                </a:extLst>
              </p:cNvPr>
              <p:cNvSpPr txBox="1">
                <a:spLocks noRot="1" noChangeAspect="1" noMove="1" noResize="1" noEditPoints="1" noAdjustHandles="1" noChangeArrowheads="1" noChangeShapeType="1" noTextEdit="1"/>
              </p:cNvSpPr>
              <p:nvPr/>
            </p:nvSpPr>
            <p:spPr>
              <a:xfrm>
                <a:off x="5430648" y="5642581"/>
                <a:ext cx="307777" cy="369332"/>
              </a:xfrm>
              <a:prstGeom prst="rect">
                <a:avLst/>
              </a:prstGeom>
              <a:blipFill>
                <a:blip r:embed="rId10"/>
                <a:stretch>
                  <a:fillRect l="-12000" r="-16000"/>
                </a:stretch>
              </a:blipFill>
            </p:spPr>
            <p:txBody>
              <a:bodyPr/>
              <a:lstStyle/>
              <a:p>
                <a:r>
                  <a:rPr lang="ja-JP" altLang="en-US">
                    <a:noFill/>
                  </a:rPr>
                  <a:t> </a:t>
                </a:r>
              </a:p>
            </p:txBody>
          </p:sp>
        </mc:Fallback>
      </mc:AlternateContent>
      <p:pic>
        <p:nvPicPr>
          <p:cNvPr id="25" name="図 24" descr="時計 が含まれている画像&#10;&#10;自動的に生成された説明">
            <a:extLst>
              <a:ext uri="{FF2B5EF4-FFF2-40B4-BE49-F238E27FC236}">
                <a16:creationId xmlns:a16="http://schemas.microsoft.com/office/drawing/2014/main" id="{AD2E205F-763C-795C-A0C4-38B3023266BF}"/>
              </a:ext>
            </a:extLst>
          </p:cNvPr>
          <p:cNvPicPr>
            <a:picLocks noChangeAspect="1"/>
          </p:cNvPicPr>
          <p:nvPr/>
        </p:nvPicPr>
        <p:blipFill>
          <a:blip r:embed="rId11"/>
          <a:stretch>
            <a:fillRect/>
          </a:stretch>
        </p:blipFill>
        <p:spPr>
          <a:xfrm>
            <a:off x="7891235" y="2239042"/>
            <a:ext cx="1364699" cy="2268000"/>
          </a:xfrm>
          <a:prstGeom prst="rect">
            <a:avLst/>
          </a:prstGeom>
        </p:spPr>
      </p:pic>
      <p:pic>
        <p:nvPicPr>
          <p:cNvPr id="27" name="図 26" descr="時計, 挿絵 が含まれている画像&#10;&#10;自動的に生成された説明">
            <a:extLst>
              <a:ext uri="{FF2B5EF4-FFF2-40B4-BE49-F238E27FC236}">
                <a16:creationId xmlns:a16="http://schemas.microsoft.com/office/drawing/2014/main" id="{15AE05B1-04D7-CB12-CE8A-E4906647B6F9}"/>
              </a:ext>
            </a:extLst>
          </p:cNvPr>
          <p:cNvPicPr>
            <a:picLocks noChangeAspect="1"/>
          </p:cNvPicPr>
          <p:nvPr/>
        </p:nvPicPr>
        <p:blipFill>
          <a:blip r:embed="rId12"/>
          <a:stretch>
            <a:fillRect/>
          </a:stretch>
        </p:blipFill>
        <p:spPr>
          <a:xfrm>
            <a:off x="7956220" y="4522529"/>
            <a:ext cx="1234728" cy="2268000"/>
          </a:xfrm>
          <a:prstGeom prst="rect">
            <a:avLst/>
          </a:prstGeom>
        </p:spPr>
      </p:pic>
      <p:cxnSp>
        <p:nvCxnSpPr>
          <p:cNvPr id="34" name="直線矢印コネクタ 33">
            <a:extLst>
              <a:ext uri="{FF2B5EF4-FFF2-40B4-BE49-F238E27FC236}">
                <a16:creationId xmlns:a16="http://schemas.microsoft.com/office/drawing/2014/main" id="{978AEF8E-B850-5130-C607-924905239DD8}"/>
              </a:ext>
            </a:extLst>
          </p:cNvPr>
          <p:cNvCxnSpPr>
            <a:cxnSpLocks/>
            <a:stCxn id="23" idx="2"/>
            <a:endCxn id="44" idx="1"/>
          </p:cNvCxnSpPr>
          <p:nvPr/>
        </p:nvCxnSpPr>
        <p:spPr>
          <a:xfrm>
            <a:off x="8730757" y="6101444"/>
            <a:ext cx="735981" cy="194464"/>
          </a:xfrm>
          <a:prstGeom prst="straightConnector1">
            <a:avLst/>
          </a:prstGeom>
          <a:ln w="12700">
            <a:solidFill>
              <a:srgbClr val="0070C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0E4E5C48-7CC5-9F49-4173-F83EE4753BA2}"/>
                  </a:ext>
                </a:extLst>
              </p:cNvPr>
              <p:cNvSpPr txBox="1"/>
              <p:nvPr/>
            </p:nvSpPr>
            <p:spPr>
              <a:xfrm>
                <a:off x="9532134" y="4865984"/>
                <a:ext cx="2362199" cy="1200329"/>
              </a:xfrm>
              <a:prstGeom prst="rect">
                <a:avLst/>
              </a:prstGeom>
              <a:noFill/>
            </p:spPr>
            <p:txBody>
              <a:bodyPr wrap="square" rtlCol="0">
                <a:spAutoFit/>
              </a:bodyPr>
              <a:lstStyle/>
              <a:p>
                <a:r>
                  <a:rPr kumimoji="1" lang="ja-JP" altLang="en-US"/>
                  <a:t>量子状態に関わらず</a:t>
                </a:r>
                <a:br>
                  <a:rPr kumimoji="1" lang="en-US" altLang="ja-JP" dirty="0"/>
                </a:br>
                <a:r>
                  <a:rPr lang="ja-JP" altLang="en-US"/>
                  <a:t>加</a:t>
                </a:r>
                <a:r>
                  <a:rPr kumimoji="1" lang="ja-JP" altLang="en-US"/>
                  <a:t>算</a:t>
                </a:r>
                <a:r>
                  <a:rPr lang="ja-JP" altLang="en-US"/>
                  <a:t>の</a:t>
                </a:r>
                <a:r>
                  <a:rPr lang="ja-JP" altLang="en-US">
                    <a:solidFill>
                      <a:srgbClr val="FF0000"/>
                    </a:solidFill>
                  </a:rPr>
                  <a:t>再帰なし</a:t>
                </a:r>
                <a:endParaRPr lang="en-US" altLang="ja-JP" dirty="0">
                  <a:solidFill>
                    <a:srgbClr val="FF0000"/>
                  </a:solidFill>
                </a:endParaRPr>
              </a:p>
              <a:p>
                <a:endParaRPr kumimoji="1" lang="en-US" altLang="ja-JP" dirty="0"/>
              </a:p>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𝑂</m:t>
                      </m:r>
                      <m:r>
                        <a:rPr kumimoji="1" lang="en-US" altLang="ja-JP" b="0" i="1" smtClean="0">
                          <a:latin typeface="Cambria Math" panose="02040503050406030204" pitchFamily="18" charset="0"/>
                        </a:rPr>
                        <m:t>(1)</m:t>
                      </m:r>
                    </m:oMath>
                  </m:oMathPara>
                </a14:m>
                <a:endParaRPr kumimoji="1" lang="ja-JP" altLang="en-US"/>
              </a:p>
            </p:txBody>
          </p:sp>
        </mc:Choice>
        <mc:Fallback xmlns="">
          <p:sp>
            <p:nvSpPr>
              <p:cNvPr id="38" name="テキスト ボックス 37">
                <a:extLst>
                  <a:ext uri="{FF2B5EF4-FFF2-40B4-BE49-F238E27FC236}">
                    <a16:creationId xmlns:a16="http://schemas.microsoft.com/office/drawing/2014/main" id="{0E4E5C48-7CC5-9F49-4173-F83EE4753BA2}"/>
                  </a:ext>
                </a:extLst>
              </p:cNvPr>
              <p:cNvSpPr txBox="1">
                <a:spLocks noRot="1" noChangeAspect="1" noMove="1" noResize="1" noEditPoints="1" noAdjustHandles="1" noChangeArrowheads="1" noChangeShapeType="1" noTextEdit="1"/>
              </p:cNvSpPr>
              <p:nvPr/>
            </p:nvSpPr>
            <p:spPr>
              <a:xfrm>
                <a:off x="9532134" y="4865984"/>
                <a:ext cx="2362199" cy="1200329"/>
              </a:xfrm>
              <a:prstGeom prst="rect">
                <a:avLst/>
              </a:prstGeom>
              <a:blipFill>
                <a:blip r:embed="rId13"/>
                <a:stretch>
                  <a:fillRect l="-2139" t="-2105" b="-3158"/>
                </a:stretch>
              </a:blipFill>
            </p:spPr>
            <p:txBody>
              <a:bodyPr/>
              <a:lstStyle/>
              <a:p>
                <a:r>
                  <a:rPr lang="ja-JP" altLang="en-US">
                    <a:noFill/>
                  </a:rPr>
                  <a:t> </a:t>
                </a:r>
              </a:p>
            </p:txBody>
          </p:sp>
        </mc:Fallback>
      </mc:AlternateContent>
      <p:sp>
        <p:nvSpPr>
          <p:cNvPr id="49" name="正方形/長方形 48">
            <a:extLst>
              <a:ext uri="{FF2B5EF4-FFF2-40B4-BE49-F238E27FC236}">
                <a16:creationId xmlns:a16="http://schemas.microsoft.com/office/drawing/2014/main" id="{909C5F88-E25C-75B7-84B0-F62825D3FEE9}"/>
              </a:ext>
            </a:extLst>
          </p:cNvPr>
          <p:cNvSpPr/>
          <p:nvPr/>
        </p:nvSpPr>
        <p:spPr>
          <a:xfrm>
            <a:off x="7876802" y="3591516"/>
            <a:ext cx="657038" cy="2302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正方形/長方形 49">
            <a:extLst>
              <a:ext uri="{FF2B5EF4-FFF2-40B4-BE49-F238E27FC236}">
                <a16:creationId xmlns:a16="http://schemas.microsoft.com/office/drawing/2014/main" id="{778AF53B-501A-DBCF-72AA-8E4B25380467}"/>
              </a:ext>
            </a:extLst>
          </p:cNvPr>
          <p:cNvSpPr/>
          <p:nvPr/>
        </p:nvSpPr>
        <p:spPr>
          <a:xfrm>
            <a:off x="8613329" y="3591516"/>
            <a:ext cx="657038" cy="2302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矢印コネクタ 50">
            <a:extLst>
              <a:ext uri="{FF2B5EF4-FFF2-40B4-BE49-F238E27FC236}">
                <a16:creationId xmlns:a16="http://schemas.microsoft.com/office/drawing/2014/main" id="{66ECD9C1-7630-5E21-3F9B-97DF81EA8DE6}"/>
              </a:ext>
            </a:extLst>
          </p:cNvPr>
          <p:cNvCxnSpPr>
            <a:cxnSpLocks/>
            <a:stCxn id="49" idx="0"/>
            <a:endCxn id="56" idx="1"/>
          </p:cNvCxnSpPr>
          <p:nvPr/>
        </p:nvCxnSpPr>
        <p:spPr>
          <a:xfrm flipV="1">
            <a:off x="8205321" y="3252199"/>
            <a:ext cx="1526967" cy="339317"/>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直線矢印コネクタ 52">
            <a:extLst>
              <a:ext uri="{FF2B5EF4-FFF2-40B4-BE49-F238E27FC236}">
                <a16:creationId xmlns:a16="http://schemas.microsoft.com/office/drawing/2014/main" id="{68E7C3F1-AEBC-55A4-50E1-A4D7C6AD09CE}"/>
              </a:ext>
            </a:extLst>
          </p:cNvPr>
          <p:cNvCxnSpPr>
            <a:cxnSpLocks/>
            <a:stCxn id="50" idx="0"/>
            <a:endCxn id="56" idx="1"/>
          </p:cNvCxnSpPr>
          <p:nvPr/>
        </p:nvCxnSpPr>
        <p:spPr>
          <a:xfrm flipV="1">
            <a:off x="8941848" y="3252199"/>
            <a:ext cx="790440" cy="339317"/>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179B92CA-C8FC-784F-E078-4E5CBCA50093}"/>
                  </a:ext>
                </a:extLst>
              </p:cNvPr>
              <p:cNvSpPr txBox="1"/>
              <p:nvPr/>
            </p:nvSpPr>
            <p:spPr>
              <a:xfrm>
                <a:off x="9732288" y="2513535"/>
                <a:ext cx="2246239" cy="1477328"/>
              </a:xfrm>
              <a:prstGeom prst="rect">
                <a:avLst/>
              </a:prstGeom>
              <a:noFill/>
            </p:spPr>
            <p:txBody>
              <a:bodyPr wrap="square" rtlCol="0">
                <a:spAutoFit/>
              </a:bodyPr>
              <a:lstStyle/>
              <a:p>
                <a:pPr/>
                <a:r>
                  <a:rPr kumimoji="1" lang="ja-JP" altLang="en-US"/>
                  <a:t>量子ビット数に</a:t>
                </a:r>
                <a:br>
                  <a:rPr kumimoji="1" lang="en-US" altLang="ja-JP" dirty="0"/>
                </a:br>
                <a:r>
                  <a:rPr kumimoji="1" lang="ja-JP" altLang="en-US"/>
                  <a:t>応じて指数関数的に増加</a:t>
                </a:r>
                <a:br>
                  <a:rPr kumimoji="1" lang="en-US" altLang="ja-JP" dirty="0"/>
                </a:br>
                <a:br>
                  <a:rPr kumimoji="1" lang="en-US" altLang="ja-JP" dirty="0"/>
                </a:b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𝑂</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2</m:t>
                          </m:r>
                        </m:e>
                        <m:sup>
                          <m:r>
                            <a:rPr kumimoji="1" lang="en-US" altLang="ja-JP" b="0" i="1" smtClean="0">
                              <a:latin typeface="Cambria Math" panose="02040503050406030204" pitchFamily="18" charset="0"/>
                            </a:rPr>
                            <m:t>𝑁</m:t>
                          </m:r>
                        </m:sup>
                      </m:sSup>
                      <m:r>
                        <a:rPr kumimoji="1" lang="en-US" altLang="ja-JP" b="0" i="1" smtClean="0">
                          <a:latin typeface="Cambria Math" panose="02040503050406030204" pitchFamily="18" charset="0"/>
                        </a:rPr>
                        <m:t>)</m:t>
                      </m:r>
                    </m:oMath>
                  </m:oMathPara>
                </a14:m>
                <a:endParaRPr kumimoji="1" lang="ja-JP" altLang="en-US"/>
              </a:p>
            </p:txBody>
          </p:sp>
        </mc:Choice>
        <mc:Fallback xmlns="">
          <p:sp>
            <p:nvSpPr>
              <p:cNvPr id="56" name="テキスト ボックス 55">
                <a:extLst>
                  <a:ext uri="{FF2B5EF4-FFF2-40B4-BE49-F238E27FC236}">
                    <a16:creationId xmlns:a16="http://schemas.microsoft.com/office/drawing/2014/main" id="{179B92CA-C8FC-784F-E078-4E5CBCA50093}"/>
                  </a:ext>
                </a:extLst>
              </p:cNvPr>
              <p:cNvSpPr txBox="1">
                <a:spLocks noRot="1" noChangeAspect="1" noMove="1" noResize="1" noEditPoints="1" noAdjustHandles="1" noChangeArrowheads="1" noChangeShapeType="1" noTextEdit="1"/>
              </p:cNvSpPr>
              <p:nvPr/>
            </p:nvSpPr>
            <p:spPr>
              <a:xfrm>
                <a:off x="9732288" y="2513535"/>
                <a:ext cx="2246239" cy="1477328"/>
              </a:xfrm>
              <a:prstGeom prst="rect">
                <a:avLst/>
              </a:prstGeom>
              <a:blipFill>
                <a:blip r:embed="rId14"/>
                <a:stretch>
                  <a:fillRect l="-2247" t="-1695" r="-1685" b="-2542"/>
                </a:stretch>
              </a:blipFill>
            </p:spPr>
            <p:txBody>
              <a:bodyPr/>
              <a:lstStyle/>
              <a:p>
                <a:r>
                  <a:rPr lang="ja-JP" altLang="en-US">
                    <a:noFill/>
                  </a:rPr>
                  <a:t> </a:t>
                </a:r>
              </a:p>
            </p:txBody>
          </p:sp>
        </mc:Fallback>
      </mc:AlternateContent>
      <p:sp>
        <p:nvSpPr>
          <p:cNvPr id="7" name="正方形/長方形 6">
            <a:extLst>
              <a:ext uri="{FF2B5EF4-FFF2-40B4-BE49-F238E27FC236}">
                <a16:creationId xmlns:a16="http://schemas.microsoft.com/office/drawing/2014/main" id="{F288B225-4C62-74B9-8BAE-E3B26DB99EDA}"/>
              </a:ext>
            </a:extLst>
          </p:cNvPr>
          <p:cNvSpPr/>
          <p:nvPr/>
        </p:nvSpPr>
        <p:spPr>
          <a:xfrm>
            <a:off x="7878846" y="5875530"/>
            <a:ext cx="657038" cy="2302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D8E45AA-D488-AACA-8DAE-B3C78C49FFC8}"/>
              </a:ext>
            </a:extLst>
          </p:cNvPr>
          <p:cNvSpPr/>
          <p:nvPr/>
        </p:nvSpPr>
        <p:spPr>
          <a:xfrm>
            <a:off x="8616340" y="5872699"/>
            <a:ext cx="657038" cy="2302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DD8A66B9-DEF8-B28E-D997-2FBB0401E6BB}"/>
              </a:ext>
            </a:extLst>
          </p:cNvPr>
          <p:cNvSpPr>
            <a:spLocks noChangeAspect="1"/>
          </p:cNvSpPr>
          <p:nvPr/>
        </p:nvSpPr>
        <p:spPr>
          <a:xfrm>
            <a:off x="8313312" y="5875530"/>
            <a:ext cx="230400" cy="230294"/>
          </a:xfrm>
          <a:prstGeom prst="rect">
            <a:avLst/>
          </a:prstGeom>
          <a:noFill/>
          <a:ln>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131135C6-C70D-356A-FBC4-9704477E7335}"/>
              </a:ext>
            </a:extLst>
          </p:cNvPr>
          <p:cNvSpPr>
            <a:spLocks noChangeAspect="1"/>
          </p:cNvSpPr>
          <p:nvPr/>
        </p:nvSpPr>
        <p:spPr>
          <a:xfrm>
            <a:off x="8303194" y="3591516"/>
            <a:ext cx="230400" cy="23029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8EF55B46-0A44-AE22-2186-5E7B66C19AEC}"/>
              </a:ext>
            </a:extLst>
          </p:cNvPr>
          <p:cNvSpPr>
            <a:spLocks noChangeAspect="1"/>
          </p:cNvSpPr>
          <p:nvPr/>
        </p:nvSpPr>
        <p:spPr>
          <a:xfrm>
            <a:off x="8615557" y="3591516"/>
            <a:ext cx="230400" cy="23029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BC952359-4E2E-CDC1-BD88-C7B0A9DBE3A2}"/>
              </a:ext>
            </a:extLst>
          </p:cNvPr>
          <p:cNvSpPr>
            <a:spLocks noChangeAspect="1"/>
          </p:cNvSpPr>
          <p:nvPr/>
        </p:nvSpPr>
        <p:spPr>
          <a:xfrm>
            <a:off x="8615557" y="5871150"/>
            <a:ext cx="230400" cy="230294"/>
          </a:xfrm>
          <a:prstGeom prst="rect">
            <a:avLst/>
          </a:prstGeom>
          <a:noFill/>
          <a:ln>
            <a:solidFill>
              <a:srgbClr val="0070C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矢印コネクタ 39">
            <a:extLst>
              <a:ext uri="{FF2B5EF4-FFF2-40B4-BE49-F238E27FC236}">
                <a16:creationId xmlns:a16="http://schemas.microsoft.com/office/drawing/2014/main" id="{95FC9A67-50D1-200D-4B06-E69FC1CD27F9}"/>
              </a:ext>
            </a:extLst>
          </p:cNvPr>
          <p:cNvCxnSpPr>
            <a:cxnSpLocks/>
            <a:stCxn id="29" idx="2"/>
            <a:endCxn id="44" idx="1"/>
          </p:cNvCxnSpPr>
          <p:nvPr/>
        </p:nvCxnSpPr>
        <p:spPr>
          <a:xfrm>
            <a:off x="8428512" y="6105824"/>
            <a:ext cx="1038226" cy="190084"/>
          </a:xfrm>
          <a:prstGeom prst="straightConnector1">
            <a:avLst/>
          </a:prstGeom>
          <a:ln w="127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44" name="テキスト ボックス 43">
            <a:extLst>
              <a:ext uri="{FF2B5EF4-FFF2-40B4-BE49-F238E27FC236}">
                <a16:creationId xmlns:a16="http://schemas.microsoft.com/office/drawing/2014/main" id="{ABE9B8D6-DC9C-1E7B-B345-29A279F805A1}"/>
              </a:ext>
            </a:extLst>
          </p:cNvPr>
          <p:cNvSpPr txBox="1"/>
          <p:nvPr/>
        </p:nvSpPr>
        <p:spPr>
          <a:xfrm>
            <a:off x="9466738" y="6111242"/>
            <a:ext cx="2492990" cy="369332"/>
          </a:xfrm>
          <a:prstGeom prst="rect">
            <a:avLst/>
          </a:prstGeom>
          <a:noFill/>
        </p:spPr>
        <p:txBody>
          <a:bodyPr wrap="none" rtlCol="0">
            <a:spAutoFit/>
          </a:bodyPr>
          <a:lstStyle/>
          <a:p>
            <a:r>
              <a:rPr kumimoji="1" lang="ja-JP" altLang="en-US"/>
              <a:t>一部の乗算も再帰なし</a:t>
            </a:r>
          </a:p>
        </p:txBody>
      </p:sp>
    </p:spTree>
    <p:extLst>
      <p:ext uri="{BB962C8B-B14F-4D97-AF65-F5344CB8AC3E}">
        <p14:creationId xmlns:p14="http://schemas.microsoft.com/office/powerpoint/2010/main" val="240805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1EF2EB-A185-9816-5B85-989FBF8CDDFC}"/>
              </a:ext>
            </a:extLst>
          </p:cNvPr>
          <p:cNvSpPr>
            <a:spLocks noGrp="1"/>
          </p:cNvSpPr>
          <p:nvPr>
            <p:ph type="title"/>
          </p:nvPr>
        </p:nvSpPr>
        <p:spPr/>
        <p:txBody>
          <a:bodyPr/>
          <a:lstStyle/>
          <a:p>
            <a:r>
              <a:rPr kumimoji="1" lang="ja-JP" altLang="en-US"/>
              <a:t>提案するシミュレーション手法</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02201D7-7380-EF9E-E586-898922297A0C}"/>
                  </a:ext>
                </a:extLst>
              </p:cNvPr>
              <p:cNvSpPr>
                <a:spLocks noGrp="1"/>
              </p:cNvSpPr>
              <p:nvPr>
                <p:ph idx="1"/>
              </p:nvPr>
            </p:nvSpPr>
            <p:spPr/>
            <p:txBody>
              <a:bodyPr>
                <a:normAutofit/>
              </a:bodyPr>
              <a:lstStyle/>
              <a:p>
                <a14:m>
                  <m:oMath xmlns:m="http://schemas.openxmlformats.org/officeDocument/2006/math">
                    <m:r>
                      <a:rPr kumimoji="1" lang="en-US" altLang="ja-JP" b="0" i="1" smtClean="0">
                        <a:latin typeface="Cambria Math" panose="02040503050406030204" pitchFamily="18" charset="0"/>
                      </a:rPr>
                      <m:t>0</m:t>
                    </m:r>
                  </m:oMath>
                </a14:m>
                <a:r>
                  <a:rPr kumimoji="1" lang="ja-JP" altLang="en-US"/>
                  <a:t>の要素を持たないゲートよりも</a:t>
                </a:r>
                <a:r>
                  <a:rPr kumimoji="1" lang="ja-JP" altLang="en-US">
                    <a:solidFill>
                      <a:srgbClr val="FF0000"/>
                    </a:solidFill>
                  </a:rPr>
                  <a:t>上位ビットへの</a:t>
                </a:r>
                <a:br>
                  <a:rPr kumimoji="1" lang="en-US" altLang="ja-JP" dirty="0">
                    <a:solidFill>
                      <a:srgbClr val="FF0000"/>
                    </a:solidFill>
                  </a:rPr>
                </a:br>
                <a:r>
                  <a:rPr kumimoji="1" lang="ja-JP" altLang="en-US">
                    <a:solidFill>
                      <a:srgbClr val="FF0000"/>
                    </a:solidFill>
                  </a:rPr>
                  <a:t>ゲート</a:t>
                </a:r>
                <a:r>
                  <a:rPr lang="ja-JP" altLang="en-US">
                    <a:solidFill>
                      <a:srgbClr val="FF0000"/>
                    </a:solidFill>
                  </a:rPr>
                  <a:t>の配置を制限</a:t>
                </a:r>
                <a:endParaRPr kumimoji="1" lang="en-US" altLang="ja-JP" dirty="0">
                  <a:solidFill>
                    <a:srgbClr val="FF0000"/>
                  </a:solidFill>
                </a:endParaRPr>
              </a:p>
              <a:p>
                <a:pPr lvl="1"/>
                <a14:m>
                  <m:oMath xmlns:m="http://schemas.openxmlformats.org/officeDocument/2006/math">
                    <m:r>
                      <a:rPr kumimoji="1" lang="en-US" altLang="ja-JP" b="0" i="1" smtClean="0">
                        <a:latin typeface="Cambria Math" panose="02040503050406030204" pitchFamily="18" charset="0"/>
                      </a:rPr>
                      <m:t>0</m:t>
                    </m:r>
                  </m:oMath>
                </a14:m>
                <a:r>
                  <a:rPr kumimoji="1" lang="ja-JP" altLang="en-US"/>
                  <a:t>の要素を持たないゲートは終端ノードに接続</a:t>
                </a:r>
                <a:endParaRPr kumimoji="1" lang="en-US" altLang="ja-JP" dirty="0"/>
              </a:p>
              <a:p>
                <a:r>
                  <a:rPr kumimoji="1" lang="ja-JP" altLang="en-US"/>
                  <a:t>その他の並列実行可能なゲートは同一レイヤに配置</a:t>
                </a:r>
                <a:endParaRPr kumimoji="1" lang="en-US" altLang="ja-JP" b="0" i="1" dirty="0">
                  <a:latin typeface="Cambria Math" panose="02040503050406030204" pitchFamily="18" charset="0"/>
                </a:endParaRPr>
              </a:p>
              <a:p>
                <a14:m>
                  <m:oMath xmlns:m="http://schemas.openxmlformats.org/officeDocument/2006/math">
                    <m:r>
                      <a:rPr kumimoji="1" lang="en-US" altLang="ja-JP" b="0" i="1" smtClean="0">
                        <a:latin typeface="Cambria Math" panose="02040503050406030204" pitchFamily="18" charset="0"/>
                      </a:rPr>
                      <m:t>𝐼</m:t>
                    </m:r>
                  </m:oMath>
                </a14:m>
                <a:r>
                  <a:rPr kumimoji="1" lang="ja-JP" altLang="en-US" b="0" dirty="0"/>
                  <a:t>ゲート</a:t>
                </a:r>
                <a:r>
                  <a:rPr kumimoji="1" lang="ja-JP" altLang="en-US" b="0"/>
                  <a:t>のパディングは</a:t>
                </a:r>
                <a14:m>
                  <m:oMath xmlns:m="http://schemas.openxmlformats.org/officeDocument/2006/math">
                    <m:r>
                      <a:rPr lang="en-US" altLang="ja-JP" i="1">
                        <a:latin typeface="Cambria Math" panose="02040503050406030204" pitchFamily="18" charset="0"/>
                      </a:rPr>
                      <m:t>0</m:t>
                    </m:r>
                  </m:oMath>
                </a14:m>
                <a:r>
                  <a:rPr kumimoji="1" lang="ja-JP" altLang="en-US" b="0"/>
                  <a:t>の要素を持つゲートと</a:t>
                </a:r>
                <a:r>
                  <a:rPr kumimoji="1" lang="ja-JP" altLang="en-US" b="0">
                    <a:solidFill>
                      <a:srgbClr val="FF0000"/>
                    </a:solidFill>
                  </a:rPr>
                  <a:t>等価</a:t>
                </a:r>
                <a:endParaRPr kumimoji="1" lang="en-US" altLang="ja-JP" dirty="0">
                  <a:solidFill>
                    <a:srgbClr val="FF0000"/>
                  </a:solidFill>
                </a:endParaRPr>
              </a:p>
              <a:p>
                <a:endParaRPr lang="en-US" altLang="ja-JP" dirty="0"/>
              </a:p>
              <a:p>
                <a:r>
                  <a:rPr kumimoji="1" lang="ja-JP" altLang="en-US"/>
                  <a:t>例</a:t>
                </a:r>
                <a:r>
                  <a:rPr kumimoji="1" lang="en-US" altLang="ja-JP" dirty="0"/>
                  <a:t>: H</a:t>
                </a:r>
                <a:r>
                  <a:rPr kumimoji="1" lang="ja-JP" altLang="en-US"/>
                  <a:t>ゲートと</a:t>
                </a:r>
                <a:r>
                  <a:rPr lang="en-US" altLang="ja-JP" dirty="0"/>
                  <a:t>X</a:t>
                </a:r>
                <a:r>
                  <a:rPr lang="ja-JP" altLang="en-US"/>
                  <a:t>ゲートから構成される量子回路</a:t>
                </a:r>
                <a:endParaRPr lang="en-US" altLang="ja-JP" dirty="0"/>
              </a:p>
              <a:p>
                <a:pPr lvl="1"/>
                <a:r>
                  <a:rPr lang="en-US" altLang="ja-JP" dirty="0"/>
                  <a:t>H: </a:t>
                </a:r>
                <a14:m>
                  <m:oMath xmlns:m="http://schemas.openxmlformats.org/officeDocument/2006/math">
                    <m:r>
                      <a:rPr kumimoji="1" lang="en-US" altLang="ja-JP" b="0" i="1" smtClean="0">
                        <a:latin typeface="Cambria Math" panose="02040503050406030204" pitchFamily="18" charset="0"/>
                      </a:rPr>
                      <m:t>0</m:t>
                    </m:r>
                  </m:oMath>
                </a14:m>
                <a:r>
                  <a:rPr kumimoji="1" lang="ja-JP" altLang="en-US"/>
                  <a:t>の要素なし</a:t>
                </a:r>
                <a:endParaRPr kumimoji="1" lang="en-US" altLang="ja-JP" dirty="0"/>
              </a:p>
              <a:p>
                <a:pPr lvl="1"/>
                <a:r>
                  <a:rPr lang="en-US" altLang="ja-JP" dirty="0"/>
                  <a:t>X: </a:t>
                </a:r>
                <a14:m>
                  <m:oMath xmlns:m="http://schemas.openxmlformats.org/officeDocument/2006/math">
                    <m:r>
                      <a:rPr kumimoji="1" lang="en-US" altLang="ja-JP" b="0" i="1" smtClean="0">
                        <a:latin typeface="Cambria Math" panose="02040503050406030204" pitchFamily="18" charset="0"/>
                      </a:rPr>
                      <m:t>0</m:t>
                    </m:r>
                  </m:oMath>
                </a14:m>
                <a:r>
                  <a:rPr lang="ja-JP" altLang="en-US"/>
                  <a:t>の要素あり（副対角行列）</a:t>
                </a:r>
                <a:endParaRPr lang="en-US" altLang="ja-JP" dirty="0"/>
              </a:p>
              <a:p>
                <a:pPr marL="457200" lvl="1" indent="0">
                  <a:buNone/>
                </a:pPr>
                <a:endParaRPr lang="en-US" altLang="ja-JP" dirty="0"/>
              </a:p>
              <a:p>
                <a:pPr marL="457200" lvl="1" indent="0">
                  <a:buNone/>
                </a:pPr>
                <a:endParaRPr lang="en-US" altLang="ja-JP" dirty="0"/>
              </a:p>
            </p:txBody>
          </p:sp>
        </mc:Choice>
        <mc:Fallback xmlns="">
          <p:sp>
            <p:nvSpPr>
              <p:cNvPr id="3" name="コンテンツ プレースホルダー 2">
                <a:extLst>
                  <a:ext uri="{FF2B5EF4-FFF2-40B4-BE49-F238E27FC236}">
                    <a16:creationId xmlns:a16="http://schemas.microsoft.com/office/drawing/2014/main" id="{602201D7-7380-EF9E-E586-898922297A0C}"/>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3EE8D923-F103-C40F-466A-19DDB483A2F0}"/>
              </a:ext>
            </a:extLst>
          </p:cNvPr>
          <p:cNvSpPr>
            <a:spLocks noGrp="1"/>
          </p:cNvSpPr>
          <p:nvPr>
            <p:ph type="sldNum" sz="quarter" idx="12"/>
          </p:nvPr>
        </p:nvSpPr>
        <p:spPr/>
        <p:txBody>
          <a:bodyPr/>
          <a:lstStyle/>
          <a:p>
            <a:fld id="{EA2F3317-65BA-D746-98B8-3038158C8C28}" type="slidenum">
              <a:rPr kumimoji="1" lang="ja-JP" altLang="en-US" smtClean="0"/>
              <a:t>8</a:t>
            </a:fld>
            <a:endParaRPr kumimoji="1" lang="ja-JP" altLang="en-US"/>
          </a:p>
        </p:txBody>
      </p:sp>
      <p:pic>
        <p:nvPicPr>
          <p:cNvPr id="6" name="図 5" descr="ダイアグラム&#10;&#10;自動的に生成された説明">
            <a:extLst>
              <a:ext uri="{FF2B5EF4-FFF2-40B4-BE49-F238E27FC236}">
                <a16:creationId xmlns:a16="http://schemas.microsoft.com/office/drawing/2014/main" id="{57A5A9E1-AD92-24D6-A442-A7D1D5473AB3}"/>
              </a:ext>
            </a:extLst>
          </p:cNvPr>
          <p:cNvPicPr>
            <a:picLocks noChangeAspect="1"/>
          </p:cNvPicPr>
          <p:nvPr/>
        </p:nvPicPr>
        <p:blipFill>
          <a:blip r:embed="rId4"/>
          <a:stretch>
            <a:fillRect/>
          </a:stretch>
        </p:blipFill>
        <p:spPr>
          <a:xfrm>
            <a:off x="6511804" y="5048514"/>
            <a:ext cx="2879885" cy="1809486"/>
          </a:xfrm>
          <a:prstGeom prst="rect">
            <a:avLst/>
          </a:prstGeom>
        </p:spPr>
      </p:pic>
      <p:sp>
        <p:nvSpPr>
          <p:cNvPr id="8" name="円/楕円 7">
            <a:extLst>
              <a:ext uri="{FF2B5EF4-FFF2-40B4-BE49-F238E27FC236}">
                <a16:creationId xmlns:a16="http://schemas.microsoft.com/office/drawing/2014/main" id="{E6738539-E909-D0EF-F8AD-161CD9C077CB}"/>
              </a:ext>
            </a:extLst>
          </p:cNvPr>
          <p:cNvSpPr>
            <a:spLocks noChangeAspect="1"/>
          </p:cNvSpPr>
          <p:nvPr/>
        </p:nvSpPr>
        <p:spPr>
          <a:xfrm>
            <a:off x="7800174" y="6121691"/>
            <a:ext cx="655057" cy="65505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CF8FB4EB-87CC-A162-5078-69E26FF6B404}"/>
              </a:ext>
            </a:extLst>
          </p:cNvPr>
          <p:cNvCxnSpPr>
            <a:cxnSpLocks/>
            <a:stCxn id="13" idx="3"/>
            <a:endCxn id="8" idx="2"/>
          </p:cNvCxnSpPr>
          <p:nvPr/>
        </p:nvCxnSpPr>
        <p:spPr>
          <a:xfrm>
            <a:off x="5902591" y="6362858"/>
            <a:ext cx="1897583" cy="86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E3DDAC4B-CCDD-127E-E8F0-D8E1683FE5D3}"/>
              </a:ext>
            </a:extLst>
          </p:cNvPr>
          <p:cNvSpPr txBox="1"/>
          <p:nvPr/>
        </p:nvSpPr>
        <p:spPr>
          <a:xfrm>
            <a:off x="3236090" y="6039692"/>
            <a:ext cx="2666501" cy="646331"/>
          </a:xfrm>
          <a:prstGeom prst="rect">
            <a:avLst/>
          </a:prstGeom>
          <a:noFill/>
        </p:spPr>
        <p:txBody>
          <a:bodyPr wrap="square" rtlCol="0">
            <a:spAutoFit/>
          </a:bodyPr>
          <a:lstStyle/>
          <a:p>
            <a:r>
              <a:rPr kumimoji="1" lang="en-US" altLang="ja-JP" dirty="0"/>
              <a:t>H</a:t>
            </a:r>
            <a:r>
              <a:rPr kumimoji="1" lang="ja-JP" altLang="en-US"/>
              <a:t>ゲートの下にゲートを</a:t>
            </a:r>
            <a:r>
              <a:rPr kumimoji="1" lang="ja-JP" altLang="en-US" b="1"/>
              <a:t>挿入しない</a:t>
            </a:r>
          </a:p>
        </p:txBody>
      </p:sp>
      <p:pic>
        <p:nvPicPr>
          <p:cNvPr id="11" name="図 10" descr="ダイアグラム&#10;&#10;自動的に生成された説明">
            <a:extLst>
              <a:ext uri="{FF2B5EF4-FFF2-40B4-BE49-F238E27FC236}">
                <a16:creationId xmlns:a16="http://schemas.microsoft.com/office/drawing/2014/main" id="{008C25FC-B9CA-013B-C136-12E4D06A88AA}"/>
              </a:ext>
            </a:extLst>
          </p:cNvPr>
          <p:cNvPicPr>
            <a:picLocks noChangeAspect="1"/>
          </p:cNvPicPr>
          <p:nvPr/>
        </p:nvPicPr>
        <p:blipFill>
          <a:blip r:embed="rId5"/>
          <a:stretch>
            <a:fillRect/>
          </a:stretch>
        </p:blipFill>
        <p:spPr>
          <a:xfrm>
            <a:off x="9521827" y="3561255"/>
            <a:ext cx="2548234" cy="1487259"/>
          </a:xfrm>
          <a:prstGeom prst="rect">
            <a:avLst/>
          </a:prstGeom>
        </p:spPr>
      </p:pic>
    </p:spTree>
    <p:extLst>
      <p:ext uri="{BB962C8B-B14F-4D97-AF65-F5344CB8AC3E}">
        <p14:creationId xmlns:p14="http://schemas.microsoft.com/office/powerpoint/2010/main" val="3470288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C4872-6C2B-432A-C75E-927B2EB82F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AB7D67-A74D-D586-6218-9B801CEF9320}"/>
              </a:ext>
            </a:extLst>
          </p:cNvPr>
          <p:cNvSpPr>
            <a:spLocks noGrp="1"/>
          </p:cNvSpPr>
          <p:nvPr>
            <p:ph type="title"/>
          </p:nvPr>
        </p:nvSpPr>
        <p:spPr/>
        <p:txBody>
          <a:bodyPr/>
          <a:lstStyle/>
          <a:p>
            <a:r>
              <a:rPr lang="ja-JP" altLang="en-US"/>
              <a:t>多</a:t>
            </a:r>
            <a:r>
              <a:rPr kumimoji="1" lang="ja-JP" altLang="en-US"/>
              <a:t>量子ゲートの考慮</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BFB2A97-2522-A34B-6A5F-43C14BBD5F90}"/>
                  </a:ext>
                </a:extLst>
              </p:cNvPr>
              <p:cNvSpPr>
                <a:spLocks noGrp="1"/>
              </p:cNvSpPr>
              <p:nvPr>
                <p:ph idx="1"/>
              </p:nvPr>
            </p:nvSpPr>
            <p:spPr/>
            <p:txBody>
              <a:bodyPr/>
              <a:lstStyle/>
              <a:p>
                <a:r>
                  <a:rPr lang="en-US" altLang="ja-JP" dirty="0"/>
                  <a:t>QMDD</a:t>
                </a:r>
                <a:r>
                  <a:rPr lang="ja-JP" altLang="en-US"/>
                  <a:t>の上位レベルで</a:t>
                </a:r>
                <a:r>
                  <a:rPr lang="ja-JP" altLang="en-US">
                    <a:solidFill>
                      <a:srgbClr val="FF0000"/>
                    </a:solidFill>
                  </a:rPr>
                  <a:t>零行列を</a:t>
                </a:r>
                <a:r>
                  <a:rPr lang="en-US" altLang="ja-JP" dirty="0">
                    <a:solidFill>
                      <a:srgbClr val="FF0000"/>
                    </a:solidFill>
                  </a:rPr>
                  <a:t>QMDD</a:t>
                </a:r>
                <a:r>
                  <a:rPr lang="ja-JP" altLang="en-US">
                    <a:solidFill>
                      <a:srgbClr val="FF0000"/>
                    </a:solidFill>
                  </a:rPr>
                  <a:t>の上位で圧縮</a:t>
                </a:r>
                <a:r>
                  <a:rPr lang="ja-JP" altLang="en-US"/>
                  <a:t>を目指す</a:t>
                </a:r>
                <a:endParaRPr lang="en-US" altLang="ja-JP" dirty="0"/>
              </a:p>
              <a:p>
                <a:endParaRPr lang="en-US" altLang="ja-JP" dirty="0"/>
              </a:p>
              <a:p>
                <a:r>
                  <a:rPr lang="ja-JP" altLang="en-US"/>
                  <a:t>特に</a:t>
                </a:r>
                <a14:m>
                  <m:oMath xmlns:m="http://schemas.openxmlformats.org/officeDocument/2006/math">
                    <m:r>
                      <a:rPr lang="en-US" altLang="ja-JP" b="0" i="1" u="sng" smtClean="0">
                        <a:latin typeface="Cambria Math" panose="02040503050406030204" pitchFamily="18" charset="0"/>
                      </a:rPr>
                      <m:t>𝑆𝑊𝐴𝑃</m:t>
                    </m:r>
                  </m:oMath>
                </a14:m>
                <a:r>
                  <a:rPr lang="ja-JP" altLang="en-US"/>
                  <a:t>などの置換行列は圧縮できない</a:t>
                </a:r>
                <a:endParaRPr lang="en-US" altLang="ja-JP" dirty="0"/>
              </a:p>
              <a:p>
                <a:pPr lvl="1"/>
                <a:r>
                  <a:rPr lang="ja-JP" altLang="en-US"/>
                  <a:t>明示的にゲートを挿入せず後段のゲートキューを置換</a:t>
                </a:r>
                <a:endParaRPr lang="en-US" altLang="ja-JP" dirty="0"/>
              </a:p>
              <a:p>
                <a:endParaRPr lang="en-US" altLang="ja-JP" dirty="0"/>
              </a:p>
              <a:p>
                <a:r>
                  <a:rPr lang="ja-JP" altLang="en-US"/>
                  <a:t>また一部の制御ゲートは</a:t>
                </a:r>
                <a:r>
                  <a:rPr lang="ja-JP" altLang="en-US">
                    <a:solidFill>
                      <a:srgbClr val="FF0000"/>
                    </a:solidFill>
                  </a:rPr>
                  <a:t>制御ビットとターゲットビットの</a:t>
                </a:r>
                <a:br>
                  <a:rPr lang="en-US" altLang="ja-JP" dirty="0">
                    <a:solidFill>
                      <a:srgbClr val="FF0000"/>
                    </a:solidFill>
                  </a:rPr>
                </a:br>
                <a:r>
                  <a:rPr lang="ja-JP" altLang="en-US">
                    <a:solidFill>
                      <a:srgbClr val="FF0000"/>
                    </a:solidFill>
                  </a:rPr>
                  <a:t>順序関係</a:t>
                </a:r>
                <a:r>
                  <a:rPr lang="ja-JP" altLang="en-US"/>
                  <a:t>で</a:t>
                </a:r>
                <a:r>
                  <a:rPr lang="en-US" altLang="ja-JP" dirty="0"/>
                  <a:t>QMDD</a:t>
                </a:r>
                <a:r>
                  <a:rPr lang="ja-JP" altLang="en-US"/>
                  <a:t>の形状が大きく変化</a:t>
                </a:r>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BFB2A97-2522-A34B-6A5F-43C14BBD5F90}"/>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E9DFC6EB-6CCD-0F17-3C54-178F8C33789E}"/>
                  </a:ext>
                </a:extLst>
              </p:cNvPr>
              <p:cNvSpPr txBox="1"/>
              <p:nvPr/>
            </p:nvSpPr>
            <p:spPr>
              <a:xfrm>
                <a:off x="2053542" y="5208228"/>
                <a:ext cx="2733184" cy="1284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𝐶𝑋</m:t>
                      </m:r>
                      <m:r>
                        <a:rPr kumimoji="1" lang="en-US" altLang="ja-JP" sz="2400" b="0" i="1" smtClean="0">
                          <a:latin typeface="Cambria Math" panose="02040503050406030204" pitchFamily="18" charset="0"/>
                        </a:rPr>
                        <m:t>=</m:t>
                      </m:r>
                      <m:d>
                        <m:dPr>
                          <m:begChr m:val="["/>
                          <m:endChr m:val="]"/>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m>
                                  <m:mPr>
                                    <m:plcHide m:val="on"/>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1</m:t>
                                      </m:r>
                                    </m:e>
                                    <m:e>
                                      <m:r>
                                        <m:rPr>
                                          <m:brk m:alnAt="7"/>
                                        </m:rPr>
                                        <a:rPr kumimoji="1" lang="en-US" altLang="ja-JP" sz="2400" b="0" i="1" smtClean="0">
                                          <a:latin typeface="Cambria Math" panose="02040503050406030204" pitchFamily="18" charset="0"/>
                                        </a:rPr>
                                        <m:t>0</m:t>
                                      </m:r>
                                    </m:e>
                                  </m:mr>
                                  <m:mr>
                                    <m:e>
                                      <m:r>
                                        <m:rPr>
                                          <m:brk m:alnAt="7"/>
                                        </m:rPr>
                                        <a:rPr kumimoji="1" lang="en-US" altLang="ja-JP" sz="2400" b="0" i="1" smtClean="0">
                                          <a:latin typeface="Cambria Math" panose="02040503050406030204" pitchFamily="18" charset="0"/>
                                        </a:rPr>
                                        <m:t>0</m:t>
                                      </m:r>
                                    </m:e>
                                    <m:e>
                                      <m:r>
                                        <m:rPr>
                                          <m:brk m:alnAt="7"/>
                                        </m:rPr>
                                        <a:rPr kumimoji="1" lang="en-US" altLang="ja-JP" sz="2400" b="0" i="1" smtClean="0">
                                          <a:latin typeface="Cambria Math" panose="02040503050406030204" pitchFamily="18" charset="0"/>
                                        </a:rPr>
                                        <m:t>1</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i="1">
                                          <a:latin typeface="Cambria Math" panose="02040503050406030204" pitchFamily="18" charset="0"/>
                                        </a:rPr>
                                        <m:t>0</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mr>
                                </m:m>
                              </m:e>
                            </m:mr>
                            <m:mr>
                              <m:e>
                                <m:m>
                                  <m:mPr>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mr>
                                </m:m>
                              </m:e>
                            </m:mr>
                          </m:m>
                        </m:e>
                      </m:d>
                    </m:oMath>
                  </m:oMathPara>
                </a14:m>
                <a:endParaRPr kumimoji="1" lang="ja-JP" altLang="en-US" sz="2400"/>
              </a:p>
            </p:txBody>
          </p:sp>
        </mc:Choice>
        <mc:Fallback xmlns="">
          <p:sp>
            <p:nvSpPr>
              <p:cNvPr id="4" name="テキスト ボックス 3">
                <a:extLst>
                  <a:ext uri="{FF2B5EF4-FFF2-40B4-BE49-F238E27FC236}">
                    <a16:creationId xmlns:a16="http://schemas.microsoft.com/office/drawing/2014/main" id="{E9DFC6EB-6CCD-0F17-3C54-178F8C33789E}"/>
                  </a:ext>
                </a:extLst>
              </p:cNvPr>
              <p:cNvSpPr txBox="1">
                <a:spLocks noRot="1" noChangeAspect="1" noMove="1" noResize="1" noEditPoints="1" noAdjustHandles="1" noChangeArrowheads="1" noChangeShapeType="1" noTextEdit="1"/>
              </p:cNvSpPr>
              <p:nvPr/>
            </p:nvSpPr>
            <p:spPr>
              <a:xfrm>
                <a:off x="2053542" y="5208228"/>
                <a:ext cx="2733184" cy="1284647"/>
              </a:xfrm>
              <a:prstGeom prst="rect">
                <a:avLst/>
              </a:prstGeom>
              <a:blipFill>
                <a:blip r:embed="rId4"/>
                <a:stretch>
                  <a:fillRect l="-1852" b="-67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0F736BA-8931-8BE1-C08C-CCD94C08533A}"/>
                  </a:ext>
                </a:extLst>
              </p:cNvPr>
              <p:cNvSpPr txBox="1"/>
              <p:nvPr/>
            </p:nvSpPr>
            <p:spPr>
              <a:xfrm>
                <a:off x="5863542" y="5208228"/>
                <a:ext cx="3191643" cy="1284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𝑆𝑊𝐴𝑃</m:t>
                      </m:r>
                      <m:r>
                        <a:rPr kumimoji="1" lang="en-US" altLang="ja-JP" sz="2400" b="0" i="1" smtClean="0">
                          <a:latin typeface="Cambria Math" panose="02040503050406030204" pitchFamily="18" charset="0"/>
                        </a:rPr>
                        <m:t>=</m:t>
                      </m:r>
                      <m:d>
                        <m:dPr>
                          <m:begChr m:val="["/>
                          <m:endChr m:val="]"/>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m>
                                  <m:mPr>
                                    <m:plcHide m:val="on"/>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1</m:t>
                                      </m:r>
                                    </m:e>
                                    <m:e>
                                      <m:r>
                                        <m:rPr>
                                          <m:brk m:alnAt="7"/>
                                        </m:rPr>
                                        <a:rPr kumimoji="1" lang="en-US" altLang="ja-JP" sz="2400" b="0" i="1" smtClean="0">
                                          <a:latin typeface="Cambria Math" panose="02040503050406030204" pitchFamily="18" charset="0"/>
                                        </a:rPr>
                                        <m:t>0</m:t>
                                      </m:r>
                                    </m:e>
                                  </m:mr>
                                  <m:mr>
                                    <m:e>
                                      <m:r>
                                        <m:rPr>
                                          <m:brk m:alnAt="7"/>
                                        </m:rPr>
                                        <a:rPr kumimoji="1" lang="en-US" altLang="ja-JP" sz="2400" b="0" i="1" smtClean="0">
                                          <a:latin typeface="Cambria Math" panose="02040503050406030204" pitchFamily="18" charset="0"/>
                                        </a:rPr>
                                        <m:t>0</m:t>
                                      </m:r>
                                    </m:e>
                                    <m:e>
                                      <m:r>
                                        <m:rPr>
                                          <m:brk m:alnAt="7"/>
                                        </m:rP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i="1">
                                          <a:latin typeface="Cambria Math" panose="02040503050406030204" pitchFamily="18" charset="0"/>
                                        </a:rPr>
                                        <m:t>0</m:t>
                                      </m:r>
                                    </m:e>
                                  </m:m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mr>
                                </m:m>
                              </m:e>
                            </m:mr>
                            <m:mr>
                              <m:e>
                                <m:m>
                                  <m:mPr>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1</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mr>
                          </m:m>
                        </m:e>
                      </m:d>
                    </m:oMath>
                  </m:oMathPara>
                </a14:m>
                <a:endParaRPr kumimoji="1" lang="ja-JP" altLang="en-US" sz="2400"/>
              </a:p>
            </p:txBody>
          </p:sp>
        </mc:Choice>
        <mc:Fallback xmlns="">
          <p:sp>
            <p:nvSpPr>
              <p:cNvPr id="5" name="テキスト ボックス 4">
                <a:extLst>
                  <a:ext uri="{FF2B5EF4-FFF2-40B4-BE49-F238E27FC236}">
                    <a16:creationId xmlns:a16="http://schemas.microsoft.com/office/drawing/2014/main" id="{30F736BA-8931-8BE1-C08C-CCD94C08533A}"/>
                  </a:ext>
                </a:extLst>
              </p:cNvPr>
              <p:cNvSpPr txBox="1">
                <a:spLocks noRot="1" noChangeAspect="1" noMove="1" noResize="1" noEditPoints="1" noAdjustHandles="1" noChangeArrowheads="1" noChangeShapeType="1" noTextEdit="1"/>
              </p:cNvSpPr>
              <p:nvPr/>
            </p:nvSpPr>
            <p:spPr>
              <a:xfrm>
                <a:off x="5863542" y="5208228"/>
                <a:ext cx="3191643" cy="1284647"/>
              </a:xfrm>
              <a:prstGeom prst="rect">
                <a:avLst/>
              </a:prstGeom>
              <a:blipFill>
                <a:blip r:embed="rId5"/>
                <a:stretch>
                  <a:fillRect l="-1587" b="-6796"/>
                </a:stretch>
              </a:blipFill>
            </p:spPr>
            <p:txBody>
              <a:bodyPr/>
              <a:lstStyle/>
              <a:p>
                <a:r>
                  <a:rPr lang="ja-JP" altLang="en-US">
                    <a:noFill/>
                  </a:rPr>
                  <a:t> </a:t>
                </a:r>
              </a:p>
            </p:txBody>
          </p:sp>
        </mc:Fallback>
      </mc:AlternateContent>
      <p:sp>
        <p:nvSpPr>
          <p:cNvPr id="6" name="スライド番号プレースホルダー 5">
            <a:extLst>
              <a:ext uri="{FF2B5EF4-FFF2-40B4-BE49-F238E27FC236}">
                <a16:creationId xmlns:a16="http://schemas.microsoft.com/office/drawing/2014/main" id="{7343236E-4857-BD9A-7205-9F4FC7AAA704}"/>
              </a:ext>
            </a:extLst>
          </p:cNvPr>
          <p:cNvSpPr>
            <a:spLocks noGrp="1"/>
          </p:cNvSpPr>
          <p:nvPr>
            <p:ph type="sldNum" sz="quarter" idx="12"/>
          </p:nvPr>
        </p:nvSpPr>
        <p:spPr/>
        <p:txBody>
          <a:bodyPr/>
          <a:lstStyle/>
          <a:p>
            <a:fld id="{A05843C0-813E-B949-A4C0-2511A34E55B1}" type="slidenum">
              <a:rPr kumimoji="1" lang="ja-JP" altLang="en-US" smtClean="0"/>
              <a:t>9</a:t>
            </a:fld>
            <a:endParaRPr kumimoji="1" lang="ja-JP" altLang="en-US"/>
          </a:p>
        </p:txBody>
      </p:sp>
    </p:spTree>
    <p:extLst>
      <p:ext uri="{BB962C8B-B14F-4D97-AF65-F5344CB8AC3E}">
        <p14:creationId xmlns:p14="http://schemas.microsoft.com/office/powerpoint/2010/main" val="2091940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30DB4-2795-50ED-BD15-2C8A3873763D}"/>
            </a:ext>
          </a:extLst>
        </p:cNvPr>
        <p:cNvGrpSpPr/>
        <p:nvPr/>
      </p:nvGrpSpPr>
      <p:grpSpPr>
        <a:xfrm>
          <a:off x="0" y="0"/>
          <a:ext cx="0" cy="0"/>
          <a:chOff x="0" y="0"/>
          <a:chExt cx="0" cy="0"/>
        </a:xfrm>
      </p:grpSpPr>
      <p:pic>
        <p:nvPicPr>
          <p:cNvPr id="6" name="グラフィックス 5">
            <a:extLst>
              <a:ext uri="{FF2B5EF4-FFF2-40B4-BE49-F238E27FC236}">
                <a16:creationId xmlns:a16="http://schemas.microsoft.com/office/drawing/2014/main" id="{565695B0-5F5F-F93D-72C3-60F809008F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3836" y="4471147"/>
            <a:ext cx="11744325" cy="2192573"/>
          </a:xfrm>
          <a:prstGeom prst="rect">
            <a:avLst/>
          </a:prstGeom>
        </p:spPr>
      </p:pic>
      <p:sp>
        <p:nvSpPr>
          <p:cNvPr id="2" name="タイトル 1">
            <a:extLst>
              <a:ext uri="{FF2B5EF4-FFF2-40B4-BE49-F238E27FC236}">
                <a16:creationId xmlns:a16="http://schemas.microsoft.com/office/drawing/2014/main" id="{5BA2D152-2511-CD69-C92D-664D2F09D713}"/>
              </a:ext>
            </a:extLst>
          </p:cNvPr>
          <p:cNvSpPr>
            <a:spLocks noGrp="1"/>
          </p:cNvSpPr>
          <p:nvPr>
            <p:ph type="title"/>
          </p:nvPr>
        </p:nvSpPr>
        <p:spPr/>
        <p:txBody>
          <a:bodyPr/>
          <a:lstStyle/>
          <a:p>
            <a:r>
              <a:rPr kumimoji="1" lang="ja-JP" altLang="en-US"/>
              <a:t>手法の比較</a:t>
            </a:r>
          </a:p>
        </p:txBody>
      </p:sp>
      <p:sp>
        <p:nvSpPr>
          <p:cNvPr id="4" name="スライド番号プレースホルダー 3">
            <a:extLst>
              <a:ext uri="{FF2B5EF4-FFF2-40B4-BE49-F238E27FC236}">
                <a16:creationId xmlns:a16="http://schemas.microsoft.com/office/drawing/2014/main" id="{865737B3-D9D7-6F2B-8571-00204C4BA8A1}"/>
              </a:ext>
            </a:extLst>
          </p:cNvPr>
          <p:cNvSpPr>
            <a:spLocks noGrp="1"/>
          </p:cNvSpPr>
          <p:nvPr>
            <p:ph type="sldNum" sz="quarter" idx="12"/>
          </p:nvPr>
        </p:nvSpPr>
        <p:spPr/>
        <p:txBody>
          <a:bodyPr/>
          <a:lstStyle/>
          <a:p>
            <a:fld id="{A05843C0-813E-B949-A4C0-2511A34E55B1}" type="slidenum">
              <a:rPr kumimoji="1" lang="ja-JP" altLang="en-US" smtClean="0"/>
              <a:t>10</a:t>
            </a:fld>
            <a:endParaRPr kumimoji="1" lang="ja-JP" altLang="en-US"/>
          </a:p>
        </p:txBody>
      </p:sp>
      <p:pic>
        <p:nvPicPr>
          <p:cNvPr id="8" name="図 7" descr="グラフ, 散布図&#10;&#10;自動的に生成された説明">
            <a:extLst>
              <a:ext uri="{FF2B5EF4-FFF2-40B4-BE49-F238E27FC236}">
                <a16:creationId xmlns:a16="http://schemas.microsoft.com/office/drawing/2014/main" id="{665603E3-B8D6-A127-CA24-C3789F315D24}"/>
              </a:ext>
            </a:extLst>
          </p:cNvPr>
          <p:cNvPicPr>
            <a:picLocks noChangeAspect="1"/>
          </p:cNvPicPr>
          <p:nvPr/>
        </p:nvPicPr>
        <p:blipFill>
          <a:blip r:embed="rId5"/>
          <a:stretch>
            <a:fillRect/>
          </a:stretch>
        </p:blipFill>
        <p:spPr>
          <a:xfrm>
            <a:off x="171370" y="1693997"/>
            <a:ext cx="11849259" cy="2211421"/>
          </a:xfrm>
          <a:prstGeom prst="rect">
            <a:avLst/>
          </a:prstGeom>
        </p:spPr>
      </p:pic>
      <p:sp>
        <p:nvSpPr>
          <p:cNvPr id="5" name="テキスト ボックス 4">
            <a:extLst>
              <a:ext uri="{FF2B5EF4-FFF2-40B4-BE49-F238E27FC236}">
                <a16:creationId xmlns:a16="http://schemas.microsoft.com/office/drawing/2014/main" id="{212BD358-E3A1-989D-B981-E0581C575082}"/>
              </a:ext>
            </a:extLst>
          </p:cNvPr>
          <p:cNvSpPr txBox="1"/>
          <p:nvPr/>
        </p:nvSpPr>
        <p:spPr>
          <a:xfrm>
            <a:off x="171370" y="1399660"/>
            <a:ext cx="4051139" cy="369332"/>
          </a:xfrm>
          <a:prstGeom prst="rect">
            <a:avLst/>
          </a:prstGeom>
          <a:noFill/>
        </p:spPr>
        <p:txBody>
          <a:bodyPr wrap="square" rtlCol="0">
            <a:spAutoFit/>
          </a:bodyPr>
          <a:lstStyle/>
          <a:p>
            <a:r>
              <a:rPr kumimoji="1" lang="ja-JP" altLang="en-US" b="1"/>
              <a:t>既存のシミュレーション手法</a:t>
            </a:r>
          </a:p>
        </p:txBody>
      </p:sp>
      <p:sp>
        <p:nvSpPr>
          <p:cNvPr id="9" name="テキスト ボックス 8">
            <a:extLst>
              <a:ext uri="{FF2B5EF4-FFF2-40B4-BE49-F238E27FC236}">
                <a16:creationId xmlns:a16="http://schemas.microsoft.com/office/drawing/2014/main" id="{91D6917A-7AD6-C7BF-504F-29E764E55528}"/>
              </a:ext>
            </a:extLst>
          </p:cNvPr>
          <p:cNvSpPr txBox="1"/>
          <p:nvPr/>
        </p:nvSpPr>
        <p:spPr>
          <a:xfrm>
            <a:off x="171370" y="4119498"/>
            <a:ext cx="4051139" cy="369332"/>
          </a:xfrm>
          <a:prstGeom prst="rect">
            <a:avLst/>
          </a:prstGeom>
          <a:noFill/>
        </p:spPr>
        <p:txBody>
          <a:bodyPr wrap="square" rtlCol="0">
            <a:spAutoFit/>
          </a:bodyPr>
          <a:lstStyle/>
          <a:p>
            <a:r>
              <a:rPr kumimoji="1" lang="ja-JP" altLang="en-US" b="1"/>
              <a:t>提案するシミュレーション手法</a:t>
            </a:r>
          </a:p>
        </p:txBody>
      </p:sp>
      <p:sp>
        <p:nvSpPr>
          <p:cNvPr id="10" name="正方形/長方形 9">
            <a:extLst>
              <a:ext uri="{FF2B5EF4-FFF2-40B4-BE49-F238E27FC236}">
                <a16:creationId xmlns:a16="http://schemas.microsoft.com/office/drawing/2014/main" id="{5914A285-B21F-2659-F5AD-4ECE330F1296}"/>
              </a:ext>
            </a:extLst>
          </p:cNvPr>
          <p:cNvSpPr/>
          <p:nvPr/>
        </p:nvSpPr>
        <p:spPr>
          <a:xfrm>
            <a:off x="1886673" y="1690688"/>
            <a:ext cx="1238492" cy="212895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D73AA14-1A65-AEA2-D957-D7586A20F09A}"/>
              </a:ext>
            </a:extLst>
          </p:cNvPr>
          <p:cNvSpPr/>
          <p:nvPr/>
        </p:nvSpPr>
        <p:spPr>
          <a:xfrm>
            <a:off x="1737359" y="4497671"/>
            <a:ext cx="1333501" cy="215720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1899AE52-567A-784A-A47A-23ADACB81F3B}"/>
              </a:ext>
            </a:extLst>
          </p:cNvPr>
          <p:cNvSpPr/>
          <p:nvPr/>
        </p:nvSpPr>
        <p:spPr>
          <a:xfrm>
            <a:off x="7969682" y="4497671"/>
            <a:ext cx="1060018" cy="215720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93214009-FCFA-8B9E-E010-71A4E471DFA3}"/>
              </a:ext>
            </a:extLst>
          </p:cNvPr>
          <p:cNvSpPr/>
          <p:nvPr/>
        </p:nvSpPr>
        <p:spPr>
          <a:xfrm>
            <a:off x="9150619" y="4495878"/>
            <a:ext cx="709661" cy="215720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59597383-E449-5AF4-A2D6-21CA83FCD28C}"/>
              </a:ext>
            </a:extLst>
          </p:cNvPr>
          <p:cNvSpPr/>
          <p:nvPr/>
        </p:nvSpPr>
        <p:spPr>
          <a:xfrm>
            <a:off x="7859210" y="1690688"/>
            <a:ext cx="636608" cy="212895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4A836A72-23DF-7095-DB53-8E5A6435F6C9}"/>
              </a:ext>
            </a:extLst>
          </p:cNvPr>
          <p:cNvSpPr/>
          <p:nvPr/>
        </p:nvSpPr>
        <p:spPr>
          <a:xfrm>
            <a:off x="8692587" y="1690688"/>
            <a:ext cx="432123" cy="2128958"/>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8AAD739-56CC-6DB0-8D1D-79AC6E7F50F6}"/>
              </a:ext>
            </a:extLst>
          </p:cNvPr>
          <p:cNvSpPr/>
          <p:nvPr/>
        </p:nvSpPr>
        <p:spPr>
          <a:xfrm>
            <a:off x="1771977" y="4735376"/>
            <a:ext cx="121181" cy="16534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6C82EE91-5D97-492C-CC29-2B41059F45A8}"/>
              </a:ext>
            </a:extLst>
          </p:cNvPr>
          <p:cNvSpPr/>
          <p:nvPr/>
        </p:nvSpPr>
        <p:spPr>
          <a:xfrm>
            <a:off x="1941396" y="5239382"/>
            <a:ext cx="121181" cy="11494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E39FCFD5-63CD-1A43-D178-AA50BE6B7C70}"/>
              </a:ext>
            </a:extLst>
          </p:cNvPr>
          <p:cNvSpPr/>
          <p:nvPr/>
        </p:nvSpPr>
        <p:spPr>
          <a:xfrm>
            <a:off x="2111132" y="5733418"/>
            <a:ext cx="121181" cy="6553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C65B108A-5432-B233-BFFC-AE909F90688E}"/>
              </a:ext>
            </a:extLst>
          </p:cNvPr>
          <p:cNvSpPr/>
          <p:nvPr/>
        </p:nvSpPr>
        <p:spPr>
          <a:xfrm>
            <a:off x="8006027" y="5246782"/>
            <a:ext cx="131691" cy="114203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C696712-FFB9-0E6A-0AF7-A4C4E0584DE3}"/>
              </a:ext>
            </a:extLst>
          </p:cNvPr>
          <p:cNvSpPr/>
          <p:nvPr/>
        </p:nvSpPr>
        <p:spPr>
          <a:xfrm>
            <a:off x="8349418" y="5246782"/>
            <a:ext cx="131691" cy="114203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F7F95F7E-56DD-23D6-8977-83C22DBC8C9F}"/>
              </a:ext>
            </a:extLst>
          </p:cNvPr>
          <p:cNvSpPr/>
          <p:nvPr/>
        </p:nvSpPr>
        <p:spPr>
          <a:xfrm>
            <a:off x="8513904" y="5733418"/>
            <a:ext cx="131691" cy="6553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8AA6A65C-AE91-E5A3-9031-611D8FD67B65}"/>
              </a:ext>
            </a:extLst>
          </p:cNvPr>
          <p:cNvSpPr/>
          <p:nvPr/>
        </p:nvSpPr>
        <p:spPr>
          <a:xfrm>
            <a:off x="8850928" y="5733418"/>
            <a:ext cx="131691" cy="6553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552F5DB8-DC21-CA92-BD27-62CCF0224DB4}"/>
              </a:ext>
            </a:extLst>
          </p:cNvPr>
          <p:cNvSpPr/>
          <p:nvPr/>
        </p:nvSpPr>
        <p:spPr>
          <a:xfrm>
            <a:off x="9356819" y="5246782"/>
            <a:ext cx="131691" cy="114203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2F419717-81A0-4A33-8EE8-BB347EDF318F}"/>
              </a:ext>
            </a:extLst>
          </p:cNvPr>
          <p:cNvSpPr/>
          <p:nvPr/>
        </p:nvSpPr>
        <p:spPr>
          <a:xfrm>
            <a:off x="9525219" y="5733418"/>
            <a:ext cx="131691" cy="6553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11148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472502-2C7C-2F6A-7750-FAF31049A45C}"/>
              </a:ext>
            </a:extLst>
          </p:cNvPr>
          <p:cNvSpPr>
            <a:spLocks noGrp="1"/>
          </p:cNvSpPr>
          <p:nvPr>
            <p:ph type="title"/>
          </p:nvPr>
        </p:nvSpPr>
        <p:spPr/>
        <p:txBody>
          <a:bodyPr/>
          <a:lstStyle/>
          <a:p>
            <a:r>
              <a:rPr kumimoji="1" lang="ja-JP" altLang="en-US"/>
              <a:t>まとめ</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303BCDB-3E4B-D278-622F-0F38415A3905}"/>
                  </a:ext>
                </a:extLst>
              </p:cNvPr>
              <p:cNvSpPr>
                <a:spLocks noGrp="1"/>
              </p:cNvSpPr>
              <p:nvPr>
                <p:ph idx="1"/>
              </p:nvPr>
            </p:nvSpPr>
            <p:spPr/>
            <p:txBody>
              <a:bodyPr>
                <a:normAutofit lnSpcReduction="10000"/>
              </a:bodyPr>
              <a:lstStyle/>
              <a:p>
                <a:r>
                  <a:rPr lang="ja-JP" altLang="en-US"/>
                  <a:t>量子ゲートの</a:t>
                </a:r>
                <a:r>
                  <a:rPr lang="en-US" altLang="ja-JP" dirty="0">
                    <a:solidFill>
                      <a:srgbClr val="FF0000"/>
                    </a:solidFill>
                  </a:rPr>
                  <a:t>QMDD</a:t>
                </a:r>
                <a:r>
                  <a:rPr lang="ja-JP" altLang="en-US">
                    <a:solidFill>
                      <a:srgbClr val="FF0000"/>
                    </a:solidFill>
                  </a:rPr>
                  <a:t>の形状</a:t>
                </a:r>
                <a:r>
                  <a:rPr lang="ja-JP" altLang="en-US"/>
                  <a:t>に注目したシミュレーション手法</a:t>
                </a:r>
                <a:br>
                  <a:rPr lang="en-US" altLang="ja-JP" dirty="0"/>
                </a:br>
                <a:r>
                  <a:rPr lang="ja-JP" altLang="en-US"/>
                  <a:t>の提案</a:t>
                </a:r>
                <a:endParaRPr lang="en-US" altLang="ja-JP" dirty="0"/>
              </a:p>
              <a:p>
                <a:pPr lvl="1"/>
                <a:r>
                  <a:rPr lang="ja-JP" altLang="en-US"/>
                  <a:t>単一量子ゲート</a:t>
                </a:r>
                <a:r>
                  <a:rPr lang="en-US" altLang="ja-JP" dirty="0"/>
                  <a:t>… </a:t>
                </a:r>
                <a14:m>
                  <m:oMath xmlns:m="http://schemas.openxmlformats.org/officeDocument/2006/math">
                    <m:r>
                      <a:rPr lang="en-US" altLang="ja-JP" b="0" i="1" smtClean="0">
                        <a:latin typeface="Cambria Math" panose="02040503050406030204" pitchFamily="18" charset="0"/>
                      </a:rPr>
                      <m:t>0</m:t>
                    </m:r>
                  </m:oMath>
                </a14:m>
                <a:r>
                  <a:rPr lang="ja-JP" altLang="en-US" dirty="0"/>
                  <a:t>の要素</a:t>
                </a:r>
                <a:r>
                  <a:rPr lang="ja-JP" altLang="en-US"/>
                  <a:t>の有無</a:t>
                </a:r>
                <a:endParaRPr lang="en-US" altLang="ja-JP" dirty="0"/>
              </a:p>
              <a:p>
                <a:pPr lvl="1"/>
                <a:r>
                  <a:rPr lang="ja-JP" altLang="en-US"/>
                  <a:t>多量子ゲート</a:t>
                </a:r>
                <a:r>
                  <a:rPr lang="en-US" altLang="ja-JP" dirty="0"/>
                  <a:t>… </a:t>
                </a:r>
                <a:r>
                  <a:rPr lang="ja-JP" altLang="en-US"/>
                  <a:t>零行列の有無</a:t>
                </a:r>
                <a:endParaRPr lang="en-US" altLang="ja-JP" dirty="0"/>
              </a:p>
              <a:p>
                <a:endParaRPr lang="en-US" altLang="ja-JP" dirty="0"/>
              </a:p>
              <a:p>
                <a:r>
                  <a:rPr lang="ja-JP" altLang="en-US"/>
                  <a:t>ゲートの連結に起因する演算時の再帰数の指数的増大を抑制</a:t>
                </a:r>
                <a:endParaRPr lang="en-US" altLang="ja-JP" dirty="0"/>
              </a:p>
              <a:p>
                <a:endParaRPr lang="en-US" altLang="ja-JP" dirty="0"/>
              </a:p>
              <a:p>
                <a:pPr marL="0" indent="0">
                  <a:buNone/>
                </a:pPr>
                <a:r>
                  <a:rPr lang="ja-JP" altLang="en-US" b="1"/>
                  <a:t>今後の課題</a:t>
                </a:r>
                <a:endParaRPr lang="en-US" altLang="ja-JP" b="1" dirty="0"/>
              </a:p>
              <a:p>
                <a:r>
                  <a:rPr lang="en-US" altLang="ja-JP" dirty="0"/>
                  <a:t>QMDD</a:t>
                </a:r>
                <a:r>
                  <a:rPr lang="ja-JP" altLang="en-US"/>
                  <a:t>の変数順序を入れ替えてデッドスペースの削減</a:t>
                </a:r>
                <a:endParaRPr lang="en-US" altLang="ja-JP" dirty="0"/>
              </a:p>
              <a:p>
                <a:r>
                  <a:rPr lang="ja-JP" altLang="en-US"/>
                  <a:t>制御ビットとターゲットビットの順序関係を考慮した最適化</a:t>
                </a:r>
                <a:endParaRPr lang="en-US" altLang="ja-JP" dirty="0"/>
              </a:p>
            </p:txBody>
          </p:sp>
        </mc:Choice>
        <mc:Fallback xmlns="">
          <p:sp>
            <p:nvSpPr>
              <p:cNvPr id="3" name="コンテンツ プレースホルダー 2">
                <a:extLst>
                  <a:ext uri="{FF2B5EF4-FFF2-40B4-BE49-F238E27FC236}">
                    <a16:creationId xmlns:a16="http://schemas.microsoft.com/office/drawing/2014/main" id="{5303BCDB-3E4B-D278-622F-0F38415A3905}"/>
                  </a:ext>
                </a:extLst>
              </p:cNvPr>
              <p:cNvSpPr>
                <a:spLocks noGrp="1" noRot="1" noChangeAspect="1" noMove="1" noResize="1" noEditPoints="1" noAdjustHandles="1" noChangeArrowheads="1" noChangeShapeType="1" noTextEdit="1"/>
              </p:cNvSpPr>
              <p:nvPr>
                <p:ph idx="1"/>
              </p:nvPr>
            </p:nvSpPr>
            <p:spPr>
              <a:blipFill>
                <a:blip r:embed="rId3"/>
                <a:stretch>
                  <a:fillRect l="-1206" t="-3198" b="-2907"/>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658688B0-0BD7-6CB8-B29B-642461808D2D}"/>
              </a:ext>
            </a:extLst>
          </p:cNvPr>
          <p:cNvSpPr>
            <a:spLocks noGrp="1"/>
          </p:cNvSpPr>
          <p:nvPr>
            <p:ph type="sldNum" sz="quarter" idx="12"/>
          </p:nvPr>
        </p:nvSpPr>
        <p:spPr/>
        <p:txBody>
          <a:bodyPr/>
          <a:lstStyle/>
          <a:p>
            <a:fld id="{A05843C0-813E-B949-A4C0-2511A34E55B1}" type="slidenum">
              <a:rPr kumimoji="1" lang="ja-JP" altLang="en-US" smtClean="0"/>
              <a:t>11</a:t>
            </a:fld>
            <a:endParaRPr kumimoji="1" lang="ja-JP" altLang="en-US"/>
          </a:p>
        </p:txBody>
      </p:sp>
    </p:spTree>
    <p:extLst>
      <p:ext uri="{BB962C8B-B14F-4D97-AF65-F5344CB8AC3E}">
        <p14:creationId xmlns:p14="http://schemas.microsoft.com/office/powerpoint/2010/main" val="2544676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5CF78F-B759-94DB-B0AF-04F2065182AC}"/>
              </a:ext>
            </a:extLst>
          </p:cNvPr>
          <p:cNvSpPr>
            <a:spLocks noGrp="1"/>
          </p:cNvSpPr>
          <p:nvPr>
            <p:ph type="title"/>
          </p:nvPr>
        </p:nvSpPr>
        <p:spPr>
          <a:xfrm>
            <a:off x="838200" y="2766218"/>
            <a:ext cx="10515600" cy="1325563"/>
          </a:xfrm>
        </p:spPr>
        <p:txBody>
          <a:bodyPr/>
          <a:lstStyle/>
          <a:p>
            <a:r>
              <a:rPr kumimoji="1" lang="ja-JP" altLang="en-US"/>
              <a:t>付録</a:t>
            </a:r>
          </a:p>
        </p:txBody>
      </p:sp>
      <p:sp>
        <p:nvSpPr>
          <p:cNvPr id="3" name="スライド番号プレースホルダー 2">
            <a:extLst>
              <a:ext uri="{FF2B5EF4-FFF2-40B4-BE49-F238E27FC236}">
                <a16:creationId xmlns:a16="http://schemas.microsoft.com/office/drawing/2014/main" id="{0C814F23-2BFD-0CC7-9A42-B4A93A28AF8E}"/>
              </a:ext>
            </a:extLst>
          </p:cNvPr>
          <p:cNvSpPr>
            <a:spLocks noGrp="1"/>
          </p:cNvSpPr>
          <p:nvPr>
            <p:ph type="sldNum" sz="quarter" idx="12"/>
          </p:nvPr>
        </p:nvSpPr>
        <p:spPr/>
        <p:txBody>
          <a:bodyPr/>
          <a:lstStyle/>
          <a:p>
            <a:fld id="{EA2F3317-65BA-D746-98B8-3038158C8C28}" type="slidenum">
              <a:rPr kumimoji="1" lang="ja-JP" altLang="en-US" smtClean="0"/>
              <a:t>12</a:t>
            </a:fld>
            <a:endParaRPr kumimoji="1" lang="ja-JP" altLang="en-US"/>
          </a:p>
        </p:txBody>
      </p:sp>
    </p:spTree>
    <p:extLst>
      <p:ext uri="{BB962C8B-B14F-4D97-AF65-F5344CB8AC3E}">
        <p14:creationId xmlns:p14="http://schemas.microsoft.com/office/powerpoint/2010/main" val="1546064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E64201CF-365E-1834-E818-6658C175CD40}"/>
                  </a:ext>
                </a:extLst>
              </p:cNvPr>
              <p:cNvSpPr>
                <a:spLocks noGrp="1"/>
              </p:cNvSpPr>
              <p:nvPr>
                <p:ph idx="1"/>
              </p:nvPr>
            </p:nvSpPr>
            <p:spPr>
              <a:xfrm>
                <a:off x="838200" y="738130"/>
                <a:ext cx="6906658" cy="5438833"/>
              </a:xfrm>
            </p:spPr>
            <p:txBody>
              <a:bodyPr>
                <a:normAutofit fontScale="85000" lnSpcReduction="10000"/>
              </a:bodyPr>
              <a:lstStyle/>
              <a:p>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oMath>
                </a14:m>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 </m:t>
                    </m:r>
                    <m:r>
                      <a:rPr lang="en-US" altLang="ja-JP" i="1">
                        <a:latin typeface="Cambria Math" panose="02040503050406030204" pitchFamily="18" charset="0"/>
                      </a:rPr>
                      <m:t>…</m:t>
                    </m:r>
                    <m:r>
                      <a:rPr lang="en-US" altLang="ja-JP" i="1">
                        <a:latin typeface="Cambria Math" panose="02040503050406030204" pitchFamily="18" charset="0"/>
                      </a:rPr>
                      <m:t>①</m:t>
                    </m:r>
                  </m:oMath>
                </a14:m>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oMath>
                </a14:m>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r>
                      <a:rPr lang="en-US" altLang="ja-JP" i="1" smtClean="0">
                        <a:latin typeface="Cambria Math" panose="02040503050406030204" pitchFamily="18" charset="0"/>
                      </a:rPr>
                      <m:t>②</m:t>
                    </m:r>
                  </m:oMath>
                </a14:m>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oMath>
                </a14:m>
                <a:endParaRPr kumimoji="1" lang="en-US" altLang="ja-JP" b="0" dirty="0"/>
              </a:p>
              <a:p>
                <a:pPr lvl="5"/>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𝐽</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𝐾</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e>
                    </m:d>
                    <m:r>
                      <a:rPr lang="en-US" altLang="ja-JP" i="1">
                        <a:latin typeface="Cambria Math" panose="02040503050406030204" pitchFamily="18" charset="0"/>
                      </a:rPr>
                      <m:t>…</m:t>
                    </m:r>
                    <m:r>
                      <a:rPr lang="en-US" altLang="ja-JP" i="1" smtClean="0">
                        <a:latin typeface="Cambria Math" panose="02040503050406030204" pitchFamily="18" charset="0"/>
                      </a:rPr>
                      <m:t>③</m:t>
                    </m:r>
                  </m:oMath>
                </a14:m>
                <a:endParaRPr kumimoji="1" lang="en-US" altLang="ja-JP" b="0" dirty="0"/>
              </a:p>
              <a:p>
                <a:pPr lvl="6"/>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𝐽</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oMath>
                </a14:m>
                <a:endParaRPr kumimoji="1" lang="en-US" altLang="ja-JP" b="0" dirty="0"/>
              </a:p>
              <a:p>
                <a:pPr lvl="6"/>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𝐾</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oMath>
                </a14:m>
                <a:endParaRPr kumimoji="1" lang="en-US" altLang="ja-JP" b="0" dirty="0"/>
              </a:p>
              <a:p>
                <a:pPr lvl="5"/>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𝐿</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𝑀</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e>
                    </m:d>
                  </m:oMath>
                </a14:m>
                <a:endParaRPr kumimoji="1" lang="en-US" altLang="ja-JP" b="0" dirty="0"/>
              </a:p>
              <a:p>
                <a:pPr lvl="6"/>
                <a:r>
                  <a:rPr kumimoji="1" lang="ja-JP" altLang="en-US" b="0"/>
                  <a:t>省略</a:t>
                </a:r>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e>
                    </m:d>
                  </m:oMath>
                </a14:m>
                <a:endParaRPr kumimoji="1" lang="en-US" altLang="ja-JP" b="0" dirty="0"/>
              </a:p>
              <a:p>
                <a:pPr lvl="5"/>
                <a:r>
                  <a:rPr kumimoji="1" lang="ja-JP" altLang="en-US" b="0"/>
                  <a:t>省略</a:t>
                </a:r>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𝐼</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oMath>
                </a14:m>
                <a:endParaRPr kumimoji="1" lang="en-US" altLang="ja-JP" b="0" dirty="0"/>
              </a:p>
              <a:p>
                <a:pPr lvl="4"/>
                <a:r>
                  <a:rPr kumimoji="1" lang="ja-JP" altLang="en-US" b="0"/>
                  <a:t>省略</a:t>
                </a:r>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lang="en-US" altLang="ja-JP" dirty="0"/>
              </a:p>
              <a:p>
                <a:pPr lvl="3"/>
                <a:r>
                  <a:rPr kumimoji="1" lang="ja-JP" altLang="en-US" b="0"/>
                  <a:t>省略</a:t>
                </a:r>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𝐸</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kumimoji="1" lang="en-US" altLang="ja-JP" b="0" dirty="0"/>
              </a:p>
              <a:p>
                <a:pPr lvl="2"/>
                <a:r>
                  <a:rPr lang="ja-JP" altLang="en-US"/>
                  <a:t>省略</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E64201CF-365E-1834-E818-6658C175CD40}"/>
                  </a:ext>
                </a:extLst>
              </p:cNvPr>
              <p:cNvSpPr>
                <a:spLocks noGrp="1" noRot="1" noChangeAspect="1" noMove="1" noResize="1" noEditPoints="1" noAdjustHandles="1" noChangeArrowheads="1" noChangeShapeType="1" noTextEdit="1"/>
              </p:cNvSpPr>
              <p:nvPr>
                <p:ph idx="1"/>
              </p:nvPr>
            </p:nvSpPr>
            <p:spPr>
              <a:xfrm>
                <a:off x="838200" y="738130"/>
                <a:ext cx="6906658" cy="5438833"/>
              </a:xfrm>
              <a:blipFill>
                <a:blip r:embed="rId2"/>
                <a:stretch>
                  <a:fillRect l="-1287" t="-1632"/>
                </a:stretch>
              </a:blipFill>
            </p:spPr>
            <p:txBody>
              <a:bodyPr/>
              <a:lstStyle/>
              <a:p>
                <a:r>
                  <a:rPr lang="ja-JP" altLang="en-US">
                    <a:noFill/>
                  </a:rPr>
                  <a:t> </a:t>
                </a:r>
              </a:p>
            </p:txBody>
          </p:sp>
        </mc:Fallback>
      </mc:AlternateContent>
      <p:pic>
        <p:nvPicPr>
          <p:cNvPr id="24" name="図 2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44BDAA90-E278-9DA9-9E21-670575F8EF71}"/>
              </a:ext>
            </a:extLst>
          </p:cNvPr>
          <p:cNvPicPr>
            <a:picLocks noChangeAspect="1"/>
          </p:cNvPicPr>
          <p:nvPr/>
        </p:nvPicPr>
        <p:blipFill>
          <a:blip r:embed="rId3"/>
          <a:stretch>
            <a:fillRect/>
          </a:stretch>
        </p:blipFill>
        <p:spPr>
          <a:xfrm>
            <a:off x="10409662" y="28546"/>
            <a:ext cx="1670538" cy="6858000"/>
          </a:xfrm>
          <a:prstGeom prst="rect">
            <a:avLst/>
          </a:prstGeom>
        </p:spPr>
      </p:pic>
      <p:pic>
        <p:nvPicPr>
          <p:cNvPr id="4" name="図 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C7B5CB17-8B13-BBCA-0EB7-FB2CBBF5AD20}"/>
              </a:ext>
            </a:extLst>
          </p:cNvPr>
          <p:cNvPicPr>
            <a:picLocks noChangeAspect="1"/>
          </p:cNvPicPr>
          <p:nvPr/>
        </p:nvPicPr>
        <p:blipFill>
          <a:blip r:embed="rId4"/>
          <a:stretch>
            <a:fillRect/>
          </a:stretch>
        </p:blipFill>
        <p:spPr>
          <a:xfrm>
            <a:off x="7866566" y="28546"/>
            <a:ext cx="1745116" cy="6858000"/>
          </a:xfrm>
          <a:prstGeom prst="rect">
            <a:avLst/>
          </a:prstGeom>
        </p:spPr>
      </p:pic>
      <p:sp>
        <p:nvSpPr>
          <p:cNvPr id="5" name="加算記号 4">
            <a:extLst>
              <a:ext uri="{FF2B5EF4-FFF2-40B4-BE49-F238E27FC236}">
                <a16:creationId xmlns:a16="http://schemas.microsoft.com/office/drawing/2014/main" id="{CA564DDD-3CA6-3EE0-4044-246254720671}"/>
              </a:ext>
            </a:extLst>
          </p:cNvPr>
          <p:cNvSpPr/>
          <p:nvPr/>
        </p:nvSpPr>
        <p:spPr>
          <a:xfrm rot="2696788">
            <a:off x="9561046" y="3007918"/>
            <a:ext cx="899255" cy="899255"/>
          </a:xfrm>
          <a:prstGeom prst="mathPlus">
            <a:avLst/>
          </a:prstGeom>
          <a:solidFill>
            <a:schemeClr val="bg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ダイアグラム, 概略図&#10;&#10;自動的に生成された説明">
            <a:extLst>
              <a:ext uri="{FF2B5EF4-FFF2-40B4-BE49-F238E27FC236}">
                <a16:creationId xmlns:a16="http://schemas.microsoft.com/office/drawing/2014/main" id="{11A63E44-6868-1A01-590B-6DB40AECCCDF}"/>
              </a:ext>
            </a:extLst>
          </p:cNvPr>
          <p:cNvPicPr>
            <a:picLocks noChangeAspect="1"/>
          </p:cNvPicPr>
          <p:nvPr/>
        </p:nvPicPr>
        <p:blipFill>
          <a:blip r:embed="rId5"/>
          <a:stretch>
            <a:fillRect/>
          </a:stretch>
        </p:blipFill>
        <p:spPr>
          <a:xfrm>
            <a:off x="111800" y="2307814"/>
            <a:ext cx="1838119" cy="1785601"/>
          </a:xfrm>
          <a:prstGeom prst="rect">
            <a:avLst/>
          </a:prstGeom>
        </p:spPr>
      </p:pic>
      <p:sp>
        <p:nvSpPr>
          <p:cNvPr id="2" name="スライド番号プレースホルダー 1">
            <a:extLst>
              <a:ext uri="{FF2B5EF4-FFF2-40B4-BE49-F238E27FC236}">
                <a16:creationId xmlns:a16="http://schemas.microsoft.com/office/drawing/2014/main" id="{44FA14CB-AEAB-33DC-231D-6CC8C0A9BE18}"/>
              </a:ext>
            </a:extLst>
          </p:cNvPr>
          <p:cNvSpPr>
            <a:spLocks noGrp="1"/>
          </p:cNvSpPr>
          <p:nvPr>
            <p:ph type="sldNum" sz="quarter" idx="12"/>
          </p:nvPr>
        </p:nvSpPr>
        <p:spPr/>
        <p:txBody>
          <a:bodyPr/>
          <a:lstStyle/>
          <a:p>
            <a:fld id="{B7DD3F26-AD0F-FC47-9ED8-571159D68F9B}" type="slidenum">
              <a:rPr kumimoji="1" lang="ja-JP" altLang="en-US" smtClean="0"/>
              <a:t>13</a:t>
            </a:fld>
            <a:endParaRPr kumimoji="1" lang="ja-JP" altLang="en-US"/>
          </a:p>
        </p:txBody>
      </p:sp>
    </p:spTree>
    <p:extLst>
      <p:ext uri="{BB962C8B-B14F-4D97-AF65-F5344CB8AC3E}">
        <p14:creationId xmlns:p14="http://schemas.microsoft.com/office/powerpoint/2010/main" val="4212181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7BA12-EBE0-43A7-D8F5-9A95F96616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BD787FD-6D2F-F8FC-054D-5C9175EA7535}"/>
                  </a:ext>
                </a:extLst>
              </p:cNvPr>
              <p:cNvSpPr>
                <a:spLocks noGrp="1"/>
              </p:cNvSpPr>
              <p:nvPr>
                <p:ph idx="1"/>
              </p:nvPr>
            </p:nvSpPr>
            <p:spPr>
              <a:xfrm>
                <a:off x="838200" y="738130"/>
                <a:ext cx="6906658" cy="5438833"/>
              </a:xfrm>
            </p:spPr>
            <p:txBody>
              <a:bodyPr>
                <a:normAutofit fontScale="85000" lnSpcReduction="10000"/>
              </a:bodyPr>
              <a:lstStyle/>
              <a:p>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oMath>
                </a14:m>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 </m:t>
                    </m:r>
                    <m:r>
                      <a:rPr lang="en-US" altLang="ja-JP" i="1">
                        <a:latin typeface="Cambria Math" panose="02040503050406030204" pitchFamily="18" charset="0"/>
                      </a:rPr>
                      <m:t>…</m:t>
                    </m:r>
                    <m:r>
                      <a:rPr lang="en-US" altLang="ja-JP" i="1">
                        <a:latin typeface="Cambria Math" panose="02040503050406030204" pitchFamily="18" charset="0"/>
                      </a:rPr>
                      <m:t>①</m:t>
                    </m:r>
                  </m:oMath>
                </a14:m>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oMath>
                </a14:m>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r>
                      <a:rPr lang="en-US" altLang="ja-JP" i="1" smtClean="0">
                        <a:latin typeface="Cambria Math" panose="02040503050406030204" pitchFamily="18" charset="0"/>
                      </a:rPr>
                      <m:t>②</m:t>
                    </m:r>
                  </m:oMath>
                </a14:m>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oMath>
                </a14:m>
                <a:endParaRPr kumimoji="1" lang="en-US" altLang="ja-JP" b="0" dirty="0"/>
              </a:p>
              <a:p>
                <a:pPr lvl="5"/>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𝐽</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𝐾</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e>
                    </m:d>
                    <m:r>
                      <a:rPr lang="en-US" altLang="ja-JP" i="1">
                        <a:latin typeface="Cambria Math" panose="02040503050406030204" pitchFamily="18" charset="0"/>
                      </a:rPr>
                      <m:t>…</m:t>
                    </m:r>
                    <m:r>
                      <a:rPr lang="en-US" altLang="ja-JP" i="1" smtClean="0">
                        <a:latin typeface="Cambria Math" panose="02040503050406030204" pitchFamily="18" charset="0"/>
                      </a:rPr>
                      <m:t>③</m:t>
                    </m:r>
                  </m:oMath>
                </a14:m>
                <a:endParaRPr kumimoji="1" lang="en-US" altLang="ja-JP" b="0" dirty="0"/>
              </a:p>
              <a:p>
                <a:pPr lvl="6"/>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𝐽</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oMath>
                </a14:m>
                <a:endParaRPr kumimoji="1" lang="en-US" altLang="ja-JP" b="0" dirty="0"/>
              </a:p>
              <a:p>
                <a:pPr lvl="6"/>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𝐾</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oMath>
                </a14:m>
                <a:endParaRPr kumimoji="1" lang="en-US" altLang="ja-JP" b="0" dirty="0"/>
              </a:p>
              <a:p>
                <a:pPr lvl="5"/>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𝐿</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𝑀</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e>
                    </m:d>
                  </m:oMath>
                </a14:m>
                <a:endParaRPr kumimoji="1" lang="en-US" altLang="ja-JP" b="0" dirty="0"/>
              </a:p>
              <a:p>
                <a:pPr lvl="6"/>
                <a:r>
                  <a:rPr kumimoji="1" lang="ja-JP" altLang="en-US" b="0"/>
                  <a:t>省略</a:t>
                </a:r>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e>
                    </m:d>
                  </m:oMath>
                </a14:m>
                <a:endParaRPr kumimoji="1" lang="en-US" altLang="ja-JP" b="0" dirty="0"/>
              </a:p>
              <a:p>
                <a:pPr lvl="5"/>
                <a:r>
                  <a:rPr kumimoji="1" lang="ja-JP" altLang="en-US" b="0"/>
                  <a:t>省略</a:t>
                </a:r>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𝐼</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oMath>
                </a14:m>
                <a:endParaRPr kumimoji="1" lang="en-US" altLang="ja-JP" b="0" dirty="0"/>
              </a:p>
              <a:p>
                <a:pPr lvl="4"/>
                <a:r>
                  <a:rPr kumimoji="1" lang="ja-JP" altLang="en-US" b="0"/>
                  <a:t>省略</a:t>
                </a:r>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lang="en-US" altLang="ja-JP" dirty="0"/>
              </a:p>
              <a:p>
                <a:pPr lvl="3"/>
                <a:r>
                  <a:rPr kumimoji="1" lang="ja-JP" altLang="en-US" b="0"/>
                  <a:t>省略</a:t>
                </a:r>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𝐸</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kumimoji="1" lang="en-US" altLang="ja-JP" b="0" dirty="0"/>
              </a:p>
              <a:p>
                <a:pPr lvl="2"/>
                <a:r>
                  <a:rPr lang="ja-JP" altLang="en-US"/>
                  <a:t>省略</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2BD787FD-6D2F-F8FC-054D-5C9175EA7535}"/>
                  </a:ext>
                </a:extLst>
              </p:cNvPr>
              <p:cNvSpPr>
                <a:spLocks noGrp="1" noRot="1" noChangeAspect="1" noMove="1" noResize="1" noEditPoints="1" noAdjustHandles="1" noChangeArrowheads="1" noChangeShapeType="1" noTextEdit="1"/>
              </p:cNvSpPr>
              <p:nvPr>
                <p:ph idx="1"/>
              </p:nvPr>
            </p:nvSpPr>
            <p:spPr>
              <a:xfrm>
                <a:off x="838200" y="738130"/>
                <a:ext cx="6906658" cy="5438833"/>
              </a:xfrm>
              <a:blipFill>
                <a:blip r:embed="rId3"/>
                <a:stretch>
                  <a:fillRect l="-1287" t="-1632"/>
                </a:stretch>
              </a:blipFill>
            </p:spPr>
            <p:txBody>
              <a:bodyPr/>
              <a:lstStyle/>
              <a:p>
                <a:r>
                  <a:rPr lang="ja-JP" altLang="en-US">
                    <a:noFill/>
                  </a:rPr>
                  <a:t> </a:t>
                </a:r>
              </a:p>
            </p:txBody>
          </p:sp>
        </mc:Fallback>
      </mc:AlternateContent>
      <p:pic>
        <p:nvPicPr>
          <p:cNvPr id="24" name="図 2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F3C8A6EC-9614-1664-8E90-2A6DB97079B1}"/>
              </a:ext>
            </a:extLst>
          </p:cNvPr>
          <p:cNvPicPr>
            <a:picLocks noChangeAspect="1"/>
          </p:cNvPicPr>
          <p:nvPr/>
        </p:nvPicPr>
        <p:blipFill>
          <a:blip r:embed="rId4"/>
          <a:stretch>
            <a:fillRect/>
          </a:stretch>
        </p:blipFill>
        <p:spPr>
          <a:xfrm>
            <a:off x="10409662" y="28546"/>
            <a:ext cx="1670538" cy="6858000"/>
          </a:xfrm>
          <a:prstGeom prst="rect">
            <a:avLst/>
          </a:prstGeom>
        </p:spPr>
      </p:pic>
      <p:pic>
        <p:nvPicPr>
          <p:cNvPr id="4" name="図 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3CDD75FB-C6F2-0836-1EBC-18B66CC98A7D}"/>
              </a:ext>
            </a:extLst>
          </p:cNvPr>
          <p:cNvPicPr>
            <a:picLocks noChangeAspect="1"/>
          </p:cNvPicPr>
          <p:nvPr/>
        </p:nvPicPr>
        <p:blipFill>
          <a:blip r:embed="rId5"/>
          <a:stretch>
            <a:fillRect/>
          </a:stretch>
        </p:blipFill>
        <p:spPr>
          <a:xfrm>
            <a:off x="7866566" y="28546"/>
            <a:ext cx="1745116" cy="6858000"/>
          </a:xfrm>
          <a:prstGeom prst="rect">
            <a:avLst/>
          </a:prstGeom>
        </p:spPr>
      </p:pic>
      <p:sp>
        <p:nvSpPr>
          <p:cNvPr id="5" name="加算記号 4">
            <a:extLst>
              <a:ext uri="{FF2B5EF4-FFF2-40B4-BE49-F238E27FC236}">
                <a16:creationId xmlns:a16="http://schemas.microsoft.com/office/drawing/2014/main" id="{BBDF5E60-3277-0A97-F087-87D6E987CC47}"/>
              </a:ext>
            </a:extLst>
          </p:cNvPr>
          <p:cNvSpPr/>
          <p:nvPr/>
        </p:nvSpPr>
        <p:spPr>
          <a:xfrm rot="2696788">
            <a:off x="9561046" y="3007918"/>
            <a:ext cx="899255" cy="899255"/>
          </a:xfrm>
          <a:prstGeom prst="mathPlus">
            <a:avLst/>
          </a:prstGeom>
          <a:solidFill>
            <a:schemeClr val="bg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CBAF04D-7217-41B8-3DE4-11351BA47A6B}"/>
                  </a:ext>
                </a:extLst>
              </p:cNvPr>
              <p:cNvSpPr txBox="1"/>
              <p:nvPr/>
            </p:nvSpPr>
            <p:spPr>
              <a:xfrm>
                <a:off x="4756102" y="2856249"/>
                <a:ext cx="3009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0</m:t>
                      </m:r>
                    </m:oMath>
                  </m:oMathPara>
                </a14:m>
                <a:endParaRPr kumimoji="1" lang="ja-JP" altLang="en-US">
                  <a:solidFill>
                    <a:srgbClr val="FF0000"/>
                  </a:solidFill>
                </a:endParaRPr>
              </a:p>
            </p:txBody>
          </p:sp>
        </mc:Choice>
        <mc:Fallback xmlns="">
          <p:sp>
            <p:nvSpPr>
              <p:cNvPr id="8" name="テキスト ボックス 7">
                <a:extLst>
                  <a:ext uri="{FF2B5EF4-FFF2-40B4-BE49-F238E27FC236}">
                    <a16:creationId xmlns:a16="http://schemas.microsoft.com/office/drawing/2014/main" id="{3CBAF04D-7217-41B8-3DE4-11351BA47A6B}"/>
                  </a:ext>
                </a:extLst>
              </p:cNvPr>
              <p:cNvSpPr txBox="1">
                <a:spLocks noRot="1" noChangeAspect="1" noMove="1" noResize="1" noEditPoints="1" noAdjustHandles="1" noChangeArrowheads="1" noChangeShapeType="1" noTextEdit="1"/>
              </p:cNvSpPr>
              <p:nvPr/>
            </p:nvSpPr>
            <p:spPr>
              <a:xfrm>
                <a:off x="4756102" y="2856249"/>
                <a:ext cx="300942"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1F6ADA41-0C9F-EB89-60BC-340CA66ED267}"/>
                  </a:ext>
                </a:extLst>
              </p:cNvPr>
              <p:cNvSpPr txBox="1"/>
              <p:nvPr/>
            </p:nvSpPr>
            <p:spPr>
              <a:xfrm>
                <a:off x="4742061" y="2571920"/>
                <a:ext cx="3009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0</m:t>
                      </m:r>
                    </m:oMath>
                  </m:oMathPara>
                </a14:m>
                <a:endParaRPr kumimoji="1" lang="ja-JP" altLang="en-US">
                  <a:solidFill>
                    <a:srgbClr val="FF0000"/>
                  </a:solidFill>
                </a:endParaRPr>
              </a:p>
            </p:txBody>
          </p:sp>
        </mc:Choice>
        <mc:Fallback xmlns="">
          <p:sp>
            <p:nvSpPr>
              <p:cNvPr id="11" name="テキスト ボックス 10">
                <a:extLst>
                  <a:ext uri="{FF2B5EF4-FFF2-40B4-BE49-F238E27FC236}">
                    <a16:creationId xmlns:a16="http://schemas.microsoft.com/office/drawing/2014/main" id="{1F6ADA41-0C9F-EB89-60BC-340CA66ED267}"/>
                  </a:ext>
                </a:extLst>
              </p:cNvPr>
              <p:cNvSpPr txBox="1">
                <a:spLocks noRot="1" noChangeAspect="1" noMove="1" noResize="1" noEditPoints="1" noAdjustHandles="1" noChangeArrowheads="1" noChangeShapeType="1" noTextEdit="1"/>
              </p:cNvSpPr>
              <p:nvPr/>
            </p:nvSpPr>
            <p:spPr>
              <a:xfrm>
                <a:off x="4742061" y="2571920"/>
                <a:ext cx="300942" cy="3693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947C15F6-DD85-F110-6B0B-0D852C4B95CE}"/>
                  </a:ext>
                </a:extLst>
              </p:cNvPr>
              <p:cNvSpPr txBox="1"/>
              <p:nvPr/>
            </p:nvSpPr>
            <p:spPr>
              <a:xfrm>
                <a:off x="6155140" y="2264846"/>
                <a:ext cx="7779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2" name="テキスト ボックス 11">
                <a:extLst>
                  <a:ext uri="{FF2B5EF4-FFF2-40B4-BE49-F238E27FC236}">
                    <a16:creationId xmlns:a16="http://schemas.microsoft.com/office/drawing/2014/main" id="{947C15F6-DD85-F110-6B0B-0D852C4B95CE}"/>
                  </a:ext>
                </a:extLst>
              </p:cNvPr>
              <p:cNvSpPr txBox="1">
                <a:spLocks noRot="1" noChangeAspect="1" noMove="1" noResize="1" noEditPoints="1" noAdjustHandles="1" noChangeArrowheads="1" noChangeShapeType="1" noTextEdit="1"/>
              </p:cNvSpPr>
              <p:nvPr/>
            </p:nvSpPr>
            <p:spPr>
              <a:xfrm>
                <a:off x="6155140" y="2264846"/>
                <a:ext cx="777921" cy="369332"/>
              </a:xfrm>
              <a:prstGeom prst="rect">
                <a:avLst/>
              </a:prstGeom>
              <a:blipFill>
                <a:blip r:embed="rId8"/>
                <a:stretch>
                  <a:fillRect r="-32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15E9097E-9D88-7CDA-7CCD-4C8FE97596D1}"/>
                  </a:ext>
                </a:extLst>
              </p:cNvPr>
              <p:cNvSpPr txBox="1"/>
              <p:nvPr/>
            </p:nvSpPr>
            <p:spPr>
              <a:xfrm>
                <a:off x="5904001" y="3113152"/>
                <a:ext cx="7779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3" name="テキスト ボックス 12">
                <a:extLst>
                  <a:ext uri="{FF2B5EF4-FFF2-40B4-BE49-F238E27FC236}">
                    <a16:creationId xmlns:a16="http://schemas.microsoft.com/office/drawing/2014/main" id="{15E9097E-9D88-7CDA-7CCD-4C8FE97596D1}"/>
                  </a:ext>
                </a:extLst>
              </p:cNvPr>
              <p:cNvSpPr txBox="1">
                <a:spLocks noRot="1" noChangeAspect="1" noMove="1" noResize="1" noEditPoints="1" noAdjustHandles="1" noChangeArrowheads="1" noChangeShapeType="1" noTextEdit="1"/>
              </p:cNvSpPr>
              <p:nvPr/>
            </p:nvSpPr>
            <p:spPr>
              <a:xfrm>
                <a:off x="5904001" y="3113152"/>
                <a:ext cx="777921" cy="369332"/>
              </a:xfrm>
              <a:prstGeom prst="rect">
                <a:avLst/>
              </a:prstGeom>
              <a:blipFill>
                <a:blip r:embed="rId9"/>
                <a:stretch>
                  <a:fillRect r="-161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2E00EBD-DDB1-78F0-04E4-0E0E8010A22B}"/>
                  </a:ext>
                </a:extLst>
              </p:cNvPr>
              <p:cNvSpPr txBox="1"/>
              <p:nvPr/>
            </p:nvSpPr>
            <p:spPr>
              <a:xfrm>
                <a:off x="3836725" y="1994580"/>
                <a:ext cx="1505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4" name="テキスト ボックス 13">
                <a:extLst>
                  <a:ext uri="{FF2B5EF4-FFF2-40B4-BE49-F238E27FC236}">
                    <a16:creationId xmlns:a16="http://schemas.microsoft.com/office/drawing/2014/main" id="{E2E00EBD-DDB1-78F0-04E4-0E0E8010A22B}"/>
                  </a:ext>
                </a:extLst>
              </p:cNvPr>
              <p:cNvSpPr txBox="1">
                <a:spLocks noRot="1" noChangeAspect="1" noMove="1" noResize="1" noEditPoints="1" noAdjustHandles="1" noChangeArrowheads="1" noChangeShapeType="1" noTextEdit="1"/>
              </p:cNvSpPr>
              <p:nvPr/>
            </p:nvSpPr>
            <p:spPr>
              <a:xfrm>
                <a:off x="3836725" y="1994580"/>
                <a:ext cx="1505041" cy="369332"/>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B95D78C4-EB26-E4D0-5831-F036D8A6DE16}"/>
                  </a:ext>
                </a:extLst>
              </p:cNvPr>
              <p:cNvSpPr txBox="1"/>
              <p:nvPr/>
            </p:nvSpPr>
            <p:spPr>
              <a:xfrm>
                <a:off x="3778668" y="3632420"/>
                <a:ext cx="1505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5" name="テキスト ボックス 14">
                <a:extLst>
                  <a:ext uri="{FF2B5EF4-FFF2-40B4-BE49-F238E27FC236}">
                    <a16:creationId xmlns:a16="http://schemas.microsoft.com/office/drawing/2014/main" id="{B95D78C4-EB26-E4D0-5831-F036D8A6DE16}"/>
                  </a:ext>
                </a:extLst>
              </p:cNvPr>
              <p:cNvSpPr txBox="1">
                <a:spLocks noRot="1" noChangeAspect="1" noMove="1" noResize="1" noEditPoints="1" noAdjustHandles="1" noChangeArrowheads="1" noChangeShapeType="1" noTextEdit="1"/>
              </p:cNvSpPr>
              <p:nvPr/>
            </p:nvSpPr>
            <p:spPr>
              <a:xfrm>
                <a:off x="3778668" y="3632420"/>
                <a:ext cx="1505041" cy="369332"/>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BA808F5A-2353-9323-9212-CFF888A1DBAA}"/>
                  </a:ext>
                </a:extLst>
              </p:cNvPr>
              <p:cNvSpPr txBox="1"/>
              <p:nvPr/>
            </p:nvSpPr>
            <p:spPr>
              <a:xfrm>
                <a:off x="5223659" y="1713394"/>
                <a:ext cx="16265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:10,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:6</m:t>
                      </m:r>
                    </m:oMath>
                  </m:oMathPara>
                </a14:m>
                <a:endParaRPr kumimoji="1" lang="ja-JP" altLang="en-US">
                  <a:solidFill>
                    <a:srgbClr val="FF0000"/>
                  </a:solidFill>
                </a:endParaRPr>
              </a:p>
            </p:txBody>
          </p:sp>
        </mc:Choice>
        <mc:Fallback xmlns="">
          <p:sp>
            <p:nvSpPr>
              <p:cNvPr id="16" name="テキスト ボックス 15">
                <a:extLst>
                  <a:ext uri="{FF2B5EF4-FFF2-40B4-BE49-F238E27FC236}">
                    <a16:creationId xmlns:a16="http://schemas.microsoft.com/office/drawing/2014/main" id="{BA808F5A-2353-9323-9212-CFF888A1DBAA}"/>
                  </a:ext>
                </a:extLst>
              </p:cNvPr>
              <p:cNvSpPr txBox="1">
                <a:spLocks noRot="1" noChangeAspect="1" noMove="1" noResize="1" noEditPoints="1" noAdjustHandles="1" noChangeArrowheads="1" noChangeShapeType="1" noTextEdit="1"/>
              </p:cNvSpPr>
              <p:nvPr/>
            </p:nvSpPr>
            <p:spPr>
              <a:xfrm>
                <a:off x="5223659" y="1713394"/>
                <a:ext cx="1626577" cy="369332"/>
              </a:xfrm>
              <a:prstGeom prst="rect">
                <a:avLst/>
              </a:prstGeom>
              <a:blipFill>
                <a:blip r:embed="rId1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8AD433F2-5506-07F6-5DBD-2ACFB18D080C}"/>
                  </a:ext>
                </a:extLst>
              </p:cNvPr>
              <p:cNvSpPr txBox="1"/>
              <p:nvPr/>
            </p:nvSpPr>
            <p:spPr>
              <a:xfrm>
                <a:off x="4831177" y="4160894"/>
                <a:ext cx="16265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:10,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:6</m:t>
                      </m:r>
                    </m:oMath>
                  </m:oMathPara>
                </a14:m>
                <a:endParaRPr kumimoji="1" lang="ja-JP" altLang="en-US">
                  <a:solidFill>
                    <a:srgbClr val="FF0000"/>
                  </a:solidFill>
                </a:endParaRPr>
              </a:p>
            </p:txBody>
          </p:sp>
        </mc:Choice>
        <mc:Fallback xmlns="">
          <p:sp>
            <p:nvSpPr>
              <p:cNvPr id="17" name="テキスト ボックス 16">
                <a:extLst>
                  <a:ext uri="{FF2B5EF4-FFF2-40B4-BE49-F238E27FC236}">
                    <a16:creationId xmlns:a16="http://schemas.microsoft.com/office/drawing/2014/main" id="{8AD433F2-5506-07F6-5DBD-2ACFB18D080C}"/>
                  </a:ext>
                </a:extLst>
              </p:cNvPr>
              <p:cNvSpPr txBox="1">
                <a:spLocks noRot="1" noChangeAspect="1" noMove="1" noResize="1" noEditPoints="1" noAdjustHandles="1" noChangeArrowheads="1" noChangeShapeType="1" noTextEdit="1"/>
              </p:cNvSpPr>
              <p:nvPr/>
            </p:nvSpPr>
            <p:spPr>
              <a:xfrm>
                <a:off x="4831177" y="4160894"/>
                <a:ext cx="1626577" cy="369332"/>
              </a:xfrm>
              <a:prstGeom prst="rect">
                <a:avLst/>
              </a:prstGeom>
              <a:blipFill>
                <a:blip r:embed="rId13"/>
                <a:stretch>
                  <a:fillRect r="-7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1E92D54E-3802-60EC-F801-47521DEE76B6}"/>
                  </a:ext>
                </a:extLst>
              </p:cNvPr>
              <p:cNvSpPr txBox="1"/>
              <p:nvPr/>
            </p:nvSpPr>
            <p:spPr>
              <a:xfrm>
                <a:off x="2987867" y="143886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:14</m:t>
                      </m:r>
                    </m:oMath>
                  </m:oMathPara>
                </a14:m>
                <a:endParaRPr kumimoji="1" lang="ja-JP" altLang="en-US">
                  <a:solidFill>
                    <a:srgbClr val="FF0000"/>
                  </a:solidFill>
                </a:endParaRPr>
              </a:p>
            </p:txBody>
          </p:sp>
        </mc:Choice>
        <mc:Fallback xmlns="">
          <p:sp>
            <p:nvSpPr>
              <p:cNvPr id="18" name="テキスト ボックス 17">
                <a:extLst>
                  <a:ext uri="{FF2B5EF4-FFF2-40B4-BE49-F238E27FC236}">
                    <a16:creationId xmlns:a16="http://schemas.microsoft.com/office/drawing/2014/main" id="{1E92D54E-3802-60EC-F801-47521DEE76B6}"/>
                  </a:ext>
                </a:extLst>
              </p:cNvPr>
              <p:cNvSpPr txBox="1">
                <a:spLocks noRot="1" noChangeAspect="1" noMove="1" noResize="1" noEditPoints="1" noAdjustHandles="1" noChangeArrowheads="1" noChangeShapeType="1" noTextEdit="1"/>
              </p:cNvSpPr>
              <p:nvPr/>
            </p:nvSpPr>
            <p:spPr>
              <a:xfrm>
                <a:off x="2987867" y="1438865"/>
                <a:ext cx="1768235" cy="369332"/>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A61F7892-A1C3-BF1F-83B3-958B36527921}"/>
                  </a:ext>
                </a:extLst>
              </p:cNvPr>
              <p:cNvSpPr txBox="1"/>
              <p:nvPr/>
            </p:nvSpPr>
            <p:spPr>
              <a:xfrm>
                <a:off x="2987867" y="4680472"/>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:14</m:t>
                      </m:r>
                    </m:oMath>
                  </m:oMathPara>
                </a14:m>
                <a:endParaRPr kumimoji="1" lang="ja-JP" altLang="en-US">
                  <a:solidFill>
                    <a:srgbClr val="FF0000"/>
                  </a:solidFill>
                </a:endParaRPr>
              </a:p>
            </p:txBody>
          </p:sp>
        </mc:Choice>
        <mc:Fallback xmlns="">
          <p:sp>
            <p:nvSpPr>
              <p:cNvPr id="19" name="テキスト ボックス 18">
                <a:extLst>
                  <a:ext uri="{FF2B5EF4-FFF2-40B4-BE49-F238E27FC236}">
                    <a16:creationId xmlns:a16="http://schemas.microsoft.com/office/drawing/2014/main" id="{A61F7892-A1C3-BF1F-83B3-958B36527921}"/>
                  </a:ext>
                </a:extLst>
              </p:cNvPr>
              <p:cNvSpPr txBox="1">
                <a:spLocks noRot="1" noChangeAspect="1" noMove="1" noResize="1" noEditPoints="1" noAdjustHandles="1" noChangeArrowheads="1" noChangeShapeType="1" noTextEdit="1"/>
              </p:cNvSpPr>
              <p:nvPr/>
            </p:nvSpPr>
            <p:spPr>
              <a:xfrm>
                <a:off x="2987867" y="4680472"/>
                <a:ext cx="1768235" cy="369332"/>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3F69553E-397C-1B9C-84AF-A5FF5F10A60C}"/>
                  </a:ext>
                </a:extLst>
              </p:cNvPr>
              <p:cNvSpPr txBox="1"/>
              <p:nvPr/>
            </p:nvSpPr>
            <p:spPr>
              <a:xfrm>
                <a:off x="5283709" y="1076594"/>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:42,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:34</m:t>
                      </m:r>
                    </m:oMath>
                  </m:oMathPara>
                </a14:m>
                <a:endParaRPr kumimoji="1" lang="ja-JP" altLang="en-US">
                  <a:solidFill>
                    <a:srgbClr val="FF0000"/>
                  </a:solidFill>
                </a:endParaRPr>
              </a:p>
            </p:txBody>
          </p:sp>
        </mc:Choice>
        <mc:Fallback xmlns="">
          <p:sp>
            <p:nvSpPr>
              <p:cNvPr id="20" name="テキスト ボックス 19">
                <a:extLst>
                  <a:ext uri="{FF2B5EF4-FFF2-40B4-BE49-F238E27FC236}">
                    <a16:creationId xmlns:a16="http://schemas.microsoft.com/office/drawing/2014/main" id="{3F69553E-397C-1B9C-84AF-A5FF5F10A60C}"/>
                  </a:ext>
                </a:extLst>
              </p:cNvPr>
              <p:cNvSpPr txBox="1">
                <a:spLocks noRot="1" noChangeAspect="1" noMove="1" noResize="1" noEditPoints="1" noAdjustHandles="1" noChangeArrowheads="1" noChangeShapeType="1" noTextEdit="1"/>
              </p:cNvSpPr>
              <p:nvPr/>
            </p:nvSpPr>
            <p:spPr>
              <a:xfrm>
                <a:off x="5283709" y="1076594"/>
                <a:ext cx="1768235" cy="369332"/>
              </a:xfrm>
              <a:prstGeom prst="rect">
                <a:avLst/>
              </a:prstGeom>
              <a:blipFill>
                <a:blip r:embed="rId1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66B32E74-14A6-5EE6-ABB6-4DDBF9939650}"/>
                  </a:ext>
                </a:extLst>
              </p:cNvPr>
              <p:cNvSpPr txBox="1"/>
              <p:nvPr/>
            </p:nvSpPr>
            <p:spPr>
              <a:xfrm>
                <a:off x="4705170" y="5263870"/>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:42,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:34</m:t>
                      </m:r>
                    </m:oMath>
                  </m:oMathPara>
                </a14:m>
                <a:endParaRPr kumimoji="1" lang="ja-JP" altLang="en-US">
                  <a:solidFill>
                    <a:srgbClr val="FF0000"/>
                  </a:solidFill>
                </a:endParaRPr>
              </a:p>
            </p:txBody>
          </p:sp>
        </mc:Choice>
        <mc:Fallback xmlns="">
          <p:sp>
            <p:nvSpPr>
              <p:cNvPr id="21" name="テキスト ボックス 20">
                <a:extLst>
                  <a:ext uri="{FF2B5EF4-FFF2-40B4-BE49-F238E27FC236}">
                    <a16:creationId xmlns:a16="http://schemas.microsoft.com/office/drawing/2014/main" id="{66B32E74-14A6-5EE6-ABB6-4DDBF9939650}"/>
                  </a:ext>
                </a:extLst>
              </p:cNvPr>
              <p:cNvSpPr txBox="1">
                <a:spLocks noRot="1" noChangeAspect="1" noMove="1" noResize="1" noEditPoints="1" noAdjustHandles="1" noChangeArrowheads="1" noChangeShapeType="1" noTextEdit="1"/>
              </p:cNvSpPr>
              <p:nvPr/>
            </p:nvSpPr>
            <p:spPr>
              <a:xfrm>
                <a:off x="4705170" y="5263870"/>
                <a:ext cx="1768235" cy="369332"/>
              </a:xfrm>
              <a:prstGeom prst="rect">
                <a:avLst/>
              </a:prstGeom>
              <a:blipFill>
                <a:blip r:embed="rId1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0DE14C2F-FB31-BA34-42EA-4112EB4F16D3}"/>
                  </a:ext>
                </a:extLst>
              </p:cNvPr>
              <p:cNvSpPr txBox="1"/>
              <p:nvPr/>
            </p:nvSpPr>
            <p:spPr>
              <a:xfrm>
                <a:off x="2523294" y="76014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solidFill>
                            <a:srgbClr val="FF0000"/>
                          </a:solidFill>
                          <a:latin typeface="Cambria Math" panose="02040503050406030204" pitchFamily="18" charset="0"/>
                        </a:rPr>
                        <m:t>𝒎𝒖𝒍</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𝟖𝟒</m:t>
                      </m:r>
                      <m:r>
                        <a:rPr kumimoji="1" lang="en-US" altLang="ja-JP" b="1" i="1" smtClean="0">
                          <a:solidFill>
                            <a:srgbClr val="FF0000"/>
                          </a:solidFill>
                          <a:latin typeface="Cambria Math" panose="02040503050406030204" pitchFamily="18" charset="0"/>
                        </a:rPr>
                        <m:t>, </m:t>
                      </m:r>
                      <m:r>
                        <a:rPr kumimoji="1" lang="en-US" altLang="ja-JP" b="1" i="1" smtClean="0">
                          <a:solidFill>
                            <a:srgbClr val="FF0000"/>
                          </a:solidFill>
                          <a:latin typeface="Cambria Math" panose="02040503050406030204" pitchFamily="18" charset="0"/>
                        </a:rPr>
                        <m:t>𝒂𝒅𝒅</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𝟕𝟎</m:t>
                      </m:r>
                    </m:oMath>
                  </m:oMathPara>
                </a14:m>
                <a:endParaRPr kumimoji="1" lang="ja-JP" altLang="en-US" b="1">
                  <a:solidFill>
                    <a:srgbClr val="FF0000"/>
                  </a:solidFill>
                </a:endParaRPr>
              </a:p>
            </p:txBody>
          </p:sp>
        </mc:Choice>
        <mc:Fallback xmlns="">
          <p:sp>
            <p:nvSpPr>
              <p:cNvPr id="22" name="テキスト ボックス 21">
                <a:extLst>
                  <a:ext uri="{FF2B5EF4-FFF2-40B4-BE49-F238E27FC236}">
                    <a16:creationId xmlns:a16="http://schemas.microsoft.com/office/drawing/2014/main" id="{0DE14C2F-FB31-BA34-42EA-4112EB4F16D3}"/>
                  </a:ext>
                </a:extLst>
              </p:cNvPr>
              <p:cNvSpPr txBox="1">
                <a:spLocks noRot="1" noChangeAspect="1" noMove="1" noResize="1" noEditPoints="1" noAdjustHandles="1" noChangeArrowheads="1" noChangeShapeType="1" noTextEdit="1"/>
              </p:cNvSpPr>
              <p:nvPr/>
            </p:nvSpPr>
            <p:spPr>
              <a:xfrm>
                <a:off x="2523294" y="760145"/>
                <a:ext cx="1768235" cy="369332"/>
              </a:xfrm>
              <a:prstGeom prst="rect">
                <a:avLst/>
              </a:prstGeom>
              <a:blipFill>
                <a:blip r:embed="rId17"/>
                <a:stretch>
                  <a:fillRect r="-6429"/>
                </a:stretch>
              </a:blipFill>
            </p:spPr>
            <p:txBody>
              <a:bodyPr/>
              <a:lstStyle/>
              <a:p>
                <a:r>
                  <a:rPr lang="ja-JP" altLang="en-US">
                    <a:noFill/>
                  </a:rPr>
                  <a:t> </a:t>
                </a:r>
              </a:p>
            </p:txBody>
          </p:sp>
        </mc:Fallback>
      </mc:AlternateContent>
      <p:pic>
        <p:nvPicPr>
          <p:cNvPr id="6" name="図 5" descr="ダイアグラム, 概略図&#10;&#10;自動的に生成された説明">
            <a:extLst>
              <a:ext uri="{FF2B5EF4-FFF2-40B4-BE49-F238E27FC236}">
                <a16:creationId xmlns:a16="http://schemas.microsoft.com/office/drawing/2014/main" id="{6DA81D59-1460-838E-0667-7F0BA53173EF}"/>
              </a:ext>
            </a:extLst>
          </p:cNvPr>
          <p:cNvPicPr>
            <a:picLocks noChangeAspect="1"/>
          </p:cNvPicPr>
          <p:nvPr/>
        </p:nvPicPr>
        <p:blipFill>
          <a:blip r:embed="rId18"/>
          <a:stretch>
            <a:fillRect/>
          </a:stretch>
        </p:blipFill>
        <p:spPr>
          <a:xfrm>
            <a:off x="111800" y="2307814"/>
            <a:ext cx="1838119" cy="1785601"/>
          </a:xfrm>
          <a:prstGeom prst="rect">
            <a:avLst/>
          </a:prstGeom>
        </p:spPr>
      </p:pic>
      <p:sp>
        <p:nvSpPr>
          <p:cNvPr id="2" name="テキスト ボックス 1">
            <a:extLst>
              <a:ext uri="{FF2B5EF4-FFF2-40B4-BE49-F238E27FC236}">
                <a16:creationId xmlns:a16="http://schemas.microsoft.com/office/drawing/2014/main" id="{1BA86FD3-B8A5-A40C-12C4-67DDFA7E9413}"/>
              </a:ext>
            </a:extLst>
          </p:cNvPr>
          <p:cNvSpPr txBox="1"/>
          <p:nvPr/>
        </p:nvSpPr>
        <p:spPr>
          <a:xfrm>
            <a:off x="282089" y="281794"/>
            <a:ext cx="3262432" cy="338554"/>
          </a:xfrm>
          <a:prstGeom prst="rect">
            <a:avLst/>
          </a:prstGeom>
          <a:noFill/>
        </p:spPr>
        <p:txBody>
          <a:bodyPr wrap="none" rtlCol="0">
            <a:spAutoFit/>
          </a:bodyPr>
          <a:lstStyle/>
          <a:p>
            <a:r>
              <a:rPr lang="en-US" altLang="ja-JP" sz="1600" dirty="0"/>
              <a:t>※</a:t>
            </a:r>
            <a:r>
              <a:rPr kumimoji="1" lang="ja-JP" altLang="en-US" sz="1600"/>
              <a:t>キャッシュによるカットを無視</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92B9087-64CF-8720-BBAD-AC02F0DA673A}"/>
                  </a:ext>
                </a:extLst>
              </p:cNvPr>
              <p:cNvSpPr txBox="1"/>
              <p:nvPr/>
            </p:nvSpPr>
            <p:spPr>
              <a:xfrm>
                <a:off x="942009" y="6137921"/>
                <a:ext cx="1827295" cy="5628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𝒎𝒖𝒍</m:t>
                          </m:r>
                        </m:e>
                        <m:sub>
                          <m:r>
                            <a:rPr kumimoji="1" lang="en-US" altLang="ja-JP" b="1" i="1" smtClean="0">
                              <a:latin typeface="Cambria Math" panose="02040503050406030204" pitchFamily="18" charset="0"/>
                            </a:rPr>
                            <m:t>𝒏</m:t>
                          </m:r>
                        </m:sub>
                      </m:sSub>
                      <m:r>
                        <a:rPr kumimoji="1" lang="en-US" altLang="ja-JP" b="1" i="1" smtClean="0">
                          <a:latin typeface="Cambria Math" panose="02040503050406030204" pitchFamily="18" charset="0"/>
                        </a:rPr>
                        <m:t>=</m:t>
                      </m:r>
                      <m:f>
                        <m:fPr>
                          <m:ctrlPr>
                            <a:rPr kumimoji="1" lang="en-US" altLang="ja-JP" b="1" i="1" smtClean="0">
                              <a:latin typeface="Cambria Math" panose="02040503050406030204" pitchFamily="18" charset="0"/>
                            </a:rPr>
                          </m:ctrlPr>
                        </m:fPr>
                        <m:num>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𝟒</m:t>
                              </m:r>
                            </m:e>
                            <m:sup>
                              <m:r>
                                <a:rPr kumimoji="1" lang="en-US" altLang="ja-JP" b="1" i="1" smtClean="0">
                                  <a:latin typeface="Cambria Math" panose="02040503050406030204" pitchFamily="18" charset="0"/>
                                </a:rPr>
                                <m:t>𝒏</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𝟏</m:t>
                              </m:r>
                            </m:sup>
                          </m:sSup>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𝟒</m:t>
                          </m:r>
                        </m:num>
                        <m:den>
                          <m:r>
                            <a:rPr kumimoji="1" lang="en-US" altLang="ja-JP" b="1" i="1" smtClean="0">
                              <a:latin typeface="Cambria Math" panose="02040503050406030204" pitchFamily="18" charset="0"/>
                            </a:rPr>
                            <m:t>𝟑</m:t>
                          </m:r>
                        </m:den>
                      </m:f>
                    </m:oMath>
                  </m:oMathPara>
                </a14:m>
                <a:endParaRPr kumimoji="1" lang="ja-JP" altLang="en-US" b="1"/>
              </a:p>
            </p:txBody>
          </p:sp>
        </mc:Choice>
        <mc:Fallback xmlns="">
          <p:sp>
            <p:nvSpPr>
              <p:cNvPr id="7" name="テキスト ボックス 6">
                <a:extLst>
                  <a:ext uri="{FF2B5EF4-FFF2-40B4-BE49-F238E27FC236}">
                    <a16:creationId xmlns:a16="http://schemas.microsoft.com/office/drawing/2014/main" id="{892B9087-64CF-8720-BBAD-AC02F0DA673A}"/>
                  </a:ext>
                </a:extLst>
              </p:cNvPr>
              <p:cNvSpPr txBox="1">
                <a:spLocks noRot="1" noChangeAspect="1" noMove="1" noResize="1" noEditPoints="1" noAdjustHandles="1" noChangeArrowheads="1" noChangeShapeType="1" noTextEdit="1"/>
              </p:cNvSpPr>
              <p:nvPr/>
            </p:nvSpPr>
            <p:spPr>
              <a:xfrm>
                <a:off x="942009" y="6137921"/>
                <a:ext cx="1827295" cy="562846"/>
              </a:xfrm>
              <a:prstGeom prst="rect">
                <a:avLst/>
              </a:prstGeom>
              <a:blipFill>
                <a:blip r:embed="rId19"/>
                <a:stretch>
                  <a:fillRect l="-2778" r="-208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9AADC40-EEB7-72F4-1027-B1002A0AF170}"/>
                  </a:ext>
                </a:extLst>
              </p:cNvPr>
              <p:cNvSpPr txBox="1"/>
              <p:nvPr/>
            </p:nvSpPr>
            <p:spPr>
              <a:xfrm>
                <a:off x="3169109" y="6137921"/>
                <a:ext cx="2926891" cy="5628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𝒂𝒅𝒅</m:t>
                          </m:r>
                        </m:e>
                        <m:sub>
                          <m:r>
                            <a:rPr kumimoji="1" lang="en-US" altLang="ja-JP" b="1" i="1" smtClean="0">
                              <a:latin typeface="Cambria Math" panose="02040503050406030204" pitchFamily="18" charset="0"/>
                            </a:rPr>
                            <m:t>𝒏</m:t>
                          </m:r>
                        </m:sub>
                      </m:sSub>
                      <m:r>
                        <a:rPr kumimoji="1" lang="en-US" altLang="ja-JP" b="1" i="1" smtClean="0">
                          <a:latin typeface="Cambria Math" panose="02040503050406030204" pitchFamily="18" charset="0"/>
                        </a:rPr>
                        <m:t>=</m:t>
                      </m:r>
                      <m:f>
                        <m:fPr>
                          <m:ctrlPr>
                            <a:rPr kumimoji="1" lang="en-US" altLang="ja-JP" b="1" i="1" smtClean="0">
                              <a:latin typeface="Cambria Math" panose="02040503050406030204" pitchFamily="18" charset="0"/>
                            </a:rPr>
                          </m:ctrlPr>
                        </m:fPr>
                        <m:num>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𝟒</m:t>
                              </m:r>
                            </m:e>
                            <m:sup>
                              <m:r>
                                <a:rPr kumimoji="1" lang="en-US" altLang="ja-JP" b="1" i="1" smtClean="0">
                                  <a:latin typeface="Cambria Math" panose="02040503050406030204" pitchFamily="18" charset="0"/>
                                </a:rPr>
                                <m:t>𝒏</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𝟏</m:t>
                              </m:r>
                            </m:sup>
                          </m:sSup>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𝟑</m:t>
                          </m:r>
                          <m:r>
                            <a:rPr kumimoji="1" lang="en-US" altLang="ja-JP" b="1" i="1" smtClean="0">
                              <a:latin typeface="Cambria Math" panose="02040503050406030204" pitchFamily="18" charset="0"/>
                            </a:rPr>
                            <m:t>∗</m:t>
                          </m:r>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𝟐</m:t>
                              </m:r>
                            </m:e>
                            <m:sup>
                              <m:r>
                                <a:rPr kumimoji="1" lang="en-US" altLang="ja-JP" b="1" i="1" smtClean="0">
                                  <a:latin typeface="Cambria Math" panose="02040503050406030204" pitchFamily="18" charset="0"/>
                                </a:rPr>
                                <m:t>𝒏</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𝟏</m:t>
                              </m:r>
                            </m:sup>
                          </m:sSup>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𝟐</m:t>
                          </m:r>
                        </m:num>
                        <m:den>
                          <m:r>
                            <a:rPr kumimoji="1" lang="en-US" altLang="ja-JP" b="1" i="1" smtClean="0">
                              <a:latin typeface="Cambria Math" panose="02040503050406030204" pitchFamily="18" charset="0"/>
                            </a:rPr>
                            <m:t>𝟑</m:t>
                          </m:r>
                        </m:den>
                      </m:f>
                    </m:oMath>
                  </m:oMathPara>
                </a14:m>
                <a:endParaRPr kumimoji="1" lang="ja-JP" altLang="en-US" b="1"/>
              </a:p>
            </p:txBody>
          </p:sp>
        </mc:Choice>
        <mc:Fallback xmlns="">
          <p:sp>
            <p:nvSpPr>
              <p:cNvPr id="9" name="テキスト ボックス 8">
                <a:extLst>
                  <a:ext uri="{FF2B5EF4-FFF2-40B4-BE49-F238E27FC236}">
                    <a16:creationId xmlns:a16="http://schemas.microsoft.com/office/drawing/2014/main" id="{D9AADC40-EEB7-72F4-1027-B1002A0AF170}"/>
                  </a:ext>
                </a:extLst>
              </p:cNvPr>
              <p:cNvSpPr txBox="1">
                <a:spLocks noRot="1" noChangeAspect="1" noMove="1" noResize="1" noEditPoints="1" noAdjustHandles="1" noChangeArrowheads="1" noChangeShapeType="1" noTextEdit="1"/>
              </p:cNvSpPr>
              <p:nvPr/>
            </p:nvSpPr>
            <p:spPr>
              <a:xfrm>
                <a:off x="3169109" y="6137921"/>
                <a:ext cx="2926891" cy="562846"/>
              </a:xfrm>
              <a:prstGeom prst="rect">
                <a:avLst/>
              </a:prstGeom>
              <a:blipFill>
                <a:blip r:embed="rId20"/>
                <a:stretch>
                  <a:fillRect l="-1293" r="-862" b="-13333"/>
                </a:stretch>
              </a:blipFill>
            </p:spPr>
            <p:txBody>
              <a:bodyPr/>
              <a:lstStyle/>
              <a:p>
                <a:r>
                  <a:rPr lang="ja-JP" altLang="en-US">
                    <a:noFill/>
                  </a:rPr>
                  <a:t> </a:t>
                </a:r>
              </a:p>
            </p:txBody>
          </p:sp>
        </mc:Fallback>
      </mc:AlternateContent>
      <p:sp>
        <p:nvSpPr>
          <p:cNvPr id="10" name="正方形/長方形 9">
            <a:extLst>
              <a:ext uri="{FF2B5EF4-FFF2-40B4-BE49-F238E27FC236}">
                <a16:creationId xmlns:a16="http://schemas.microsoft.com/office/drawing/2014/main" id="{F2074045-A6E6-912D-B72B-783BD8043DF7}"/>
              </a:ext>
            </a:extLst>
          </p:cNvPr>
          <p:cNvSpPr/>
          <p:nvPr/>
        </p:nvSpPr>
        <p:spPr>
          <a:xfrm>
            <a:off x="593124" y="5917637"/>
            <a:ext cx="5880281" cy="9259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8B82F34-CE90-72CC-987C-2D310A34A2EB}"/>
              </a:ext>
            </a:extLst>
          </p:cNvPr>
          <p:cNvSpPr/>
          <p:nvPr/>
        </p:nvSpPr>
        <p:spPr>
          <a:xfrm>
            <a:off x="671446" y="5758249"/>
            <a:ext cx="1200722" cy="4187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rPr>
              <a:t>一般式</a:t>
            </a:r>
          </a:p>
        </p:txBody>
      </p:sp>
      <p:sp>
        <p:nvSpPr>
          <p:cNvPr id="25" name="スライド番号プレースホルダー 24">
            <a:extLst>
              <a:ext uri="{FF2B5EF4-FFF2-40B4-BE49-F238E27FC236}">
                <a16:creationId xmlns:a16="http://schemas.microsoft.com/office/drawing/2014/main" id="{EEC8201F-2016-32A3-A271-F2BDF8880D60}"/>
              </a:ext>
            </a:extLst>
          </p:cNvPr>
          <p:cNvSpPr>
            <a:spLocks noGrp="1"/>
          </p:cNvSpPr>
          <p:nvPr>
            <p:ph type="sldNum" sz="quarter" idx="12"/>
          </p:nvPr>
        </p:nvSpPr>
        <p:spPr/>
        <p:txBody>
          <a:bodyPr/>
          <a:lstStyle/>
          <a:p>
            <a:fld id="{B7DD3F26-AD0F-FC47-9ED8-571159D68F9B}" type="slidenum">
              <a:rPr kumimoji="1" lang="ja-JP" altLang="en-US" smtClean="0"/>
              <a:t>14</a:t>
            </a:fld>
            <a:endParaRPr kumimoji="1" lang="ja-JP" altLang="en-US"/>
          </a:p>
        </p:txBody>
      </p:sp>
    </p:spTree>
    <p:extLst>
      <p:ext uri="{BB962C8B-B14F-4D97-AF65-F5344CB8AC3E}">
        <p14:creationId xmlns:p14="http://schemas.microsoft.com/office/powerpoint/2010/main" val="3437408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E3F88-7BFF-2436-C976-6CB0F10835D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7AA658B-CD15-E05A-7986-E55F1C3708F9}"/>
                  </a:ext>
                </a:extLst>
              </p:cNvPr>
              <p:cNvSpPr>
                <a:spLocks noGrp="1"/>
              </p:cNvSpPr>
              <p:nvPr>
                <p:ph idx="1"/>
              </p:nvPr>
            </p:nvSpPr>
            <p:spPr>
              <a:xfrm>
                <a:off x="838200" y="738130"/>
                <a:ext cx="6906658" cy="5438833"/>
              </a:xfrm>
            </p:spPr>
            <p:txBody>
              <a:bodyPr>
                <a:normAutofit fontScale="85000" lnSpcReduction="10000"/>
              </a:bodyPr>
              <a:lstStyle/>
              <a:p>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oMath>
                </a14:m>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 </m:t>
                    </m:r>
                    <m:r>
                      <a:rPr lang="en-US" altLang="ja-JP" i="1">
                        <a:latin typeface="Cambria Math" panose="02040503050406030204" pitchFamily="18" charset="0"/>
                      </a:rPr>
                      <m:t>…</m:t>
                    </m:r>
                    <m:r>
                      <a:rPr lang="en-US" altLang="ja-JP" i="1">
                        <a:latin typeface="Cambria Math" panose="02040503050406030204" pitchFamily="18" charset="0"/>
                      </a:rPr>
                      <m:t>①</m:t>
                    </m:r>
                  </m:oMath>
                </a14:m>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oMath>
                </a14:m>
                <a:endParaRPr kumimoji="1" lang="en-US" altLang="ja-JP" b="0" dirty="0"/>
              </a:p>
              <a:p>
                <a:pPr lvl="3"/>
                <a14:m>
                  <m:oMath xmlns:m="http://schemas.openxmlformats.org/officeDocument/2006/math">
                    <m:r>
                      <a:rPr kumimoji="1" lang="en-US" altLang="ja-JP" b="0" i="1" strike="sngStrike" smtClean="0">
                        <a:latin typeface="Cambria Math" panose="02040503050406030204" pitchFamily="18" charset="0"/>
                      </a:rPr>
                      <m:t>𝑎𝑑𝑑</m:t>
                    </m:r>
                    <m:r>
                      <a:rPr kumimoji="1" lang="en-US" altLang="ja-JP" b="0" i="1" strike="sngStrike" smtClean="0">
                        <a:latin typeface="Cambria Math" panose="02040503050406030204" pitchFamily="18" charset="0"/>
                      </a:rPr>
                      <m:t>(</m:t>
                    </m:r>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𝐹</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𝑑</m:t>
                        </m:r>
                      </m:e>
                    </m:d>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𝑚𝑢𝑙</m:t>
                    </m:r>
                    <m:r>
                      <a:rPr kumimoji="1" lang="en-US" altLang="ja-JP" b="0" i="1" strike="sngStrike" smtClean="0">
                        <a:latin typeface="Cambria Math" panose="02040503050406030204" pitchFamily="18" charset="0"/>
                      </a:rPr>
                      <m:t>(</m:t>
                    </m:r>
                    <m:r>
                      <a:rPr kumimoji="1" lang="en-US" altLang="ja-JP" b="0" i="1" strike="sngStrike" smtClean="0">
                        <a:latin typeface="Cambria Math" panose="02040503050406030204" pitchFamily="18" charset="0"/>
                      </a:rPr>
                      <m:t>𝐺</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𝑒</m:t>
                    </m:r>
                    <m:r>
                      <a:rPr kumimoji="1" lang="en-US" altLang="ja-JP" b="0" i="1" strike="sngStrike" smtClean="0">
                        <a:latin typeface="Cambria Math" panose="02040503050406030204" pitchFamily="18" charset="0"/>
                      </a:rPr>
                      <m:t>))…</m:t>
                    </m:r>
                    <m:r>
                      <a:rPr lang="en-US" altLang="ja-JP" i="1" strike="sngStrike" smtClean="0">
                        <a:latin typeface="Cambria Math" panose="02040503050406030204" pitchFamily="18" charset="0"/>
                      </a:rPr>
                      <m:t>②</m:t>
                    </m:r>
                  </m:oMath>
                </a14:m>
                <a:endParaRPr kumimoji="1" lang="en-US" altLang="ja-JP" b="0" strike="sngStrike" dirty="0"/>
              </a:p>
              <a:p>
                <a:pPr lvl="4"/>
                <a14:m>
                  <m:oMath xmlns:m="http://schemas.openxmlformats.org/officeDocument/2006/math">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𝐹</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𝑑</m:t>
                        </m:r>
                      </m:e>
                    </m:d>
                  </m:oMath>
                </a14:m>
                <a:endParaRPr kumimoji="1" lang="en-US" altLang="ja-JP" b="0" strike="sngStrike" dirty="0"/>
              </a:p>
              <a:p>
                <a:pPr lvl="5"/>
                <a14:m>
                  <m:oMath xmlns:m="http://schemas.openxmlformats.org/officeDocument/2006/math">
                    <m:r>
                      <a:rPr kumimoji="1" lang="en-US" altLang="ja-JP" b="0" i="1" strike="sngStrike" smtClean="0">
                        <a:latin typeface="Cambria Math" panose="02040503050406030204" pitchFamily="18" charset="0"/>
                      </a:rPr>
                      <m:t>𝑎𝑑𝑑</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𝐽</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𝑓</m:t>
                            </m:r>
                          </m:e>
                        </m:d>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𝐾</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𝑔</m:t>
                            </m:r>
                          </m:e>
                        </m:d>
                      </m:e>
                    </m:d>
                    <m:r>
                      <a:rPr lang="en-US" altLang="ja-JP" i="1" strike="sngStrike">
                        <a:latin typeface="Cambria Math" panose="02040503050406030204" pitchFamily="18" charset="0"/>
                      </a:rPr>
                      <m:t>…</m:t>
                    </m:r>
                    <m:r>
                      <a:rPr lang="en-US" altLang="ja-JP" i="1" strike="sngStrike" smtClean="0">
                        <a:latin typeface="Cambria Math" panose="02040503050406030204" pitchFamily="18" charset="0"/>
                      </a:rPr>
                      <m:t>③</m:t>
                    </m:r>
                  </m:oMath>
                </a14:m>
                <a:endParaRPr kumimoji="1" lang="en-US" altLang="ja-JP" b="0" strike="sngStrike" dirty="0"/>
              </a:p>
              <a:p>
                <a:pPr lvl="6"/>
                <a14:m>
                  <m:oMath xmlns:m="http://schemas.openxmlformats.org/officeDocument/2006/math">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𝐽</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𝑓</m:t>
                        </m:r>
                      </m:e>
                    </m:d>
                  </m:oMath>
                </a14:m>
                <a:endParaRPr kumimoji="1" lang="en-US" altLang="ja-JP" b="0" strike="sngStrike" dirty="0"/>
              </a:p>
              <a:p>
                <a:pPr lvl="6"/>
                <a14:m>
                  <m:oMath xmlns:m="http://schemas.openxmlformats.org/officeDocument/2006/math">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𝐾</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𝑔</m:t>
                        </m:r>
                      </m:e>
                    </m:d>
                  </m:oMath>
                </a14:m>
                <a:endParaRPr kumimoji="1" lang="en-US" altLang="ja-JP" b="0" strike="sngStrike" dirty="0"/>
              </a:p>
              <a:p>
                <a:pPr lvl="5"/>
                <a14:m>
                  <m:oMath xmlns:m="http://schemas.openxmlformats.org/officeDocument/2006/math">
                    <m:r>
                      <a:rPr kumimoji="1" lang="en-US" altLang="ja-JP" b="0" i="1" strike="sngStrike" smtClean="0">
                        <a:latin typeface="Cambria Math" panose="02040503050406030204" pitchFamily="18" charset="0"/>
                      </a:rPr>
                      <m:t>𝑎𝑑𝑑</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𝐿</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𝑓</m:t>
                            </m:r>
                          </m:e>
                        </m:d>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𝑀</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𝑔</m:t>
                            </m:r>
                          </m:e>
                        </m:d>
                      </m:e>
                    </m:d>
                  </m:oMath>
                </a14:m>
                <a:endParaRPr kumimoji="1" lang="en-US" altLang="ja-JP" b="0" strike="sngStrike" dirty="0"/>
              </a:p>
              <a:p>
                <a:pPr lvl="6"/>
                <a:r>
                  <a:rPr kumimoji="1" lang="ja-JP" altLang="en-US" b="0" strike="sngStrike"/>
                  <a:t>省略</a:t>
                </a:r>
                <a:endParaRPr kumimoji="1" lang="en-US" altLang="ja-JP" b="0" strike="sngStrike" dirty="0"/>
              </a:p>
              <a:p>
                <a:pPr lvl="4"/>
                <a14:m>
                  <m:oMath xmlns:m="http://schemas.openxmlformats.org/officeDocument/2006/math">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𝐺</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𝑒</m:t>
                        </m:r>
                      </m:e>
                    </m:d>
                  </m:oMath>
                </a14:m>
                <a:endParaRPr kumimoji="1" lang="en-US" altLang="ja-JP" b="0" strike="sngStrike" dirty="0"/>
              </a:p>
              <a:p>
                <a:pPr lvl="5"/>
                <a:r>
                  <a:rPr kumimoji="1" lang="ja-JP" altLang="en-US" b="0" strike="sngStrike"/>
                  <a:t>省略</a:t>
                </a:r>
                <a:endParaRPr kumimoji="1" lang="en-US" altLang="ja-JP" b="0" strike="sngStrike" dirty="0"/>
              </a:p>
              <a:p>
                <a:pPr lvl="3"/>
                <a14:m>
                  <m:oMath xmlns:m="http://schemas.openxmlformats.org/officeDocument/2006/math">
                    <m:r>
                      <a:rPr kumimoji="1" lang="en-US" altLang="ja-JP" b="0" i="1" strike="sngStrike" smtClean="0">
                        <a:latin typeface="Cambria Math" panose="02040503050406030204" pitchFamily="18" charset="0"/>
                      </a:rPr>
                      <m:t>𝑎𝑑𝑑</m:t>
                    </m:r>
                    <m:r>
                      <a:rPr kumimoji="1" lang="en-US" altLang="ja-JP" b="0" i="1" strike="sngStrike" smtClean="0">
                        <a:latin typeface="Cambria Math" panose="02040503050406030204" pitchFamily="18" charset="0"/>
                      </a:rPr>
                      <m:t>(</m:t>
                    </m:r>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𝐻</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𝑑</m:t>
                        </m:r>
                      </m:e>
                    </m:d>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𝑚𝑢𝑙</m:t>
                    </m:r>
                    <m:r>
                      <a:rPr kumimoji="1" lang="en-US" altLang="ja-JP" b="0" i="1" strike="sngStrike" smtClean="0">
                        <a:latin typeface="Cambria Math" panose="02040503050406030204" pitchFamily="18" charset="0"/>
                      </a:rPr>
                      <m:t>(</m:t>
                    </m:r>
                    <m:r>
                      <a:rPr kumimoji="1" lang="en-US" altLang="ja-JP" b="0" i="1" strike="sngStrike" smtClean="0">
                        <a:latin typeface="Cambria Math" panose="02040503050406030204" pitchFamily="18" charset="0"/>
                      </a:rPr>
                      <m:t>𝐼</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𝑒</m:t>
                    </m:r>
                    <m:r>
                      <a:rPr kumimoji="1" lang="en-US" altLang="ja-JP" b="0" i="1" strike="sngStrike" smtClean="0">
                        <a:latin typeface="Cambria Math" panose="02040503050406030204" pitchFamily="18" charset="0"/>
                      </a:rPr>
                      <m:t>))</m:t>
                    </m:r>
                  </m:oMath>
                </a14:m>
                <a:endParaRPr kumimoji="1" lang="en-US" altLang="ja-JP" b="0" strike="sngStrike" dirty="0"/>
              </a:p>
              <a:p>
                <a:pPr lvl="4"/>
                <a:r>
                  <a:rPr kumimoji="1" lang="ja-JP" altLang="en-US" b="0" strike="sngStrike"/>
                  <a:t>省略</a:t>
                </a:r>
                <a:endParaRPr kumimoji="1" lang="en-US" altLang="ja-JP" b="0" strike="sngStrike" dirty="0"/>
              </a:p>
              <a:p>
                <a:pPr lvl="2"/>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lang="en-US" altLang="ja-JP" dirty="0"/>
              </a:p>
              <a:p>
                <a:pPr lvl="3"/>
                <a:r>
                  <a:rPr kumimoji="1" lang="ja-JP" altLang="en-US" b="0"/>
                  <a:t>省略</a:t>
                </a:r>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(0,  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kumimoji="1" lang="en-US" altLang="ja-JP" b="0" dirty="0"/>
              </a:p>
              <a:p>
                <a:pPr lvl="2"/>
                <a:r>
                  <a:rPr lang="ja-JP" altLang="en-US"/>
                  <a:t>省略</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17AA658B-CD15-E05A-7986-E55F1C3708F9}"/>
                  </a:ext>
                </a:extLst>
              </p:cNvPr>
              <p:cNvSpPr>
                <a:spLocks noGrp="1" noRot="1" noChangeAspect="1" noMove="1" noResize="1" noEditPoints="1" noAdjustHandles="1" noChangeArrowheads="1" noChangeShapeType="1" noTextEdit="1"/>
              </p:cNvSpPr>
              <p:nvPr>
                <p:ph idx="1"/>
              </p:nvPr>
            </p:nvSpPr>
            <p:spPr>
              <a:xfrm>
                <a:off x="838200" y="738130"/>
                <a:ext cx="6906658" cy="5438833"/>
              </a:xfrm>
              <a:blipFill>
                <a:blip r:embed="rId2"/>
                <a:stretch>
                  <a:fillRect l="-1287" t="-1632"/>
                </a:stretch>
              </a:blipFill>
            </p:spPr>
            <p:txBody>
              <a:bodyPr/>
              <a:lstStyle/>
              <a:p>
                <a:r>
                  <a:rPr lang="ja-JP" altLang="en-US">
                    <a:noFill/>
                  </a:rPr>
                  <a:t> </a:t>
                </a:r>
              </a:p>
            </p:txBody>
          </p:sp>
        </mc:Fallback>
      </mc:AlternateContent>
      <p:pic>
        <p:nvPicPr>
          <p:cNvPr id="4" name="図 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FAA68DAA-2068-45F3-126C-D3BB9D1267DE}"/>
              </a:ext>
            </a:extLst>
          </p:cNvPr>
          <p:cNvPicPr>
            <a:picLocks noChangeAspect="1"/>
          </p:cNvPicPr>
          <p:nvPr/>
        </p:nvPicPr>
        <p:blipFill>
          <a:blip r:embed="rId3"/>
          <a:stretch>
            <a:fillRect/>
          </a:stretch>
        </p:blipFill>
        <p:spPr>
          <a:xfrm>
            <a:off x="7866566" y="28546"/>
            <a:ext cx="1745116" cy="6858000"/>
          </a:xfrm>
          <a:prstGeom prst="rect">
            <a:avLst/>
          </a:prstGeom>
        </p:spPr>
      </p:pic>
      <p:sp>
        <p:nvSpPr>
          <p:cNvPr id="5" name="加算記号 4">
            <a:extLst>
              <a:ext uri="{FF2B5EF4-FFF2-40B4-BE49-F238E27FC236}">
                <a16:creationId xmlns:a16="http://schemas.microsoft.com/office/drawing/2014/main" id="{F6CD41D7-F295-0C7D-9CC0-54D0F39768EF}"/>
              </a:ext>
            </a:extLst>
          </p:cNvPr>
          <p:cNvSpPr/>
          <p:nvPr/>
        </p:nvSpPr>
        <p:spPr>
          <a:xfrm rot="2696788">
            <a:off x="9561046" y="3007918"/>
            <a:ext cx="899255" cy="899255"/>
          </a:xfrm>
          <a:prstGeom prst="mathPlus">
            <a:avLst/>
          </a:prstGeom>
          <a:solidFill>
            <a:schemeClr val="bg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BA99A80D-D8B2-8FF2-29ED-D05224489FAC}"/>
                  </a:ext>
                </a:extLst>
              </p:cNvPr>
              <p:cNvSpPr txBox="1"/>
              <p:nvPr/>
            </p:nvSpPr>
            <p:spPr>
              <a:xfrm>
                <a:off x="2987867" y="143886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:20,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:14</m:t>
                      </m:r>
                    </m:oMath>
                  </m:oMathPara>
                </a14:m>
                <a:endParaRPr kumimoji="1" lang="ja-JP" altLang="en-US" strike="sngStrike">
                  <a:solidFill>
                    <a:srgbClr val="FF0000"/>
                  </a:solidFill>
                </a:endParaRPr>
              </a:p>
            </p:txBody>
          </p:sp>
        </mc:Choice>
        <mc:Fallback xmlns="">
          <p:sp>
            <p:nvSpPr>
              <p:cNvPr id="18" name="テキスト ボックス 17">
                <a:extLst>
                  <a:ext uri="{FF2B5EF4-FFF2-40B4-BE49-F238E27FC236}">
                    <a16:creationId xmlns:a16="http://schemas.microsoft.com/office/drawing/2014/main" id="{BA99A80D-D8B2-8FF2-29ED-D05224489FAC}"/>
                  </a:ext>
                </a:extLst>
              </p:cNvPr>
              <p:cNvSpPr txBox="1">
                <a:spLocks noRot="1" noChangeAspect="1" noMove="1" noResize="1" noEditPoints="1" noAdjustHandles="1" noChangeArrowheads="1" noChangeShapeType="1" noTextEdit="1"/>
              </p:cNvSpPr>
              <p:nvPr/>
            </p:nvSpPr>
            <p:spPr>
              <a:xfrm>
                <a:off x="2987867" y="1438865"/>
                <a:ext cx="1768235"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7E10A2A5-1DA5-2229-6E95-6E839E30930A}"/>
                  </a:ext>
                </a:extLst>
              </p:cNvPr>
              <p:cNvSpPr txBox="1"/>
              <p:nvPr/>
            </p:nvSpPr>
            <p:spPr>
              <a:xfrm>
                <a:off x="2987867" y="4680472"/>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:14</m:t>
                      </m:r>
                    </m:oMath>
                  </m:oMathPara>
                </a14:m>
                <a:endParaRPr kumimoji="1" lang="ja-JP" altLang="en-US">
                  <a:solidFill>
                    <a:srgbClr val="FF0000"/>
                  </a:solidFill>
                </a:endParaRPr>
              </a:p>
            </p:txBody>
          </p:sp>
        </mc:Choice>
        <mc:Fallback xmlns="">
          <p:sp>
            <p:nvSpPr>
              <p:cNvPr id="19" name="テキスト ボックス 18">
                <a:extLst>
                  <a:ext uri="{FF2B5EF4-FFF2-40B4-BE49-F238E27FC236}">
                    <a16:creationId xmlns:a16="http://schemas.microsoft.com/office/drawing/2014/main" id="{7E10A2A5-1DA5-2229-6E95-6E839E30930A}"/>
                  </a:ext>
                </a:extLst>
              </p:cNvPr>
              <p:cNvSpPr txBox="1">
                <a:spLocks noRot="1" noChangeAspect="1" noMove="1" noResize="1" noEditPoints="1" noAdjustHandles="1" noChangeArrowheads="1" noChangeShapeType="1" noTextEdit="1"/>
              </p:cNvSpPr>
              <p:nvPr/>
            </p:nvSpPr>
            <p:spPr>
              <a:xfrm>
                <a:off x="2987867" y="4680472"/>
                <a:ext cx="1768235"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70DA038A-5A4E-A37B-0164-5EEA4356C440}"/>
                  </a:ext>
                </a:extLst>
              </p:cNvPr>
              <p:cNvSpPr txBox="1"/>
              <p:nvPr/>
            </p:nvSpPr>
            <p:spPr>
              <a:xfrm>
                <a:off x="5283709" y="1076594"/>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:42,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:34</m:t>
                      </m:r>
                    </m:oMath>
                  </m:oMathPara>
                </a14:m>
                <a:endParaRPr kumimoji="1" lang="ja-JP" altLang="en-US" strike="sngStrike">
                  <a:solidFill>
                    <a:srgbClr val="FF0000"/>
                  </a:solidFill>
                </a:endParaRPr>
              </a:p>
            </p:txBody>
          </p:sp>
        </mc:Choice>
        <mc:Fallback xmlns="">
          <p:sp>
            <p:nvSpPr>
              <p:cNvPr id="20" name="テキスト ボックス 19">
                <a:extLst>
                  <a:ext uri="{FF2B5EF4-FFF2-40B4-BE49-F238E27FC236}">
                    <a16:creationId xmlns:a16="http://schemas.microsoft.com/office/drawing/2014/main" id="{70DA038A-5A4E-A37B-0164-5EEA4356C440}"/>
                  </a:ext>
                </a:extLst>
              </p:cNvPr>
              <p:cNvSpPr txBox="1">
                <a:spLocks noRot="1" noChangeAspect="1" noMove="1" noResize="1" noEditPoints="1" noAdjustHandles="1" noChangeArrowheads="1" noChangeShapeType="1" noTextEdit="1"/>
              </p:cNvSpPr>
              <p:nvPr/>
            </p:nvSpPr>
            <p:spPr>
              <a:xfrm>
                <a:off x="5283709" y="1076594"/>
                <a:ext cx="1768235" cy="3693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E3184CA-3D2C-2ECF-9B9B-D04A4FCE17FF}"/>
                  </a:ext>
                </a:extLst>
              </p:cNvPr>
              <p:cNvSpPr txBox="1"/>
              <p:nvPr/>
            </p:nvSpPr>
            <p:spPr>
              <a:xfrm>
                <a:off x="4705170" y="5263870"/>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:42,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:34</m:t>
                      </m:r>
                    </m:oMath>
                  </m:oMathPara>
                </a14:m>
                <a:endParaRPr kumimoji="1" lang="ja-JP" altLang="en-US" strike="sngStrike">
                  <a:solidFill>
                    <a:srgbClr val="FF0000"/>
                  </a:solidFill>
                </a:endParaRPr>
              </a:p>
            </p:txBody>
          </p:sp>
        </mc:Choice>
        <mc:Fallback xmlns="">
          <p:sp>
            <p:nvSpPr>
              <p:cNvPr id="21" name="テキスト ボックス 20">
                <a:extLst>
                  <a:ext uri="{FF2B5EF4-FFF2-40B4-BE49-F238E27FC236}">
                    <a16:creationId xmlns:a16="http://schemas.microsoft.com/office/drawing/2014/main" id="{9E3184CA-3D2C-2ECF-9B9B-D04A4FCE17FF}"/>
                  </a:ext>
                </a:extLst>
              </p:cNvPr>
              <p:cNvSpPr txBox="1">
                <a:spLocks noRot="1" noChangeAspect="1" noMove="1" noResize="1" noEditPoints="1" noAdjustHandles="1" noChangeArrowheads="1" noChangeShapeType="1" noTextEdit="1"/>
              </p:cNvSpPr>
              <p:nvPr/>
            </p:nvSpPr>
            <p:spPr>
              <a:xfrm>
                <a:off x="4705170" y="5263870"/>
                <a:ext cx="1768235" cy="369332"/>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6853B8E8-E62F-097B-51EE-C50CE3BC0BD9}"/>
                  </a:ext>
                </a:extLst>
              </p:cNvPr>
              <p:cNvSpPr txBox="1"/>
              <p:nvPr/>
            </p:nvSpPr>
            <p:spPr>
              <a:xfrm>
                <a:off x="2523294" y="76014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1" i="1" strike="sngStrike" smtClean="0">
                          <a:solidFill>
                            <a:srgbClr val="FF0000"/>
                          </a:solidFill>
                          <a:latin typeface="Cambria Math" panose="02040503050406030204" pitchFamily="18" charset="0"/>
                        </a:rPr>
                        <m:t>𝒎𝒖𝒍</m:t>
                      </m:r>
                      <m:r>
                        <a:rPr kumimoji="1" lang="en-US" altLang="ja-JP" b="1" i="1" strike="sngStrike" smtClean="0">
                          <a:solidFill>
                            <a:srgbClr val="FF0000"/>
                          </a:solidFill>
                          <a:latin typeface="Cambria Math" panose="02040503050406030204" pitchFamily="18" charset="0"/>
                        </a:rPr>
                        <m:t>:</m:t>
                      </m:r>
                      <m:r>
                        <a:rPr kumimoji="1" lang="en-US" altLang="ja-JP" b="1" i="1" strike="sngStrike" smtClean="0">
                          <a:solidFill>
                            <a:srgbClr val="FF0000"/>
                          </a:solidFill>
                          <a:latin typeface="Cambria Math" panose="02040503050406030204" pitchFamily="18" charset="0"/>
                        </a:rPr>
                        <m:t>𝟖𝟒</m:t>
                      </m:r>
                      <m:r>
                        <a:rPr kumimoji="1" lang="en-US" altLang="ja-JP" b="1" i="1" strike="sngStrike" smtClean="0">
                          <a:solidFill>
                            <a:srgbClr val="FF0000"/>
                          </a:solidFill>
                          <a:latin typeface="Cambria Math" panose="02040503050406030204" pitchFamily="18" charset="0"/>
                        </a:rPr>
                        <m:t>, </m:t>
                      </m:r>
                      <m:r>
                        <a:rPr kumimoji="1" lang="en-US" altLang="ja-JP" b="1" i="1" strike="sngStrike" smtClean="0">
                          <a:solidFill>
                            <a:srgbClr val="FF0000"/>
                          </a:solidFill>
                          <a:latin typeface="Cambria Math" panose="02040503050406030204" pitchFamily="18" charset="0"/>
                        </a:rPr>
                        <m:t>𝒂𝒅𝒅</m:t>
                      </m:r>
                      <m:r>
                        <a:rPr kumimoji="1" lang="en-US" altLang="ja-JP" b="1" i="1" strike="sngStrike" smtClean="0">
                          <a:solidFill>
                            <a:srgbClr val="FF0000"/>
                          </a:solidFill>
                          <a:latin typeface="Cambria Math" panose="02040503050406030204" pitchFamily="18" charset="0"/>
                        </a:rPr>
                        <m:t>:</m:t>
                      </m:r>
                      <m:r>
                        <a:rPr kumimoji="1" lang="en-US" altLang="ja-JP" b="1" i="1" strike="sngStrike" smtClean="0">
                          <a:solidFill>
                            <a:srgbClr val="FF0000"/>
                          </a:solidFill>
                          <a:latin typeface="Cambria Math" panose="02040503050406030204" pitchFamily="18" charset="0"/>
                        </a:rPr>
                        <m:t>𝟕𝟎</m:t>
                      </m:r>
                    </m:oMath>
                  </m:oMathPara>
                </a14:m>
                <a:endParaRPr kumimoji="1" lang="ja-JP" altLang="en-US" b="1" strike="sngStrike">
                  <a:solidFill>
                    <a:srgbClr val="FF0000"/>
                  </a:solidFill>
                </a:endParaRPr>
              </a:p>
            </p:txBody>
          </p:sp>
        </mc:Choice>
        <mc:Fallback xmlns="">
          <p:sp>
            <p:nvSpPr>
              <p:cNvPr id="22" name="テキスト ボックス 21">
                <a:extLst>
                  <a:ext uri="{FF2B5EF4-FFF2-40B4-BE49-F238E27FC236}">
                    <a16:creationId xmlns:a16="http://schemas.microsoft.com/office/drawing/2014/main" id="{6853B8E8-E62F-097B-51EE-C50CE3BC0BD9}"/>
                  </a:ext>
                </a:extLst>
              </p:cNvPr>
              <p:cNvSpPr txBox="1">
                <a:spLocks noRot="1" noChangeAspect="1" noMove="1" noResize="1" noEditPoints="1" noAdjustHandles="1" noChangeArrowheads="1" noChangeShapeType="1" noTextEdit="1"/>
              </p:cNvSpPr>
              <p:nvPr/>
            </p:nvSpPr>
            <p:spPr>
              <a:xfrm>
                <a:off x="2523294" y="760145"/>
                <a:ext cx="1768235" cy="369332"/>
              </a:xfrm>
              <a:prstGeom prst="rect">
                <a:avLst/>
              </a:prstGeom>
              <a:blipFill>
                <a:blip r:embed="rId9"/>
                <a:stretch>
                  <a:fillRect r="-6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02918E10-1869-04E1-D40C-E8DA1F1D8A56}"/>
                  </a:ext>
                </a:extLst>
              </p:cNvPr>
              <p:cNvSpPr txBox="1"/>
              <p:nvPr/>
            </p:nvSpPr>
            <p:spPr>
              <a:xfrm>
                <a:off x="8199035" y="2081644"/>
                <a:ext cx="24939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2" name="テキスト ボックス 1">
                <a:extLst>
                  <a:ext uri="{FF2B5EF4-FFF2-40B4-BE49-F238E27FC236}">
                    <a16:creationId xmlns:a16="http://schemas.microsoft.com/office/drawing/2014/main" id="{02918E10-1869-04E1-D40C-E8DA1F1D8A56}"/>
                  </a:ext>
                </a:extLst>
              </p:cNvPr>
              <p:cNvSpPr txBox="1">
                <a:spLocks noRot="1" noChangeAspect="1" noMove="1" noResize="1" noEditPoints="1" noAdjustHandles="1" noChangeArrowheads="1" noChangeShapeType="1" noTextEdit="1"/>
              </p:cNvSpPr>
              <p:nvPr/>
            </p:nvSpPr>
            <p:spPr>
              <a:xfrm>
                <a:off x="8199035" y="2081644"/>
                <a:ext cx="249395" cy="276999"/>
              </a:xfrm>
              <a:prstGeom prst="rect">
                <a:avLst/>
              </a:prstGeom>
              <a:blipFill>
                <a:blip r:embed="rId10"/>
                <a:stretch>
                  <a:fillRect l="-4762" r="-4762"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D6F5253-2AE1-C023-CCAC-71B620CD624D}"/>
                  </a:ext>
                </a:extLst>
              </p:cNvPr>
              <p:cNvSpPr txBox="1"/>
              <p:nvPr/>
            </p:nvSpPr>
            <p:spPr>
              <a:xfrm>
                <a:off x="9089335" y="2071641"/>
                <a:ext cx="24939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7" name="テキスト ボックス 6">
                <a:extLst>
                  <a:ext uri="{FF2B5EF4-FFF2-40B4-BE49-F238E27FC236}">
                    <a16:creationId xmlns:a16="http://schemas.microsoft.com/office/drawing/2014/main" id="{FD6F5253-2AE1-C023-CCAC-71B620CD624D}"/>
                  </a:ext>
                </a:extLst>
              </p:cNvPr>
              <p:cNvSpPr txBox="1">
                <a:spLocks noRot="1" noChangeAspect="1" noMove="1" noResize="1" noEditPoints="1" noAdjustHandles="1" noChangeArrowheads="1" noChangeShapeType="1" noTextEdit="1"/>
              </p:cNvSpPr>
              <p:nvPr/>
            </p:nvSpPr>
            <p:spPr>
              <a:xfrm>
                <a:off x="9089335" y="2071641"/>
                <a:ext cx="249395" cy="276999"/>
              </a:xfrm>
              <a:prstGeom prst="rect">
                <a:avLst/>
              </a:prstGeom>
              <a:blipFill>
                <a:blip r:embed="rId11"/>
                <a:stretch>
                  <a:fillRect l="-4762" r="-4762" b="-909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7BDB661-64D8-73AD-1C97-83A23F41CC26}"/>
                  </a:ext>
                </a:extLst>
              </p:cNvPr>
              <p:cNvSpPr txBox="1"/>
              <p:nvPr/>
            </p:nvSpPr>
            <p:spPr>
              <a:xfrm>
                <a:off x="4683900" y="1456893"/>
                <a:ext cx="2856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9" name="テキスト ボックス 8">
                <a:extLst>
                  <a:ext uri="{FF2B5EF4-FFF2-40B4-BE49-F238E27FC236}">
                    <a16:creationId xmlns:a16="http://schemas.microsoft.com/office/drawing/2014/main" id="{17BDB661-64D8-73AD-1C97-83A23F41CC26}"/>
                  </a:ext>
                </a:extLst>
              </p:cNvPr>
              <p:cNvSpPr txBox="1">
                <a:spLocks noRot="1" noChangeAspect="1" noMove="1" noResize="1" noEditPoints="1" noAdjustHandles="1" noChangeArrowheads="1" noChangeShapeType="1" noTextEdit="1"/>
              </p:cNvSpPr>
              <p:nvPr/>
            </p:nvSpPr>
            <p:spPr>
              <a:xfrm>
                <a:off x="4683900" y="1456893"/>
                <a:ext cx="285665" cy="369332"/>
              </a:xfrm>
              <a:prstGeom prst="rect">
                <a:avLst/>
              </a:prstGeom>
              <a:blipFill>
                <a:blip r:embed="rId12"/>
                <a:stretch>
                  <a:fillRect r="-41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FFD6C565-91F2-F4C3-182D-5C469A132F2D}"/>
                  </a:ext>
                </a:extLst>
              </p:cNvPr>
              <p:cNvSpPr txBox="1"/>
              <p:nvPr/>
            </p:nvSpPr>
            <p:spPr>
              <a:xfrm>
                <a:off x="6663872" y="1283736"/>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:22,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:14</m:t>
                      </m:r>
                    </m:oMath>
                  </m:oMathPara>
                </a14:m>
                <a:endParaRPr kumimoji="1" lang="ja-JP" altLang="en-US">
                  <a:solidFill>
                    <a:srgbClr val="0070C0"/>
                  </a:solidFill>
                </a:endParaRPr>
              </a:p>
            </p:txBody>
          </p:sp>
        </mc:Choice>
        <mc:Fallback xmlns="">
          <p:sp>
            <p:nvSpPr>
              <p:cNvPr id="10" name="テキスト ボックス 9">
                <a:extLst>
                  <a:ext uri="{FF2B5EF4-FFF2-40B4-BE49-F238E27FC236}">
                    <a16:creationId xmlns:a16="http://schemas.microsoft.com/office/drawing/2014/main" id="{FFD6C565-91F2-F4C3-182D-5C469A132F2D}"/>
                  </a:ext>
                </a:extLst>
              </p:cNvPr>
              <p:cNvSpPr txBox="1">
                <a:spLocks noRot="1" noChangeAspect="1" noMove="1" noResize="1" noEditPoints="1" noAdjustHandles="1" noChangeArrowheads="1" noChangeShapeType="1" noTextEdit="1"/>
              </p:cNvSpPr>
              <p:nvPr/>
            </p:nvSpPr>
            <p:spPr>
              <a:xfrm>
                <a:off x="6663872" y="1283736"/>
                <a:ext cx="1768235" cy="369332"/>
              </a:xfrm>
              <a:prstGeom prst="rect">
                <a:avLst/>
              </a:prstGeom>
              <a:blipFill>
                <a:blip r:embed="rId1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AA2D30CE-BD11-D65F-1DEC-E1CF34E49C1E}"/>
                  </a:ext>
                </a:extLst>
              </p:cNvPr>
              <p:cNvSpPr txBox="1"/>
              <p:nvPr/>
            </p:nvSpPr>
            <p:spPr>
              <a:xfrm>
                <a:off x="6427247" y="5286346"/>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:22,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:14</m:t>
                      </m:r>
                    </m:oMath>
                  </m:oMathPara>
                </a14:m>
                <a:endParaRPr kumimoji="1" lang="ja-JP" altLang="en-US">
                  <a:solidFill>
                    <a:srgbClr val="0070C0"/>
                  </a:solidFill>
                </a:endParaRPr>
              </a:p>
            </p:txBody>
          </p:sp>
        </mc:Choice>
        <mc:Fallback xmlns="">
          <p:sp>
            <p:nvSpPr>
              <p:cNvPr id="23" name="テキスト ボックス 22">
                <a:extLst>
                  <a:ext uri="{FF2B5EF4-FFF2-40B4-BE49-F238E27FC236}">
                    <a16:creationId xmlns:a16="http://schemas.microsoft.com/office/drawing/2014/main" id="{AA2D30CE-BD11-D65F-1DEC-E1CF34E49C1E}"/>
                  </a:ext>
                </a:extLst>
              </p:cNvPr>
              <p:cNvSpPr txBox="1">
                <a:spLocks noRot="1" noChangeAspect="1" noMove="1" noResize="1" noEditPoints="1" noAdjustHandles="1" noChangeArrowheads="1" noChangeShapeType="1" noTextEdit="1"/>
              </p:cNvSpPr>
              <p:nvPr/>
            </p:nvSpPr>
            <p:spPr>
              <a:xfrm>
                <a:off x="6427247" y="5286346"/>
                <a:ext cx="1768235" cy="369332"/>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F28F36AE-F7BB-1892-47E3-264DBD8FD209}"/>
                  </a:ext>
                </a:extLst>
              </p:cNvPr>
              <p:cNvSpPr txBox="1"/>
              <p:nvPr/>
            </p:nvSpPr>
            <p:spPr>
              <a:xfrm>
                <a:off x="4277883" y="735094"/>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solidFill>
                            <a:srgbClr val="0070C0"/>
                          </a:solidFill>
                          <a:latin typeface="Cambria Math" panose="02040503050406030204" pitchFamily="18" charset="0"/>
                        </a:rPr>
                        <m:t>𝒎𝒖𝒍</m:t>
                      </m:r>
                      <m:r>
                        <a:rPr kumimoji="1" lang="en-US" altLang="ja-JP" b="1" i="1" smtClean="0">
                          <a:solidFill>
                            <a:srgbClr val="0070C0"/>
                          </a:solidFill>
                          <a:latin typeface="Cambria Math" panose="02040503050406030204" pitchFamily="18" charset="0"/>
                        </a:rPr>
                        <m:t>:</m:t>
                      </m:r>
                      <m:r>
                        <a:rPr kumimoji="1" lang="en-US" altLang="ja-JP" b="1" i="1" smtClean="0">
                          <a:solidFill>
                            <a:srgbClr val="0070C0"/>
                          </a:solidFill>
                          <a:latin typeface="Cambria Math" panose="02040503050406030204" pitchFamily="18" charset="0"/>
                        </a:rPr>
                        <m:t>𝟒𝟐</m:t>
                      </m:r>
                      <m:r>
                        <a:rPr kumimoji="1" lang="en-US" altLang="ja-JP" b="1" i="1" smtClean="0">
                          <a:solidFill>
                            <a:srgbClr val="0070C0"/>
                          </a:solidFill>
                          <a:latin typeface="Cambria Math" panose="02040503050406030204" pitchFamily="18" charset="0"/>
                        </a:rPr>
                        <m:t>, </m:t>
                      </m:r>
                      <m:r>
                        <a:rPr kumimoji="1" lang="en-US" altLang="ja-JP" b="1" i="1" smtClean="0">
                          <a:solidFill>
                            <a:srgbClr val="0070C0"/>
                          </a:solidFill>
                          <a:latin typeface="Cambria Math" panose="02040503050406030204" pitchFamily="18" charset="0"/>
                        </a:rPr>
                        <m:t>𝒂𝒅𝒅</m:t>
                      </m:r>
                      <m:r>
                        <a:rPr kumimoji="1" lang="en-US" altLang="ja-JP" b="1" i="1" smtClean="0">
                          <a:solidFill>
                            <a:srgbClr val="0070C0"/>
                          </a:solidFill>
                          <a:latin typeface="Cambria Math" panose="02040503050406030204" pitchFamily="18" charset="0"/>
                        </a:rPr>
                        <m:t>:</m:t>
                      </m:r>
                      <m:r>
                        <a:rPr kumimoji="1" lang="en-US" altLang="ja-JP" b="1" i="1" smtClean="0">
                          <a:solidFill>
                            <a:srgbClr val="0070C0"/>
                          </a:solidFill>
                          <a:latin typeface="Cambria Math" panose="02040503050406030204" pitchFamily="18" charset="0"/>
                        </a:rPr>
                        <m:t>𝟑𝟎</m:t>
                      </m:r>
                    </m:oMath>
                  </m:oMathPara>
                </a14:m>
                <a:endParaRPr kumimoji="1" lang="ja-JP" altLang="en-US" b="1">
                  <a:solidFill>
                    <a:srgbClr val="0070C0"/>
                  </a:solidFill>
                </a:endParaRPr>
              </a:p>
            </p:txBody>
          </p:sp>
        </mc:Choice>
        <mc:Fallback xmlns="">
          <p:sp>
            <p:nvSpPr>
              <p:cNvPr id="25" name="テキスト ボックス 24">
                <a:extLst>
                  <a:ext uri="{FF2B5EF4-FFF2-40B4-BE49-F238E27FC236}">
                    <a16:creationId xmlns:a16="http://schemas.microsoft.com/office/drawing/2014/main" id="{F28F36AE-F7BB-1892-47E3-264DBD8FD209}"/>
                  </a:ext>
                </a:extLst>
              </p:cNvPr>
              <p:cNvSpPr txBox="1">
                <a:spLocks noRot="1" noChangeAspect="1" noMove="1" noResize="1" noEditPoints="1" noAdjustHandles="1" noChangeArrowheads="1" noChangeShapeType="1" noTextEdit="1"/>
              </p:cNvSpPr>
              <p:nvPr/>
            </p:nvSpPr>
            <p:spPr>
              <a:xfrm>
                <a:off x="4277883" y="735094"/>
                <a:ext cx="1768235" cy="369332"/>
              </a:xfrm>
              <a:prstGeom prst="rect">
                <a:avLst/>
              </a:prstGeom>
              <a:blipFill>
                <a:blip r:embed="rId15"/>
                <a:stretch>
                  <a:fillRect r="-5674"/>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4281D26D-8C9B-AFB9-2954-42A12E599889}"/>
              </a:ext>
            </a:extLst>
          </p:cNvPr>
          <p:cNvPicPr>
            <a:picLocks noChangeAspect="1"/>
          </p:cNvPicPr>
          <p:nvPr/>
        </p:nvPicPr>
        <p:blipFill>
          <a:blip r:embed="rId16"/>
          <a:srcRect/>
          <a:stretch/>
        </p:blipFill>
        <p:spPr>
          <a:xfrm>
            <a:off x="111800" y="2312816"/>
            <a:ext cx="1838119" cy="1775597"/>
          </a:xfrm>
          <a:prstGeom prst="rect">
            <a:avLst/>
          </a:prstGeom>
        </p:spPr>
      </p:pic>
      <p:pic>
        <p:nvPicPr>
          <p:cNvPr id="8" name="図 7"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20E863B6-6906-94EF-F317-6542C3294B85}"/>
              </a:ext>
            </a:extLst>
          </p:cNvPr>
          <p:cNvPicPr>
            <a:picLocks noChangeAspect="1"/>
          </p:cNvPicPr>
          <p:nvPr/>
        </p:nvPicPr>
        <p:blipFill>
          <a:blip r:embed="rId17"/>
          <a:stretch>
            <a:fillRect/>
          </a:stretch>
        </p:blipFill>
        <p:spPr>
          <a:xfrm>
            <a:off x="10409662" y="28546"/>
            <a:ext cx="1670538" cy="6858000"/>
          </a:xfrm>
          <a:prstGeom prst="rect">
            <a:avLst/>
          </a:prstGeom>
        </p:spPr>
      </p:pic>
      <p:sp>
        <p:nvSpPr>
          <p:cNvPr id="11" name="スライド番号プレースホルダー 10">
            <a:extLst>
              <a:ext uri="{FF2B5EF4-FFF2-40B4-BE49-F238E27FC236}">
                <a16:creationId xmlns:a16="http://schemas.microsoft.com/office/drawing/2014/main" id="{C7B40E3F-F8EE-C9A8-5296-6BC3EC04E8FD}"/>
              </a:ext>
            </a:extLst>
          </p:cNvPr>
          <p:cNvSpPr>
            <a:spLocks noGrp="1"/>
          </p:cNvSpPr>
          <p:nvPr>
            <p:ph type="sldNum" sz="quarter" idx="12"/>
          </p:nvPr>
        </p:nvSpPr>
        <p:spPr/>
        <p:txBody>
          <a:bodyPr/>
          <a:lstStyle/>
          <a:p>
            <a:fld id="{B7DD3F26-AD0F-FC47-9ED8-571159D68F9B}" type="slidenum">
              <a:rPr kumimoji="1" lang="ja-JP" altLang="en-US" smtClean="0"/>
              <a:t>15</a:t>
            </a:fld>
            <a:endParaRPr kumimoji="1" lang="ja-JP" altLang="en-US"/>
          </a:p>
        </p:txBody>
      </p:sp>
    </p:spTree>
    <p:extLst>
      <p:ext uri="{BB962C8B-B14F-4D97-AF65-F5344CB8AC3E}">
        <p14:creationId xmlns:p14="http://schemas.microsoft.com/office/powerpoint/2010/main" val="2194885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211A-9DC6-E420-EFD0-C2AB487917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A0566EB-9571-D884-23A2-7737020813E2}"/>
                  </a:ext>
                </a:extLst>
              </p:cNvPr>
              <p:cNvSpPr>
                <a:spLocks noGrp="1"/>
              </p:cNvSpPr>
              <p:nvPr>
                <p:ph idx="1"/>
              </p:nvPr>
            </p:nvSpPr>
            <p:spPr>
              <a:xfrm>
                <a:off x="838200" y="738130"/>
                <a:ext cx="6906658" cy="5438833"/>
              </a:xfrm>
            </p:spPr>
            <p:txBody>
              <a:bodyPr>
                <a:normAutofit fontScale="85000" lnSpcReduction="10000"/>
              </a:bodyPr>
              <a:lstStyle/>
              <a:p>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oMath>
                </a14:m>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 </m:t>
                    </m:r>
                    <m:r>
                      <a:rPr lang="en-US" altLang="ja-JP" i="1">
                        <a:latin typeface="Cambria Math" panose="02040503050406030204" pitchFamily="18" charset="0"/>
                      </a:rPr>
                      <m:t>…</m:t>
                    </m:r>
                    <m:r>
                      <a:rPr lang="en-US" altLang="ja-JP" i="1">
                        <a:latin typeface="Cambria Math" panose="02040503050406030204" pitchFamily="18" charset="0"/>
                      </a:rPr>
                      <m:t>①</m:t>
                    </m:r>
                  </m:oMath>
                </a14:m>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oMath>
                </a14:m>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r>
                      <a:rPr lang="en-US" altLang="ja-JP" i="1" smtClean="0">
                        <a:latin typeface="Cambria Math" panose="02040503050406030204" pitchFamily="18" charset="0"/>
                      </a:rPr>
                      <m:t>②</m:t>
                    </m:r>
                  </m:oMath>
                </a14:m>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oMath>
                </a14:m>
                <a:endParaRPr kumimoji="1" lang="en-US" altLang="ja-JP" b="0" dirty="0"/>
              </a:p>
              <a:p>
                <a:pPr lvl="5"/>
                <a14:m>
                  <m:oMath xmlns:m="http://schemas.openxmlformats.org/officeDocument/2006/math">
                    <m:r>
                      <a:rPr kumimoji="1" lang="en-US" altLang="ja-JP" b="0" i="1" strike="sngStrike" smtClean="0">
                        <a:latin typeface="Cambria Math" panose="02040503050406030204" pitchFamily="18" charset="0"/>
                      </a:rPr>
                      <m:t>𝑎𝑑𝑑</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𝐽</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𝑓</m:t>
                            </m:r>
                          </m:e>
                        </m:d>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𝐾</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𝑔</m:t>
                            </m:r>
                          </m:e>
                        </m:d>
                      </m:e>
                    </m:d>
                    <m:r>
                      <a:rPr lang="en-US" altLang="ja-JP" i="1" strike="sngStrike">
                        <a:latin typeface="Cambria Math" panose="02040503050406030204" pitchFamily="18" charset="0"/>
                      </a:rPr>
                      <m:t>…</m:t>
                    </m:r>
                    <m:r>
                      <a:rPr lang="en-US" altLang="ja-JP" i="1" strike="sngStrike" smtClean="0">
                        <a:latin typeface="Cambria Math" panose="02040503050406030204" pitchFamily="18" charset="0"/>
                      </a:rPr>
                      <m:t>③</m:t>
                    </m:r>
                  </m:oMath>
                </a14:m>
                <a:endParaRPr kumimoji="1" lang="en-US" altLang="ja-JP" b="0" strike="sngStrike" dirty="0"/>
              </a:p>
              <a:p>
                <a:pPr lvl="6"/>
                <a14:m>
                  <m:oMath xmlns:m="http://schemas.openxmlformats.org/officeDocument/2006/math">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𝐽</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𝑓</m:t>
                        </m:r>
                      </m:e>
                    </m:d>
                  </m:oMath>
                </a14:m>
                <a:endParaRPr kumimoji="1" lang="en-US" altLang="ja-JP" b="0" strike="sngStrike" dirty="0"/>
              </a:p>
              <a:p>
                <a:pPr lvl="6"/>
                <a14:m>
                  <m:oMath xmlns:m="http://schemas.openxmlformats.org/officeDocument/2006/math">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𝐾</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𝑔</m:t>
                        </m:r>
                      </m:e>
                    </m:d>
                  </m:oMath>
                </a14:m>
                <a:endParaRPr kumimoji="1" lang="en-US" altLang="ja-JP" b="0" strike="sngStrike" dirty="0"/>
              </a:p>
              <a:p>
                <a:pPr lvl="5"/>
                <a14:m>
                  <m:oMath xmlns:m="http://schemas.openxmlformats.org/officeDocument/2006/math">
                    <m:r>
                      <a:rPr kumimoji="1" lang="en-US" altLang="ja-JP" b="0" i="1" strike="sngStrike" smtClean="0">
                        <a:latin typeface="Cambria Math" panose="02040503050406030204" pitchFamily="18" charset="0"/>
                      </a:rPr>
                      <m:t>𝑎𝑑𝑑</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𝐿</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𝑓</m:t>
                            </m:r>
                          </m:e>
                        </m:d>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𝑚𝑢𝑙</m:t>
                        </m:r>
                        <m:d>
                          <m:dPr>
                            <m:ctrlPr>
                              <a:rPr kumimoji="1" lang="en-US" altLang="ja-JP" b="0" i="1" strike="sngStrike" smtClean="0">
                                <a:latin typeface="Cambria Math" panose="02040503050406030204" pitchFamily="18" charset="0"/>
                              </a:rPr>
                            </m:ctrlPr>
                          </m:dPr>
                          <m:e>
                            <m:r>
                              <a:rPr kumimoji="1" lang="en-US" altLang="ja-JP" b="0" i="1" strike="sngStrike" smtClean="0">
                                <a:latin typeface="Cambria Math" panose="02040503050406030204" pitchFamily="18" charset="0"/>
                              </a:rPr>
                              <m:t>𝑀</m:t>
                            </m:r>
                            <m:r>
                              <a:rPr kumimoji="1" lang="en-US" altLang="ja-JP" b="0" i="1" strike="sngStrike" smtClean="0">
                                <a:latin typeface="Cambria Math" panose="02040503050406030204" pitchFamily="18" charset="0"/>
                              </a:rPr>
                              <m:t>,  </m:t>
                            </m:r>
                            <m:r>
                              <a:rPr kumimoji="1" lang="en-US" altLang="ja-JP" b="0" i="1" strike="sngStrike" smtClean="0">
                                <a:latin typeface="Cambria Math" panose="02040503050406030204" pitchFamily="18" charset="0"/>
                              </a:rPr>
                              <m:t>𝑔</m:t>
                            </m:r>
                          </m:e>
                        </m:d>
                      </m:e>
                    </m:d>
                  </m:oMath>
                </a14:m>
                <a:endParaRPr kumimoji="1" lang="en-US" altLang="ja-JP" b="0" strike="sngStrike" dirty="0"/>
              </a:p>
              <a:p>
                <a:pPr lvl="6"/>
                <a:r>
                  <a:rPr kumimoji="1" lang="ja-JP" altLang="en-US" b="0" strike="sngStrike"/>
                  <a:t>省略</a:t>
                </a:r>
                <a:endParaRPr kumimoji="1" lang="en-US" altLang="ja-JP" b="0" strike="sngStrike"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e>
                    </m:d>
                  </m:oMath>
                </a14:m>
                <a:endParaRPr kumimoji="1" lang="en-US" altLang="ja-JP" b="0" dirty="0"/>
              </a:p>
              <a:p>
                <a:pPr lvl="5"/>
                <a:r>
                  <a:rPr kumimoji="1" lang="ja-JP" altLang="en-US" b="0"/>
                  <a:t>省略</a:t>
                </a:r>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(0,  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oMath>
                </a14:m>
                <a:endParaRPr kumimoji="1" lang="en-US" altLang="ja-JP" b="0" dirty="0"/>
              </a:p>
              <a:p>
                <a:pPr lvl="4"/>
                <a:r>
                  <a:rPr kumimoji="1" lang="ja-JP" altLang="en-US" b="0"/>
                  <a:t>省略</a:t>
                </a:r>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lang="en-US" altLang="ja-JP" dirty="0"/>
              </a:p>
              <a:p>
                <a:pPr lvl="3"/>
                <a:r>
                  <a:rPr kumimoji="1" lang="ja-JP" altLang="en-US" b="0"/>
                  <a:t>省略</a:t>
                </a:r>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𝐸</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kumimoji="1" lang="en-US" altLang="ja-JP" b="0" dirty="0"/>
              </a:p>
              <a:p>
                <a:pPr lvl="2"/>
                <a:r>
                  <a:rPr lang="ja-JP" altLang="en-US"/>
                  <a:t>省略</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7A0566EB-9571-D884-23A2-7737020813E2}"/>
                  </a:ext>
                </a:extLst>
              </p:cNvPr>
              <p:cNvSpPr>
                <a:spLocks noGrp="1" noRot="1" noChangeAspect="1" noMove="1" noResize="1" noEditPoints="1" noAdjustHandles="1" noChangeArrowheads="1" noChangeShapeType="1" noTextEdit="1"/>
              </p:cNvSpPr>
              <p:nvPr>
                <p:ph idx="1"/>
              </p:nvPr>
            </p:nvSpPr>
            <p:spPr>
              <a:xfrm>
                <a:off x="838200" y="738130"/>
                <a:ext cx="6906658" cy="5438833"/>
              </a:xfrm>
              <a:blipFill>
                <a:blip r:embed="rId2"/>
                <a:stretch>
                  <a:fillRect l="-1287" t="-1632"/>
                </a:stretch>
              </a:blipFill>
            </p:spPr>
            <p:txBody>
              <a:bodyPr/>
              <a:lstStyle/>
              <a:p>
                <a:r>
                  <a:rPr lang="ja-JP" altLang="en-US">
                    <a:noFill/>
                  </a:rPr>
                  <a:t> </a:t>
                </a:r>
              </a:p>
            </p:txBody>
          </p:sp>
        </mc:Fallback>
      </mc:AlternateContent>
      <p:pic>
        <p:nvPicPr>
          <p:cNvPr id="24" name="図 2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702A572B-B986-38DB-5CA1-50670CE87070}"/>
              </a:ext>
            </a:extLst>
          </p:cNvPr>
          <p:cNvPicPr>
            <a:picLocks noChangeAspect="1"/>
          </p:cNvPicPr>
          <p:nvPr/>
        </p:nvPicPr>
        <p:blipFill>
          <a:blip r:embed="rId3"/>
          <a:stretch>
            <a:fillRect/>
          </a:stretch>
        </p:blipFill>
        <p:spPr>
          <a:xfrm>
            <a:off x="10409662" y="28546"/>
            <a:ext cx="1670538" cy="6858000"/>
          </a:xfrm>
          <a:prstGeom prst="rect">
            <a:avLst/>
          </a:prstGeom>
        </p:spPr>
      </p:pic>
      <p:pic>
        <p:nvPicPr>
          <p:cNvPr id="4" name="図 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13F4B5C8-DE33-6800-BE57-A8C63DD0E050}"/>
              </a:ext>
            </a:extLst>
          </p:cNvPr>
          <p:cNvPicPr>
            <a:picLocks noChangeAspect="1"/>
          </p:cNvPicPr>
          <p:nvPr/>
        </p:nvPicPr>
        <p:blipFill>
          <a:blip r:embed="rId4"/>
          <a:stretch>
            <a:fillRect/>
          </a:stretch>
        </p:blipFill>
        <p:spPr>
          <a:xfrm>
            <a:off x="7866566" y="28546"/>
            <a:ext cx="1745116" cy="6858000"/>
          </a:xfrm>
          <a:prstGeom prst="rect">
            <a:avLst/>
          </a:prstGeom>
        </p:spPr>
      </p:pic>
      <p:sp>
        <p:nvSpPr>
          <p:cNvPr id="5" name="加算記号 4">
            <a:extLst>
              <a:ext uri="{FF2B5EF4-FFF2-40B4-BE49-F238E27FC236}">
                <a16:creationId xmlns:a16="http://schemas.microsoft.com/office/drawing/2014/main" id="{62C70E6A-F4A9-1D93-DDE6-678FBDD201FD}"/>
              </a:ext>
            </a:extLst>
          </p:cNvPr>
          <p:cNvSpPr/>
          <p:nvPr/>
        </p:nvSpPr>
        <p:spPr>
          <a:xfrm rot="2696788">
            <a:off x="9561046" y="3007918"/>
            <a:ext cx="899255" cy="899255"/>
          </a:xfrm>
          <a:prstGeom prst="mathPlus">
            <a:avLst/>
          </a:prstGeom>
          <a:solidFill>
            <a:schemeClr val="bg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B87419C-9250-E9FB-F446-2A4A84CCDD02}"/>
                  </a:ext>
                </a:extLst>
              </p:cNvPr>
              <p:cNvSpPr txBox="1"/>
              <p:nvPr/>
            </p:nvSpPr>
            <p:spPr>
              <a:xfrm>
                <a:off x="4756102" y="2856249"/>
                <a:ext cx="3009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0</m:t>
                      </m:r>
                    </m:oMath>
                  </m:oMathPara>
                </a14:m>
                <a:endParaRPr kumimoji="1" lang="ja-JP" altLang="en-US">
                  <a:solidFill>
                    <a:srgbClr val="FF0000"/>
                  </a:solidFill>
                </a:endParaRPr>
              </a:p>
            </p:txBody>
          </p:sp>
        </mc:Choice>
        <mc:Fallback xmlns="">
          <p:sp>
            <p:nvSpPr>
              <p:cNvPr id="8" name="テキスト ボックス 7">
                <a:extLst>
                  <a:ext uri="{FF2B5EF4-FFF2-40B4-BE49-F238E27FC236}">
                    <a16:creationId xmlns:a16="http://schemas.microsoft.com/office/drawing/2014/main" id="{EB87419C-9250-E9FB-F446-2A4A84CCDD02}"/>
                  </a:ext>
                </a:extLst>
              </p:cNvPr>
              <p:cNvSpPr txBox="1">
                <a:spLocks noRot="1" noChangeAspect="1" noMove="1" noResize="1" noEditPoints="1" noAdjustHandles="1" noChangeArrowheads="1" noChangeShapeType="1" noTextEdit="1"/>
              </p:cNvSpPr>
              <p:nvPr/>
            </p:nvSpPr>
            <p:spPr>
              <a:xfrm>
                <a:off x="4756102" y="2856249"/>
                <a:ext cx="300942"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DB47DAA8-7ABE-8074-59AC-B978B33DE0E2}"/>
                  </a:ext>
                </a:extLst>
              </p:cNvPr>
              <p:cNvSpPr txBox="1"/>
              <p:nvPr/>
            </p:nvSpPr>
            <p:spPr>
              <a:xfrm>
                <a:off x="4742061" y="2571920"/>
                <a:ext cx="3009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0</m:t>
                      </m:r>
                    </m:oMath>
                  </m:oMathPara>
                </a14:m>
                <a:endParaRPr kumimoji="1" lang="ja-JP" altLang="en-US">
                  <a:solidFill>
                    <a:srgbClr val="FF0000"/>
                  </a:solidFill>
                </a:endParaRPr>
              </a:p>
            </p:txBody>
          </p:sp>
        </mc:Choice>
        <mc:Fallback xmlns="">
          <p:sp>
            <p:nvSpPr>
              <p:cNvPr id="11" name="テキスト ボックス 10">
                <a:extLst>
                  <a:ext uri="{FF2B5EF4-FFF2-40B4-BE49-F238E27FC236}">
                    <a16:creationId xmlns:a16="http://schemas.microsoft.com/office/drawing/2014/main" id="{DB47DAA8-7ABE-8074-59AC-B978B33DE0E2}"/>
                  </a:ext>
                </a:extLst>
              </p:cNvPr>
              <p:cNvSpPr txBox="1">
                <a:spLocks noRot="1" noChangeAspect="1" noMove="1" noResize="1" noEditPoints="1" noAdjustHandles="1" noChangeArrowheads="1" noChangeShapeType="1" noTextEdit="1"/>
              </p:cNvSpPr>
              <p:nvPr/>
            </p:nvSpPr>
            <p:spPr>
              <a:xfrm>
                <a:off x="4742061" y="2571920"/>
                <a:ext cx="300942"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0E2C984-91DC-EE03-F3BD-5737230B5DED}"/>
                  </a:ext>
                </a:extLst>
              </p:cNvPr>
              <p:cNvSpPr txBox="1"/>
              <p:nvPr/>
            </p:nvSpPr>
            <p:spPr>
              <a:xfrm>
                <a:off x="3836725" y="1994580"/>
                <a:ext cx="1505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:4,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:2</m:t>
                      </m:r>
                    </m:oMath>
                  </m:oMathPara>
                </a14:m>
                <a:endParaRPr kumimoji="1" lang="ja-JP" altLang="en-US" strike="sngStrike">
                  <a:solidFill>
                    <a:srgbClr val="FF0000"/>
                  </a:solidFill>
                </a:endParaRPr>
              </a:p>
            </p:txBody>
          </p:sp>
        </mc:Choice>
        <mc:Fallback xmlns="">
          <p:sp>
            <p:nvSpPr>
              <p:cNvPr id="14" name="テキスト ボックス 13">
                <a:extLst>
                  <a:ext uri="{FF2B5EF4-FFF2-40B4-BE49-F238E27FC236}">
                    <a16:creationId xmlns:a16="http://schemas.microsoft.com/office/drawing/2014/main" id="{E0E2C984-91DC-EE03-F3BD-5737230B5DED}"/>
                  </a:ext>
                </a:extLst>
              </p:cNvPr>
              <p:cNvSpPr txBox="1">
                <a:spLocks noRot="1" noChangeAspect="1" noMove="1" noResize="1" noEditPoints="1" noAdjustHandles="1" noChangeArrowheads="1" noChangeShapeType="1" noTextEdit="1"/>
              </p:cNvSpPr>
              <p:nvPr/>
            </p:nvSpPr>
            <p:spPr>
              <a:xfrm>
                <a:off x="3836725" y="1994580"/>
                <a:ext cx="1505041" cy="3693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FD0534D1-7C7A-7548-EBA3-5D2C57C8EBBD}"/>
                  </a:ext>
                </a:extLst>
              </p:cNvPr>
              <p:cNvSpPr txBox="1"/>
              <p:nvPr/>
            </p:nvSpPr>
            <p:spPr>
              <a:xfrm>
                <a:off x="3778668" y="3632420"/>
                <a:ext cx="1505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5" name="テキスト ボックス 14">
                <a:extLst>
                  <a:ext uri="{FF2B5EF4-FFF2-40B4-BE49-F238E27FC236}">
                    <a16:creationId xmlns:a16="http://schemas.microsoft.com/office/drawing/2014/main" id="{FD0534D1-7C7A-7548-EBA3-5D2C57C8EBBD}"/>
                  </a:ext>
                </a:extLst>
              </p:cNvPr>
              <p:cNvSpPr txBox="1">
                <a:spLocks noRot="1" noChangeAspect="1" noMove="1" noResize="1" noEditPoints="1" noAdjustHandles="1" noChangeArrowheads="1" noChangeShapeType="1" noTextEdit="1"/>
              </p:cNvSpPr>
              <p:nvPr/>
            </p:nvSpPr>
            <p:spPr>
              <a:xfrm>
                <a:off x="3778668" y="3632420"/>
                <a:ext cx="1505041" cy="369332"/>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0B75C386-5EEB-BA0A-85D9-EC05F620B7BA}"/>
                  </a:ext>
                </a:extLst>
              </p:cNvPr>
              <p:cNvSpPr txBox="1"/>
              <p:nvPr/>
            </p:nvSpPr>
            <p:spPr>
              <a:xfrm>
                <a:off x="5223659" y="1713394"/>
                <a:ext cx="16265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:10,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:6</m:t>
                      </m:r>
                    </m:oMath>
                  </m:oMathPara>
                </a14:m>
                <a:endParaRPr kumimoji="1" lang="ja-JP" altLang="en-US" strike="sngStrike">
                  <a:solidFill>
                    <a:srgbClr val="FF0000"/>
                  </a:solidFill>
                </a:endParaRPr>
              </a:p>
            </p:txBody>
          </p:sp>
        </mc:Choice>
        <mc:Fallback xmlns="">
          <p:sp>
            <p:nvSpPr>
              <p:cNvPr id="16" name="テキスト ボックス 15">
                <a:extLst>
                  <a:ext uri="{FF2B5EF4-FFF2-40B4-BE49-F238E27FC236}">
                    <a16:creationId xmlns:a16="http://schemas.microsoft.com/office/drawing/2014/main" id="{0B75C386-5EEB-BA0A-85D9-EC05F620B7BA}"/>
                  </a:ext>
                </a:extLst>
              </p:cNvPr>
              <p:cNvSpPr txBox="1">
                <a:spLocks noRot="1" noChangeAspect="1" noMove="1" noResize="1" noEditPoints="1" noAdjustHandles="1" noChangeArrowheads="1" noChangeShapeType="1" noTextEdit="1"/>
              </p:cNvSpPr>
              <p:nvPr/>
            </p:nvSpPr>
            <p:spPr>
              <a:xfrm>
                <a:off x="5223659" y="1713394"/>
                <a:ext cx="1626577" cy="369332"/>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62E07971-F8FE-C65E-22E6-92CBD9F2FC50}"/>
                  </a:ext>
                </a:extLst>
              </p:cNvPr>
              <p:cNvSpPr txBox="1"/>
              <p:nvPr/>
            </p:nvSpPr>
            <p:spPr>
              <a:xfrm>
                <a:off x="4831177" y="4160894"/>
                <a:ext cx="16265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:10,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:6</m:t>
                      </m:r>
                    </m:oMath>
                  </m:oMathPara>
                </a14:m>
                <a:endParaRPr kumimoji="1" lang="ja-JP" altLang="en-US" strike="sngStrike">
                  <a:solidFill>
                    <a:srgbClr val="FF0000"/>
                  </a:solidFill>
                </a:endParaRPr>
              </a:p>
            </p:txBody>
          </p:sp>
        </mc:Choice>
        <mc:Fallback xmlns="">
          <p:sp>
            <p:nvSpPr>
              <p:cNvPr id="17" name="テキスト ボックス 16">
                <a:extLst>
                  <a:ext uri="{FF2B5EF4-FFF2-40B4-BE49-F238E27FC236}">
                    <a16:creationId xmlns:a16="http://schemas.microsoft.com/office/drawing/2014/main" id="{62E07971-F8FE-C65E-22E6-92CBD9F2FC50}"/>
                  </a:ext>
                </a:extLst>
              </p:cNvPr>
              <p:cNvSpPr txBox="1">
                <a:spLocks noRot="1" noChangeAspect="1" noMove="1" noResize="1" noEditPoints="1" noAdjustHandles="1" noChangeArrowheads="1" noChangeShapeType="1" noTextEdit="1"/>
              </p:cNvSpPr>
              <p:nvPr/>
            </p:nvSpPr>
            <p:spPr>
              <a:xfrm>
                <a:off x="4831177" y="4160894"/>
                <a:ext cx="1626577" cy="369332"/>
              </a:xfrm>
              <a:prstGeom prst="rect">
                <a:avLst/>
              </a:prstGeom>
              <a:blipFill>
                <a:blip r:embed="rId10"/>
                <a:stretch>
                  <a:fillRect r="-7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A6A081BC-AE8F-4BA6-5BD4-281EC310916E}"/>
                  </a:ext>
                </a:extLst>
              </p:cNvPr>
              <p:cNvSpPr txBox="1"/>
              <p:nvPr/>
            </p:nvSpPr>
            <p:spPr>
              <a:xfrm>
                <a:off x="2987867" y="143886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:20,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:14</m:t>
                      </m:r>
                    </m:oMath>
                  </m:oMathPara>
                </a14:m>
                <a:endParaRPr kumimoji="1" lang="ja-JP" altLang="en-US" strike="sngStrike">
                  <a:solidFill>
                    <a:srgbClr val="FF0000"/>
                  </a:solidFill>
                </a:endParaRPr>
              </a:p>
            </p:txBody>
          </p:sp>
        </mc:Choice>
        <mc:Fallback xmlns="">
          <p:sp>
            <p:nvSpPr>
              <p:cNvPr id="18" name="テキスト ボックス 17">
                <a:extLst>
                  <a:ext uri="{FF2B5EF4-FFF2-40B4-BE49-F238E27FC236}">
                    <a16:creationId xmlns:a16="http://schemas.microsoft.com/office/drawing/2014/main" id="{A6A081BC-AE8F-4BA6-5BD4-281EC310916E}"/>
                  </a:ext>
                </a:extLst>
              </p:cNvPr>
              <p:cNvSpPr txBox="1">
                <a:spLocks noRot="1" noChangeAspect="1" noMove="1" noResize="1" noEditPoints="1" noAdjustHandles="1" noChangeArrowheads="1" noChangeShapeType="1" noTextEdit="1"/>
              </p:cNvSpPr>
              <p:nvPr/>
            </p:nvSpPr>
            <p:spPr>
              <a:xfrm>
                <a:off x="2987867" y="1438865"/>
                <a:ext cx="1768235" cy="369332"/>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CD488F9D-3897-E8B7-D828-429EACE8C61F}"/>
                  </a:ext>
                </a:extLst>
              </p:cNvPr>
              <p:cNvSpPr txBox="1"/>
              <p:nvPr/>
            </p:nvSpPr>
            <p:spPr>
              <a:xfrm>
                <a:off x="2987867" y="4680472"/>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:20,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:14</m:t>
                      </m:r>
                    </m:oMath>
                  </m:oMathPara>
                </a14:m>
                <a:endParaRPr kumimoji="1" lang="ja-JP" altLang="en-US" strike="sngStrike">
                  <a:solidFill>
                    <a:srgbClr val="FF0000"/>
                  </a:solidFill>
                </a:endParaRPr>
              </a:p>
            </p:txBody>
          </p:sp>
        </mc:Choice>
        <mc:Fallback xmlns="">
          <p:sp>
            <p:nvSpPr>
              <p:cNvPr id="19" name="テキスト ボックス 18">
                <a:extLst>
                  <a:ext uri="{FF2B5EF4-FFF2-40B4-BE49-F238E27FC236}">
                    <a16:creationId xmlns:a16="http://schemas.microsoft.com/office/drawing/2014/main" id="{CD488F9D-3897-E8B7-D828-429EACE8C61F}"/>
                  </a:ext>
                </a:extLst>
              </p:cNvPr>
              <p:cNvSpPr txBox="1">
                <a:spLocks noRot="1" noChangeAspect="1" noMove="1" noResize="1" noEditPoints="1" noAdjustHandles="1" noChangeArrowheads="1" noChangeShapeType="1" noTextEdit="1"/>
              </p:cNvSpPr>
              <p:nvPr/>
            </p:nvSpPr>
            <p:spPr>
              <a:xfrm>
                <a:off x="2987867" y="4680472"/>
                <a:ext cx="1768235" cy="369332"/>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476C2A88-7B2C-5154-5BA4-55EDEE9BE50B}"/>
                  </a:ext>
                </a:extLst>
              </p:cNvPr>
              <p:cNvSpPr txBox="1"/>
              <p:nvPr/>
            </p:nvSpPr>
            <p:spPr>
              <a:xfrm>
                <a:off x="5283709" y="1076594"/>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:42,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:34</m:t>
                      </m:r>
                    </m:oMath>
                  </m:oMathPara>
                </a14:m>
                <a:endParaRPr kumimoji="1" lang="ja-JP" altLang="en-US" strike="sngStrike">
                  <a:solidFill>
                    <a:srgbClr val="FF0000"/>
                  </a:solidFill>
                </a:endParaRPr>
              </a:p>
            </p:txBody>
          </p:sp>
        </mc:Choice>
        <mc:Fallback xmlns="">
          <p:sp>
            <p:nvSpPr>
              <p:cNvPr id="20" name="テキスト ボックス 19">
                <a:extLst>
                  <a:ext uri="{FF2B5EF4-FFF2-40B4-BE49-F238E27FC236}">
                    <a16:creationId xmlns:a16="http://schemas.microsoft.com/office/drawing/2014/main" id="{476C2A88-7B2C-5154-5BA4-55EDEE9BE50B}"/>
                  </a:ext>
                </a:extLst>
              </p:cNvPr>
              <p:cNvSpPr txBox="1">
                <a:spLocks noRot="1" noChangeAspect="1" noMove="1" noResize="1" noEditPoints="1" noAdjustHandles="1" noChangeArrowheads="1" noChangeShapeType="1" noTextEdit="1"/>
              </p:cNvSpPr>
              <p:nvPr/>
            </p:nvSpPr>
            <p:spPr>
              <a:xfrm>
                <a:off x="5283709" y="1076594"/>
                <a:ext cx="1768235" cy="369332"/>
              </a:xfrm>
              <a:prstGeom prst="rect">
                <a:avLst/>
              </a:prstGeom>
              <a:blipFill>
                <a:blip r:embed="rId1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1672FAB-810A-6673-547D-601D454C343C}"/>
                  </a:ext>
                </a:extLst>
              </p:cNvPr>
              <p:cNvSpPr txBox="1"/>
              <p:nvPr/>
            </p:nvSpPr>
            <p:spPr>
              <a:xfrm>
                <a:off x="4705170" y="5263870"/>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trike="sngStrike" smtClean="0">
                          <a:solidFill>
                            <a:srgbClr val="FF0000"/>
                          </a:solidFill>
                          <a:latin typeface="Cambria Math" panose="02040503050406030204" pitchFamily="18" charset="0"/>
                        </a:rPr>
                        <m:t>𝑚𝑢𝑙</m:t>
                      </m:r>
                      <m:r>
                        <a:rPr kumimoji="1" lang="en-US" altLang="ja-JP" b="0" i="1" strike="sngStrike" smtClean="0">
                          <a:solidFill>
                            <a:srgbClr val="FF0000"/>
                          </a:solidFill>
                          <a:latin typeface="Cambria Math" panose="02040503050406030204" pitchFamily="18" charset="0"/>
                        </a:rPr>
                        <m:t>:42, </m:t>
                      </m:r>
                      <m:r>
                        <a:rPr kumimoji="1" lang="en-US" altLang="ja-JP" b="0" i="1" strike="sngStrike" smtClean="0">
                          <a:solidFill>
                            <a:srgbClr val="FF0000"/>
                          </a:solidFill>
                          <a:latin typeface="Cambria Math" panose="02040503050406030204" pitchFamily="18" charset="0"/>
                        </a:rPr>
                        <m:t>𝑎𝑑𝑑</m:t>
                      </m:r>
                      <m:r>
                        <a:rPr kumimoji="1" lang="en-US" altLang="ja-JP" b="0" i="1" strike="sngStrike" smtClean="0">
                          <a:solidFill>
                            <a:srgbClr val="FF0000"/>
                          </a:solidFill>
                          <a:latin typeface="Cambria Math" panose="02040503050406030204" pitchFamily="18" charset="0"/>
                        </a:rPr>
                        <m:t>:34</m:t>
                      </m:r>
                    </m:oMath>
                  </m:oMathPara>
                </a14:m>
                <a:endParaRPr kumimoji="1" lang="ja-JP" altLang="en-US" strike="sngStrike">
                  <a:solidFill>
                    <a:srgbClr val="FF0000"/>
                  </a:solidFill>
                </a:endParaRPr>
              </a:p>
            </p:txBody>
          </p:sp>
        </mc:Choice>
        <mc:Fallback xmlns="">
          <p:sp>
            <p:nvSpPr>
              <p:cNvPr id="21" name="テキスト ボックス 20">
                <a:extLst>
                  <a:ext uri="{FF2B5EF4-FFF2-40B4-BE49-F238E27FC236}">
                    <a16:creationId xmlns:a16="http://schemas.microsoft.com/office/drawing/2014/main" id="{91672FAB-810A-6673-547D-601D454C343C}"/>
                  </a:ext>
                </a:extLst>
              </p:cNvPr>
              <p:cNvSpPr txBox="1">
                <a:spLocks noRot="1" noChangeAspect="1" noMove="1" noResize="1" noEditPoints="1" noAdjustHandles="1" noChangeArrowheads="1" noChangeShapeType="1" noTextEdit="1"/>
              </p:cNvSpPr>
              <p:nvPr/>
            </p:nvSpPr>
            <p:spPr>
              <a:xfrm>
                <a:off x="4705170" y="5263870"/>
                <a:ext cx="1768235" cy="369332"/>
              </a:xfrm>
              <a:prstGeom prst="rect">
                <a:avLst/>
              </a:prstGeom>
              <a:blipFill>
                <a:blip r:embed="rId1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AF8E0247-ECF1-E12E-7765-FAA2923B794A}"/>
                  </a:ext>
                </a:extLst>
              </p:cNvPr>
              <p:cNvSpPr txBox="1"/>
              <p:nvPr/>
            </p:nvSpPr>
            <p:spPr>
              <a:xfrm>
                <a:off x="2523294" y="76014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solidFill>
                            <a:srgbClr val="FF0000"/>
                          </a:solidFill>
                          <a:latin typeface="Cambria Math" panose="02040503050406030204" pitchFamily="18" charset="0"/>
                        </a:rPr>
                        <m:t>𝒎𝒖𝒍</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𝟖𝟒</m:t>
                      </m:r>
                      <m:r>
                        <a:rPr kumimoji="1" lang="en-US" altLang="ja-JP" b="1" i="1" smtClean="0">
                          <a:solidFill>
                            <a:srgbClr val="FF0000"/>
                          </a:solidFill>
                          <a:latin typeface="Cambria Math" panose="02040503050406030204" pitchFamily="18" charset="0"/>
                        </a:rPr>
                        <m:t>, </m:t>
                      </m:r>
                      <m:r>
                        <a:rPr kumimoji="1" lang="en-US" altLang="ja-JP" b="1" i="1" smtClean="0">
                          <a:solidFill>
                            <a:srgbClr val="FF0000"/>
                          </a:solidFill>
                          <a:latin typeface="Cambria Math" panose="02040503050406030204" pitchFamily="18" charset="0"/>
                        </a:rPr>
                        <m:t>𝒂𝒅𝒅</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𝟕𝟎</m:t>
                      </m:r>
                    </m:oMath>
                  </m:oMathPara>
                </a14:m>
                <a:endParaRPr kumimoji="1" lang="ja-JP" altLang="en-US" b="1">
                  <a:solidFill>
                    <a:srgbClr val="FF0000"/>
                  </a:solidFill>
                </a:endParaRPr>
              </a:p>
            </p:txBody>
          </p:sp>
        </mc:Choice>
        <mc:Fallback xmlns="">
          <p:sp>
            <p:nvSpPr>
              <p:cNvPr id="22" name="テキスト ボックス 21">
                <a:extLst>
                  <a:ext uri="{FF2B5EF4-FFF2-40B4-BE49-F238E27FC236}">
                    <a16:creationId xmlns:a16="http://schemas.microsoft.com/office/drawing/2014/main" id="{AF8E0247-ECF1-E12E-7765-FAA2923B794A}"/>
                  </a:ext>
                </a:extLst>
              </p:cNvPr>
              <p:cNvSpPr txBox="1">
                <a:spLocks noRot="1" noChangeAspect="1" noMove="1" noResize="1" noEditPoints="1" noAdjustHandles="1" noChangeArrowheads="1" noChangeShapeType="1" noTextEdit="1"/>
              </p:cNvSpPr>
              <p:nvPr/>
            </p:nvSpPr>
            <p:spPr>
              <a:xfrm>
                <a:off x="2523294" y="760145"/>
                <a:ext cx="1768235" cy="369332"/>
              </a:xfrm>
              <a:prstGeom prst="rect">
                <a:avLst/>
              </a:prstGeom>
              <a:blipFill>
                <a:blip r:embed="rId14"/>
                <a:stretch>
                  <a:fillRect r="-6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2D79C44B-6687-646C-B47D-FE0406FBEECA}"/>
                  </a:ext>
                </a:extLst>
              </p:cNvPr>
              <p:cNvSpPr txBox="1"/>
              <p:nvPr/>
            </p:nvSpPr>
            <p:spPr>
              <a:xfrm>
                <a:off x="8176952" y="3678586"/>
                <a:ext cx="24939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2" name="テキスト ボックス 1">
                <a:extLst>
                  <a:ext uri="{FF2B5EF4-FFF2-40B4-BE49-F238E27FC236}">
                    <a16:creationId xmlns:a16="http://schemas.microsoft.com/office/drawing/2014/main" id="{2D79C44B-6687-646C-B47D-FE0406FBEECA}"/>
                  </a:ext>
                </a:extLst>
              </p:cNvPr>
              <p:cNvSpPr txBox="1">
                <a:spLocks noRot="1" noChangeAspect="1" noMove="1" noResize="1" noEditPoints="1" noAdjustHandles="1" noChangeArrowheads="1" noChangeShapeType="1" noTextEdit="1"/>
              </p:cNvSpPr>
              <p:nvPr/>
            </p:nvSpPr>
            <p:spPr>
              <a:xfrm>
                <a:off x="8176952" y="3678586"/>
                <a:ext cx="249395" cy="276999"/>
              </a:xfrm>
              <a:prstGeom prst="rect">
                <a:avLst/>
              </a:prstGeom>
              <a:blipFill>
                <a:blip r:embed="rId15"/>
                <a:stretch>
                  <a:fillRect l="-4762" r="-4762" b="-43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28158850-4FF8-CF0E-FC38-F1FE4B1A95C8}"/>
                  </a:ext>
                </a:extLst>
              </p:cNvPr>
              <p:cNvSpPr txBox="1"/>
              <p:nvPr/>
            </p:nvSpPr>
            <p:spPr>
              <a:xfrm>
                <a:off x="9099629" y="3678586"/>
                <a:ext cx="24939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6" name="テキスト ボックス 5">
                <a:extLst>
                  <a:ext uri="{FF2B5EF4-FFF2-40B4-BE49-F238E27FC236}">
                    <a16:creationId xmlns:a16="http://schemas.microsoft.com/office/drawing/2014/main" id="{28158850-4FF8-CF0E-FC38-F1FE4B1A95C8}"/>
                  </a:ext>
                </a:extLst>
              </p:cNvPr>
              <p:cNvSpPr txBox="1">
                <a:spLocks noRot="1" noChangeAspect="1" noMove="1" noResize="1" noEditPoints="1" noAdjustHandles="1" noChangeArrowheads="1" noChangeShapeType="1" noTextEdit="1"/>
              </p:cNvSpPr>
              <p:nvPr/>
            </p:nvSpPr>
            <p:spPr>
              <a:xfrm>
                <a:off x="9099629" y="3678586"/>
                <a:ext cx="249395" cy="276999"/>
              </a:xfrm>
              <a:prstGeom prst="rect">
                <a:avLst/>
              </a:prstGeom>
              <a:blipFill>
                <a:blip r:embed="rId16"/>
                <a:stretch>
                  <a:fillRect l="-4762" r="-4762" b="-43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7A1F3633-FD03-3FF5-AA3A-A96CF02B819F}"/>
                  </a:ext>
                </a:extLst>
              </p:cNvPr>
              <p:cNvSpPr txBox="1"/>
              <p:nvPr/>
            </p:nvSpPr>
            <p:spPr>
              <a:xfrm>
                <a:off x="5283709" y="1994580"/>
                <a:ext cx="2856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7" name="テキスト ボックス 6">
                <a:extLst>
                  <a:ext uri="{FF2B5EF4-FFF2-40B4-BE49-F238E27FC236}">
                    <a16:creationId xmlns:a16="http://schemas.microsoft.com/office/drawing/2014/main" id="{7A1F3633-FD03-3FF5-AA3A-A96CF02B819F}"/>
                  </a:ext>
                </a:extLst>
              </p:cNvPr>
              <p:cNvSpPr txBox="1">
                <a:spLocks noRot="1" noChangeAspect="1" noMove="1" noResize="1" noEditPoints="1" noAdjustHandles="1" noChangeArrowheads="1" noChangeShapeType="1" noTextEdit="1"/>
              </p:cNvSpPr>
              <p:nvPr/>
            </p:nvSpPr>
            <p:spPr>
              <a:xfrm>
                <a:off x="5283709" y="1994580"/>
                <a:ext cx="285665" cy="369332"/>
              </a:xfrm>
              <a:prstGeom prst="rect">
                <a:avLst/>
              </a:prstGeom>
              <a:blipFill>
                <a:blip r:embed="rId17"/>
                <a:stretch>
                  <a:fillRect r="-43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F972BDE8-DB62-E3D0-853B-1F996AB435C2}"/>
                  </a:ext>
                </a:extLst>
              </p:cNvPr>
              <p:cNvSpPr txBox="1"/>
              <p:nvPr/>
            </p:nvSpPr>
            <p:spPr>
              <a:xfrm>
                <a:off x="6777383" y="1713394"/>
                <a:ext cx="13995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:6,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:2</m:t>
                      </m:r>
                    </m:oMath>
                  </m:oMathPara>
                </a14:m>
                <a:endParaRPr kumimoji="1" lang="ja-JP" altLang="en-US">
                  <a:solidFill>
                    <a:srgbClr val="0070C0"/>
                  </a:solidFill>
                </a:endParaRPr>
              </a:p>
            </p:txBody>
          </p:sp>
        </mc:Choice>
        <mc:Fallback xmlns="">
          <p:sp>
            <p:nvSpPr>
              <p:cNvPr id="9" name="テキスト ボックス 8">
                <a:extLst>
                  <a:ext uri="{FF2B5EF4-FFF2-40B4-BE49-F238E27FC236}">
                    <a16:creationId xmlns:a16="http://schemas.microsoft.com/office/drawing/2014/main" id="{F972BDE8-DB62-E3D0-853B-1F996AB435C2}"/>
                  </a:ext>
                </a:extLst>
              </p:cNvPr>
              <p:cNvSpPr txBox="1">
                <a:spLocks noRot="1" noChangeAspect="1" noMove="1" noResize="1" noEditPoints="1" noAdjustHandles="1" noChangeArrowheads="1" noChangeShapeType="1" noTextEdit="1"/>
              </p:cNvSpPr>
              <p:nvPr/>
            </p:nvSpPr>
            <p:spPr>
              <a:xfrm>
                <a:off x="6777383" y="1713394"/>
                <a:ext cx="1399570" cy="369332"/>
              </a:xfrm>
              <a:prstGeom prst="rect">
                <a:avLst/>
              </a:prstGeom>
              <a:blipFill>
                <a:blip r:embed="rId18"/>
                <a:stretch>
                  <a:fillRect r="-810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396D8C1-22ED-5381-33B9-5FB8C273DF4F}"/>
                  </a:ext>
                </a:extLst>
              </p:cNvPr>
              <p:cNvSpPr txBox="1"/>
              <p:nvPr/>
            </p:nvSpPr>
            <p:spPr>
              <a:xfrm>
                <a:off x="6452072" y="4160894"/>
                <a:ext cx="13995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:6,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:2</m:t>
                      </m:r>
                    </m:oMath>
                  </m:oMathPara>
                </a14:m>
                <a:endParaRPr kumimoji="1" lang="ja-JP" altLang="en-US">
                  <a:solidFill>
                    <a:srgbClr val="0070C0"/>
                  </a:solidFill>
                </a:endParaRPr>
              </a:p>
            </p:txBody>
          </p:sp>
        </mc:Choice>
        <mc:Fallback xmlns="">
          <p:sp>
            <p:nvSpPr>
              <p:cNvPr id="10" name="テキスト ボックス 9">
                <a:extLst>
                  <a:ext uri="{FF2B5EF4-FFF2-40B4-BE49-F238E27FC236}">
                    <a16:creationId xmlns:a16="http://schemas.microsoft.com/office/drawing/2014/main" id="{A396D8C1-22ED-5381-33B9-5FB8C273DF4F}"/>
                  </a:ext>
                </a:extLst>
              </p:cNvPr>
              <p:cNvSpPr txBox="1">
                <a:spLocks noRot="1" noChangeAspect="1" noMove="1" noResize="1" noEditPoints="1" noAdjustHandles="1" noChangeArrowheads="1" noChangeShapeType="1" noTextEdit="1"/>
              </p:cNvSpPr>
              <p:nvPr/>
            </p:nvSpPr>
            <p:spPr>
              <a:xfrm>
                <a:off x="6452072" y="4160894"/>
                <a:ext cx="1399570" cy="369332"/>
              </a:xfrm>
              <a:prstGeom prst="rect">
                <a:avLst/>
              </a:prstGeom>
              <a:blipFill>
                <a:blip r:embed="rId19"/>
                <a:stretch>
                  <a:fillRect r="-71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6B2AD8E8-0A92-C788-D826-A8A326245050}"/>
                  </a:ext>
                </a:extLst>
              </p:cNvPr>
              <p:cNvSpPr txBox="1"/>
              <p:nvPr/>
            </p:nvSpPr>
            <p:spPr>
              <a:xfrm>
                <a:off x="4670566" y="1421695"/>
                <a:ext cx="16392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:12,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:6</m:t>
                      </m:r>
                    </m:oMath>
                  </m:oMathPara>
                </a14:m>
                <a:endParaRPr kumimoji="1" lang="ja-JP" altLang="en-US">
                  <a:solidFill>
                    <a:srgbClr val="0070C0"/>
                  </a:solidFill>
                </a:endParaRPr>
              </a:p>
            </p:txBody>
          </p:sp>
        </mc:Choice>
        <mc:Fallback xmlns="">
          <p:sp>
            <p:nvSpPr>
              <p:cNvPr id="23" name="テキスト ボックス 22">
                <a:extLst>
                  <a:ext uri="{FF2B5EF4-FFF2-40B4-BE49-F238E27FC236}">
                    <a16:creationId xmlns:a16="http://schemas.microsoft.com/office/drawing/2014/main" id="{6B2AD8E8-0A92-C788-D826-A8A326245050}"/>
                  </a:ext>
                </a:extLst>
              </p:cNvPr>
              <p:cNvSpPr txBox="1">
                <a:spLocks noRot="1" noChangeAspect="1" noMove="1" noResize="1" noEditPoints="1" noAdjustHandles="1" noChangeArrowheads="1" noChangeShapeType="1" noTextEdit="1"/>
              </p:cNvSpPr>
              <p:nvPr/>
            </p:nvSpPr>
            <p:spPr>
              <a:xfrm>
                <a:off x="4670566" y="1421695"/>
                <a:ext cx="1639260" cy="369332"/>
              </a:xfrm>
              <a:prstGeom prst="rect">
                <a:avLst/>
              </a:prstGeom>
              <a:blipFill>
                <a:blip r:embed="rId2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76E4FB5D-F011-042F-37FA-6BE2966C81A3}"/>
                  </a:ext>
                </a:extLst>
              </p:cNvPr>
              <p:cNvSpPr txBox="1"/>
              <p:nvPr/>
            </p:nvSpPr>
            <p:spPr>
              <a:xfrm>
                <a:off x="4670566" y="4672826"/>
                <a:ext cx="16392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:12,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:6</m:t>
                      </m:r>
                    </m:oMath>
                  </m:oMathPara>
                </a14:m>
                <a:endParaRPr kumimoji="1" lang="ja-JP" altLang="en-US">
                  <a:solidFill>
                    <a:srgbClr val="0070C0"/>
                  </a:solidFill>
                </a:endParaRPr>
              </a:p>
            </p:txBody>
          </p:sp>
        </mc:Choice>
        <mc:Fallback xmlns="">
          <p:sp>
            <p:nvSpPr>
              <p:cNvPr id="25" name="テキスト ボックス 24">
                <a:extLst>
                  <a:ext uri="{FF2B5EF4-FFF2-40B4-BE49-F238E27FC236}">
                    <a16:creationId xmlns:a16="http://schemas.microsoft.com/office/drawing/2014/main" id="{76E4FB5D-F011-042F-37FA-6BE2966C81A3}"/>
                  </a:ext>
                </a:extLst>
              </p:cNvPr>
              <p:cNvSpPr txBox="1">
                <a:spLocks noRot="1" noChangeAspect="1" noMove="1" noResize="1" noEditPoints="1" noAdjustHandles="1" noChangeArrowheads="1" noChangeShapeType="1" noTextEdit="1"/>
              </p:cNvSpPr>
              <p:nvPr/>
            </p:nvSpPr>
            <p:spPr>
              <a:xfrm>
                <a:off x="4670566" y="4672826"/>
                <a:ext cx="1639260" cy="369332"/>
              </a:xfrm>
              <a:prstGeom prst="rect">
                <a:avLst/>
              </a:prstGeom>
              <a:blipFill>
                <a:blip r:embed="rId2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CACD5B4B-D083-AB3F-9A81-6E253161AE80}"/>
                  </a:ext>
                </a:extLst>
              </p:cNvPr>
              <p:cNvSpPr txBox="1"/>
              <p:nvPr/>
            </p:nvSpPr>
            <p:spPr>
              <a:xfrm>
                <a:off x="6332227" y="5263870"/>
                <a:ext cx="16392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:26,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:18</m:t>
                      </m:r>
                    </m:oMath>
                  </m:oMathPara>
                </a14:m>
                <a:endParaRPr kumimoji="1" lang="ja-JP" altLang="en-US">
                  <a:solidFill>
                    <a:srgbClr val="0070C0"/>
                  </a:solidFill>
                </a:endParaRPr>
              </a:p>
            </p:txBody>
          </p:sp>
        </mc:Choice>
        <mc:Fallback xmlns="">
          <p:sp>
            <p:nvSpPr>
              <p:cNvPr id="26" name="テキスト ボックス 25">
                <a:extLst>
                  <a:ext uri="{FF2B5EF4-FFF2-40B4-BE49-F238E27FC236}">
                    <a16:creationId xmlns:a16="http://schemas.microsoft.com/office/drawing/2014/main" id="{CACD5B4B-D083-AB3F-9A81-6E253161AE80}"/>
                  </a:ext>
                </a:extLst>
              </p:cNvPr>
              <p:cNvSpPr txBox="1">
                <a:spLocks noRot="1" noChangeAspect="1" noMove="1" noResize="1" noEditPoints="1" noAdjustHandles="1" noChangeArrowheads="1" noChangeShapeType="1" noTextEdit="1"/>
              </p:cNvSpPr>
              <p:nvPr/>
            </p:nvSpPr>
            <p:spPr>
              <a:xfrm>
                <a:off x="6332227" y="5263870"/>
                <a:ext cx="1639260" cy="369332"/>
              </a:xfrm>
              <a:prstGeom prst="rect">
                <a:avLst/>
              </a:prstGeom>
              <a:blipFill>
                <a:blip r:embed="rId22"/>
                <a:stretch>
                  <a:fillRect r="-769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C939F8E3-2E45-7D9A-7F36-066A383DEE7C}"/>
                  </a:ext>
                </a:extLst>
              </p:cNvPr>
              <p:cNvSpPr txBox="1"/>
              <p:nvPr/>
            </p:nvSpPr>
            <p:spPr>
              <a:xfrm>
                <a:off x="4200275" y="730484"/>
                <a:ext cx="17763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solidFill>
                            <a:srgbClr val="0070C0"/>
                          </a:solidFill>
                          <a:latin typeface="Cambria Math" panose="02040503050406030204" pitchFamily="18" charset="0"/>
                        </a:rPr>
                        <m:t>𝒎𝒖𝒍</m:t>
                      </m:r>
                      <m:r>
                        <a:rPr kumimoji="1" lang="en-US" altLang="ja-JP" b="1" i="1" smtClean="0">
                          <a:solidFill>
                            <a:srgbClr val="0070C0"/>
                          </a:solidFill>
                          <a:latin typeface="Cambria Math" panose="02040503050406030204" pitchFamily="18" charset="0"/>
                        </a:rPr>
                        <m:t>:</m:t>
                      </m:r>
                      <m:r>
                        <a:rPr kumimoji="1" lang="en-US" altLang="ja-JP" b="1" i="1" smtClean="0">
                          <a:solidFill>
                            <a:srgbClr val="0070C0"/>
                          </a:solidFill>
                          <a:latin typeface="Cambria Math" panose="02040503050406030204" pitchFamily="18" charset="0"/>
                        </a:rPr>
                        <m:t>𝟓𝟐</m:t>
                      </m:r>
                      <m:r>
                        <a:rPr kumimoji="1" lang="en-US" altLang="ja-JP" b="1" i="1" smtClean="0">
                          <a:solidFill>
                            <a:srgbClr val="0070C0"/>
                          </a:solidFill>
                          <a:latin typeface="Cambria Math" panose="02040503050406030204" pitchFamily="18" charset="0"/>
                        </a:rPr>
                        <m:t>, </m:t>
                      </m:r>
                      <m:r>
                        <a:rPr kumimoji="1" lang="en-US" altLang="ja-JP" b="1" i="1" smtClean="0">
                          <a:solidFill>
                            <a:srgbClr val="0070C0"/>
                          </a:solidFill>
                          <a:latin typeface="Cambria Math" panose="02040503050406030204" pitchFamily="18" charset="0"/>
                        </a:rPr>
                        <m:t>𝒂𝒅𝒅</m:t>
                      </m:r>
                      <m:r>
                        <a:rPr kumimoji="1" lang="en-US" altLang="ja-JP" b="1" i="1" smtClean="0">
                          <a:solidFill>
                            <a:srgbClr val="0070C0"/>
                          </a:solidFill>
                          <a:latin typeface="Cambria Math" panose="02040503050406030204" pitchFamily="18" charset="0"/>
                        </a:rPr>
                        <m:t>:</m:t>
                      </m:r>
                      <m:r>
                        <a:rPr kumimoji="1" lang="en-US" altLang="ja-JP" b="1" i="1" smtClean="0">
                          <a:solidFill>
                            <a:srgbClr val="0070C0"/>
                          </a:solidFill>
                          <a:latin typeface="Cambria Math" panose="02040503050406030204" pitchFamily="18" charset="0"/>
                        </a:rPr>
                        <m:t>𝟑𝟖</m:t>
                      </m:r>
                    </m:oMath>
                  </m:oMathPara>
                </a14:m>
                <a:endParaRPr kumimoji="1" lang="ja-JP" altLang="en-US" b="1">
                  <a:solidFill>
                    <a:srgbClr val="0070C0"/>
                  </a:solidFill>
                </a:endParaRPr>
              </a:p>
            </p:txBody>
          </p:sp>
        </mc:Choice>
        <mc:Fallback xmlns="">
          <p:sp>
            <p:nvSpPr>
              <p:cNvPr id="27" name="テキスト ボックス 26">
                <a:extLst>
                  <a:ext uri="{FF2B5EF4-FFF2-40B4-BE49-F238E27FC236}">
                    <a16:creationId xmlns:a16="http://schemas.microsoft.com/office/drawing/2014/main" id="{C939F8E3-2E45-7D9A-7F36-066A383DEE7C}"/>
                  </a:ext>
                </a:extLst>
              </p:cNvPr>
              <p:cNvSpPr txBox="1">
                <a:spLocks noRot="1" noChangeAspect="1" noMove="1" noResize="1" noEditPoints="1" noAdjustHandles="1" noChangeArrowheads="1" noChangeShapeType="1" noTextEdit="1"/>
              </p:cNvSpPr>
              <p:nvPr/>
            </p:nvSpPr>
            <p:spPr>
              <a:xfrm>
                <a:off x="4200275" y="730484"/>
                <a:ext cx="1776347" cy="369332"/>
              </a:xfrm>
              <a:prstGeom prst="rect">
                <a:avLst/>
              </a:prstGeom>
              <a:blipFill>
                <a:blip r:embed="rId23"/>
                <a:stretch>
                  <a:fillRect r="-567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B984AC99-2CA4-DFF4-5915-B793551E91CA}"/>
                  </a:ext>
                </a:extLst>
              </p:cNvPr>
              <p:cNvSpPr txBox="1"/>
              <p:nvPr/>
            </p:nvSpPr>
            <p:spPr>
              <a:xfrm>
                <a:off x="6633205" y="852478"/>
                <a:ext cx="163926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𝑚𝑢𝑙</m:t>
                      </m:r>
                      <m:r>
                        <a:rPr kumimoji="1" lang="en-US" altLang="ja-JP" b="0" i="1" smtClean="0">
                          <a:solidFill>
                            <a:srgbClr val="0070C0"/>
                          </a:solidFill>
                          <a:latin typeface="Cambria Math" panose="02040503050406030204" pitchFamily="18" charset="0"/>
                        </a:rPr>
                        <m:t>:26, </m:t>
                      </m:r>
                      <m:r>
                        <a:rPr kumimoji="1" lang="en-US" altLang="ja-JP" b="0" i="1" smtClean="0">
                          <a:solidFill>
                            <a:srgbClr val="0070C0"/>
                          </a:solidFill>
                          <a:latin typeface="Cambria Math" panose="02040503050406030204" pitchFamily="18" charset="0"/>
                        </a:rPr>
                        <m:t>𝑎𝑑𝑑</m:t>
                      </m:r>
                      <m:r>
                        <a:rPr kumimoji="1" lang="en-US" altLang="ja-JP" b="0" i="1" smtClean="0">
                          <a:solidFill>
                            <a:srgbClr val="0070C0"/>
                          </a:solidFill>
                          <a:latin typeface="Cambria Math" panose="02040503050406030204" pitchFamily="18" charset="0"/>
                        </a:rPr>
                        <m:t>:18</m:t>
                      </m:r>
                    </m:oMath>
                  </m:oMathPara>
                </a14:m>
                <a:endParaRPr kumimoji="1" lang="ja-JP" altLang="en-US">
                  <a:solidFill>
                    <a:srgbClr val="0070C0"/>
                  </a:solidFill>
                </a:endParaRPr>
              </a:p>
            </p:txBody>
          </p:sp>
        </mc:Choice>
        <mc:Fallback xmlns="">
          <p:sp>
            <p:nvSpPr>
              <p:cNvPr id="28" name="テキスト ボックス 27">
                <a:extLst>
                  <a:ext uri="{FF2B5EF4-FFF2-40B4-BE49-F238E27FC236}">
                    <a16:creationId xmlns:a16="http://schemas.microsoft.com/office/drawing/2014/main" id="{B984AC99-2CA4-DFF4-5915-B793551E91CA}"/>
                  </a:ext>
                </a:extLst>
              </p:cNvPr>
              <p:cNvSpPr txBox="1">
                <a:spLocks noRot="1" noChangeAspect="1" noMove="1" noResize="1" noEditPoints="1" noAdjustHandles="1" noChangeArrowheads="1" noChangeShapeType="1" noTextEdit="1"/>
              </p:cNvSpPr>
              <p:nvPr/>
            </p:nvSpPr>
            <p:spPr>
              <a:xfrm>
                <a:off x="6633205" y="852478"/>
                <a:ext cx="1639260" cy="369332"/>
              </a:xfrm>
              <a:prstGeom prst="rect">
                <a:avLst/>
              </a:prstGeom>
              <a:blipFill>
                <a:blip r:embed="rId24"/>
                <a:stretch>
                  <a:fillRect r="-6923"/>
                </a:stretch>
              </a:blipFill>
            </p:spPr>
            <p:txBody>
              <a:bodyPr/>
              <a:lstStyle/>
              <a:p>
                <a:r>
                  <a:rPr lang="ja-JP" altLang="en-US">
                    <a:noFill/>
                  </a:rPr>
                  <a:t> </a:t>
                </a:r>
              </a:p>
            </p:txBody>
          </p:sp>
        </mc:Fallback>
      </mc:AlternateContent>
      <p:pic>
        <p:nvPicPr>
          <p:cNvPr id="12" name="図 11">
            <a:extLst>
              <a:ext uri="{FF2B5EF4-FFF2-40B4-BE49-F238E27FC236}">
                <a16:creationId xmlns:a16="http://schemas.microsoft.com/office/drawing/2014/main" id="{82B55C05-1248-E2E1-1632-B3E6357CCA40}"/>
              </a:ext>
            </a:extLst>
          </p:cNvPr>
          <p:cNvPicPr>
            <a:picLocks noChangeAspect="1"/>
          </p:cNvPicPr>
          <p:nvPr/>
        </p:nvPicPr>
        <p:blipFill>
          <a:blip r:embed="rId25"/>
          <a:srcRect/>
          <a:stretch/>
        </p:blipFill>
        <p:spPr>
          <a:xfrm>
            <a:off x="111800" y="2325923"/>
            <a:ext cx="1838119" cy="1749382"/>
          </a:xfrm>
          <a:prstGeom prst="rect">
            <a:avLst/>
          </a:prstGeom>
        </p:spPr>
      </p:pic>
      <p:sp>
        <p:nvSpPr>
          <p:cNvPr id="13" name="スライド番号プレースホルダー 12">
            <a:extLst>
              <a:ext uri="{FF2B5EF4-FFF2-40B4-BE49-F238E27FC236}">
                <a16:creationId xmlns:a16="http://schemas.microsoft.com/office/drawing/2014/main" id="{7A390365-85AC-F6A0-AE22-BDE63DDBDC46}"/>
              </a:ext>
            </a:extLst>
          </p:cNvPr>
          <p:cNvSpPr>
            <a:spLocks noGrp="1"/>
          </p:cNvSpPr>
          <p:nvPr>
            <p:ph type="sldNum" sz="quarter" idx="12"/>
          </p:nvPr>
        </p:nvSpPr>
        <p:spPr/>
        <p:txBody>
          <a:bodyPr/>
          <a:lstStyle/>
          <a:p>
            <a:fld id="{B7DD3F26-AD0F-FC47-9ED8-571159D68F9B}" type="slidenum">
              <a:rPr kumimoji="1" lang="ja-JP" altLang="en-US" smtClean="0"/>
              <a:t>16</a:t>
            </a:fld>
            <a:endParaRPr kumimoji="1" lang="ja-JP" altLang="en-US"/>
          </a:p>
        </p:txBody>
      </p:sp>
    </p:spTree>
    <p:extLst>
      <p:ext uri="{BB962C8B-B14F-4D97-AF65-F5344CB8AC3E}">
        <p14:creationId xmlns:p14="http://schemas.microsoft.com/office/powerpoint/2010/main" val="3837077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C1B6C-42EA-7F8D-476C-FDD34D9A46B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02A78CBF-722A-FCC7-5E5C-5E5FB86F169A}"/>
                  </a:ext>
                </a:extLst>
              </p:cNvPr>
              <p:cNvSpPr>
                <a:spLocks noGrp="1"/>
              </p:cNvSpPr>
              <p:nvPr>
                <p:ph idx="1"/>
              </p:nvPr>
            </p:nvSpPr>
            <p:spPr>
              <a:xfrm>
                <a:off x="838200" y="738130"/>
                <a:ext cx="6906658" cy="5438833"/>
              </a:xfrm>
            </p:spPr>
            <p:txBody>
              <a:bodyPr>
                <a:normAutofit fontScale="85000" lnSpcReduction="10000"/>
              </a:bodyPr>
              <a:lstStyle/>
              <a:p>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oMath>
                </a14:m>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 </m:t>
                    </m:r>
                    <m:r>
                      <a:rPr lang="en-US" altLang="ja-JP" i="1">
                        <a:latin typeface="Cambria Math" panose="02040503050406030204" pitchFamily="18" charset="0"/>
                      </a:rPr>
                      <m:t>…</m:t>
                    </m:r>
                    <m:r>
                      <a:rPr lang="en-US" altLang="ja-JP" i="1">
                        <a:latin typeface="Cambria Math" panose="02040503050406030204" pitchFamily="18" charset="0"/>
                      </a:rPr>
                      <m:t>①</m:t>
                    </m:r>
                  </m:oMath>
                </a14:m>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e>
                    </m:d>
                  </m:oMath>
                </a14:m>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r>
                      <a:rPr lang="en-US" altLang="ja-JP" i="1" smtClean="0">
                        <a:latin typeface="Cambria Math" panose="02040503050406030204" pitchFamily="18" charset="0"/>
                      </a:rPr>
                      <m:t>②</m:t>
                    </m:r>
                  </m:oMath>
                </a14:m>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oMath>
                </a14:m>
                <a:endParaRPr kumimoji="1" lang="en-US" altLang="ja-JP" b="0" dirty="0"/>
              </a:p>
              <a:p>
                <a:pPr lvl="5"/>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𝐾</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e>
                    </m:d>
                    <m:r>
                      <a:rPr lang="en-US" altLang="ja-JP" i="1">
                        <a:latin typeface="Cambria Math" panose="02040503050406030204" pitchFamily="18" charset="0"/>
                      </a:rPr>
                      <m:t>…</m:t>
                    </m:r>
                    <m:r>
                      <a:rPr lang="en-US" altLang="ja-JP" i="1" smtClean="0">
                        <a:latin typeface="Cambria Math" panose="02040503050406030204" pitchFamily="18" charset="0"/>
                      </a:rPr>
                      <m:t>③</m:t>
                    </m:r>
                  </m:oMath>
                </a14:m>
                <a:endParaRPr kumimoji="1" lang="en-US" altLang="ja-JP" b="0" dirty="0"/>
              </a:p>
              <a:p>
                <a:pPr lvl="6"/>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oMath>
                </a14:m>
                <a:endParaRPr kumimoji="1" lang="en-US" altLang="ja-JP" b="0" dirty="0"/>
              </a:p>
              <a:p>
                <a:pPr lvl="6"/>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𝐾</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oMath>
                </a14:m>
                <a:endParaRPr kumimoji="1" lang="en-US" altLang="ja-JP" b="0" dirty="0"/>
              </a:p>
              <a:p>
                <a:pPr lvl="5"/>
                <a14:m>
                  <m:oMath xmlns:m="http://schemas.openxmlformats.org/officeDocument/2006/math">
                    <m:r>
                      <a:rPr kumimoji="1" lang="en-US" altLang="ja-JP" b="0" i="1" smtClean="0">
                        <a:latin typeface="Cambria Math" panose="02040503050406030204" pitchFamily="18" charset="0"/>
                      </a:rPr>
                      <m:t>𝑎𝑑𝑑</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𝐿</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lang="en-US" altLang="ja-JP" i="1">
                                <a:solidFill>
                                  <a:srgbClr val="0070C0"/>
                                </a:solidFill>
                                <a:latin typeface="Cambria Math" panose="02040503050406030204" pitchFamily="18" charset="0"/>
                              </a:rPr>
                              <m:t>0</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𝑔</m:t>
                            </m:r>
                          </m:e>
                        </m:d>
                      </m:e>
                    </m:d>
                  </m:oMath>
                </a14:m>
                <a:endParaRPr kumimoji="1" lang="en-US" altLang="ja-JP" b="0" dirty="0"/>
              </a:p>
              <a:p>
                <a:pPr lvl="6"/>
                <a:r>
                  <a:rPr kumimoji="1" lang="ja-JP" altLang="en-US" b="0"/>
                  <a:t>省略</a:t>
                </a:r>
                <a:endParaRPr kumimoji="1" lang="en-US" altLang="ja-JP" b="0" dirty="0"/>
              </a:p>
              <a:p>
                <a:pPr lvl="4"/>
                <a14:m>
                  <m:oMath xmlns:m="http://schemas.openxmlformats.org/officeDocument/2006/math">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𝐺</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e>
                    </m:d>
                  </m:oMath>
                </a14:m>
                <a:endParaRPr kumimoji="1" lang="en-US" altLang="ja-JP" b="0" dirty="0"/>
              </a:p>
              <a:p>
                <a:pPr lvl="5"/>
                <a:r>
                  <a:rPr kumimoji="1" lang="ja-JP" altLang="en-US" b="0"/>
                  <a:t>省略</a:t>
                </a:r>
                <a:endParaRPr kumimoji="1" lang="en-US" altLang="ja-JP" b="0" dirty="0"/>
              </a:p>
              <a:p>
                <a:pPr lvl="3"/>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𝑑</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𝐼</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𝑒</m:t>
                    </m:r>
                    <m:r>
                      <a:rPr kumimoji="1" lang="en-US" altLang="ja-JP" b="0" i="1" smtClean="0">
                        <a:latin typeface="Cambria Math" panose="02040503050406030204" pitchFamily="18" charset="0"/>
                      </a:rPr>
                      <m:t>))</m:t>
                    </m:r>
                  </m:oMath>
                </a14:m>
                <a:endParaRPr kumimoji="1" lang="en-US" altLang="ja-JP" b="0" dirty="0"/>
              </a:p>
              <a:p>
                <a:pPr lvl="4"/>
                <a:r>
                  <a:rPr kumimoji="1" lang="ja-JP" altLang="en-US" b="0"/>
                  <a:t>省略</a:t>
                </a:r>
                <a:endParaRPr kumimoji="1" lang="en-US" altLang="ja-JP" b="0" dirty="0"/>
              </a:p>
              <a:p>
                <a:pPr lvl="2"/>
                <a14:m>
                  <m:oMath xmlns:m="http://schemas.openxmlformats.org/officeDocument/2006/math">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𝐶</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lang="en-US" altLang="ja-JP" dirty="0"/>
              </a:p>
              <a:p>
                <a:pPr lvl="3"/>
                <a:r>
                  <a:rPr kumimoji="1" lang="ja-JP" altLang="en-US" b="0"/>
                  <a:t>省略</a:t>
                </a:r>
                <a:endParaRPr kumimoji="1" lang="en-US" altLang="ja-JP" b="0" dirty="0"/>
              </a:p>
              <a:p>
                <a:pPr lvl="1"/>
                <a14:m>
                  <m:oMath xmlns:m="http://schemas.openxmlformats.org/officeDocument/2006/math">
                    <m:r>
                      <a:rPr kumimoji="1" lang="en-US" altLang="ja-JP" b="0" i="1" smtClean="0">
                        <a:latin typeface="Cambria Math" panose="02040503050406030204" pitchFamily="18" charset="0"/>
                      </a:rPr>
                      <m:t>𝑎𝑑𝑑</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𝑚𝑢𝑙</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𝐸</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𝑐</m:t>
                    </m:r>
                    <m:r>
                      <a:rPr kumimoji="1" lang="en-US" altLang="ja-JP" b="0" i="1" smtClean="0">
                        <a:latin typeface="Cambria Math" panose="02040503050406030204" pitchFamily="18" charset="0"/>
                      </a:rPr>
                      <m:t>))</m:t>
                    </m:r>
                  </m:oMath>
                </a14:m>
                <a:endParaRPr kumimoji="1" lang="en-US" altLang="ja-JP" b="0" dirty="0"/>
              </a:p>
              <a:p>
                <a:pPr lvl="2"/>
                <a:r>
                  <a:rPr lang="ja-JP" altLang="en-US"/>
                  <a:t>省略</a:t>
                </a:r>
                <a:endParaRPr kumimoji="1" lang="en-US" altLang="ja-JP" b="0" dirty="0"/>
              </a:p>
            </p:txBody>
          </p:sp>
        </mc:Choice>
        <mc:Fallback xmlns="">
          <p:sp>
            <p:nvSpPr>
              <p:cNvPr id="3" name="コンテンツ プレースホルダー 2">
                <a:extLst>
                  <a:ext uri="{FF2B5EF4-FFF2-40B4-BE49-F238E27FC236}">
                    <a16:creationId xmlns:a16="http://schemas.microsoft.com/office/drawing/2014/main" id="{02A78CBF-722A-FCC7-5E5C-5E5FB86F169A}"/>
                  </a:ext>
                </a:extLst>
              </p:cNvPr>
              <p:cNvSpPr>
                <a:spLocks noGrp="1" noRot="1" noChangeAspect="1" noMove="1" noResize="1" noEditPoints="1" noAdjustHandles="1" noChangeArrowheads="1" noChangeShapeType="1" noTextEdit="1"/>
              </p:cNvSpPr>
              <p:nvPr>
                <p:ph idx="1"/>
              </p:nvPr>
            </p:nvSpPr>
            <p:spPr>
              <a:xfrm>
                <a:off x="838200" y="738130"/>
                <a:ext cx="6906658" cy="5438833"/>
              </a:xfrm>
              <a:blipFill>
                <a:blip r:embed="rId2"/>
                <a:stretch>
                  <a:fillRect l="-1287" t="-1632"/>
                </a:stretch>
              </a:blipFill>
            </p:spPr>
            <p:txBody>
              <a:bodyPr/>
              <a:lstStyle/>
              <a:p>
                <a:r>
                  <a:rPr lang="ja-JP" altLang="en-US">
                    <a:noFill/>
                  </a:rPr>
                  <a:t> </a:t>
                </a:r>
              </a:p>
            </p:txBody>
          </p:sp>
        </mc:Fallback>
      </mc:AlternateContent>
      <p:pic>
        <p:nvPicPr>
          <p:cNvPr id="24" name="図 2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A16379A2-CE1C-B161-5A71-20A9F287BA7D}"/>
              </a:ext>
            </a:extLst>
          </p:cNvPr>
          <p:cNvPicPr>
            <a:picLocks noChangeAspect="1"/>
          </p:cNvPicPr>
          <p:nvPr/>
        </p:nvPicPr>
        <p:blipFill>
          <a:blip r:embed="rId3"/>
          <a:stretch>
            <a:fillRect/>
          </a:stretch>
        </p:blipFill>
        <p:spPr>
          <a:xfrm>
            <a:off x="10409662" y="28546"/>
            <a:ext cx="1670538" cy="6858000"/>
          </a:xfrm>
          <a:prstGeom prst="rect">
            <a:avLst/>
          </a:prstGeom>
        </p:spPr>
      </p:pic>
      <p:pic>
        <p:nvPicPr>
          <p:cNvPr id="4" name="図 3"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63F41A74-2473-664D-FAD5-FCE0F9C8A7BA}"/>
              </a:ext>
            </a:extLst>
          </p:cNvPr>
          <p:cNvPicPr>
            <a:picLocks noChangeAspect="1"/>
          </p:cNvPicPr>
          <p:nvPr/>
        </p:nvPicPr>
        <p:blipFill>
          <a:blip r:embed="rId4"/>
          <a:stretch>
            <a:fillRect/>
          </a:stretch>
        </p:blipFill>
        <p:spPr>
          <a:xfrm>
            <a:off x="7866566" y="28546"/>
            <a:ext cx="1745116" cy="6858000"/>
          </a:xfrm>
          <a:prstGeom prst="rect">
            <a:avLst/>
          </a:prstGeom>
        </p:spPr>
      </p:pic>
      <p:sp>
        <p:nvSpPr>
          <p:cNvPr id="5" name="加算記号 4">
            <a:extLst>
              <a:ext uri="{FF2B5EF4-FFF2-40B4-BE49-F238E27FC236}">
                <a16:creationId xmlns:a16="http://schemas.microsoft.com/office/drawing/2014/main" id="{162AD3F7-AEB7-A803-FA1C-3F763F6AFE26}"/>
              </a:ext>
            </a:extLst>
          </p:cNvPr>
          <p:cNvSpPr/>
          <p:nvPr/>
        </p:nvSpPr>
        <p:spPr>
          <a:xfrm rot="2696788">
            <a:off x="9561046" y="3007918"/>
            <a:ext cx="899255" cy="899255"/>
          </a:xfrm>
          <a:prstGeom prst="mathPlus">
            <a:avLst/>
          </a:prstGeom>
          <a:solidFill>
            <a:schemeClr val="bg1">
              <a:lumMod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995FCB2-C06F-7337-1EFC-5D51DFE67D48}"/>
                  </a:ext>
                </a:extLst>
              </p:cNvPr>
              <p:cNvSpPr txBox="1"/>
              <p:nvPr/>
            </p:nvSpPr>
            <p:spPr>
              <a:xfrm>
                <a:off x="4756102" y="2856249"/>
                <a:ext cx="3009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0</m:t>
                      </m:r>
                    </m:oMath>
                  </m:oMathPara>
                </a14:m>
                <a:endParaRPr kumimoji="1" lang="ja-JP" altLang="en-US">
                  <a:solidFill>
                    <a:srgbClr val="FF0000"/>
                  </a:solidFill>
                </a:endParaRPr>
              </a:p>
            </p:txBody>
          </p:sp>
        </mc:Choice>
        <mc:Fallback xmlns="">
          <p:sp>
            <p:nvSpPr>
              <p:cNvPr id="8" name="テキスト ボックス 7">
                <a:extLst>
                  <a:ext uri="{FF2B5EF4-FFF2-40B4-BE49-F238E27FC236}">
                    <a16:creationId xmlns:a16="http://schemas.microsoft.com/office/drawing/2014/main" id="{3995FCB2-C06F-7337-1EFC-5D51DFE67D48}"/>
                  </a:ext>
                </a:extLst>
              </p:cNvPr>
              <p:cNvSpPr txBox="1">
                <a:spLocks noRot="1" noChangeAspect="1" noMove="1" noResize="1" noEditPoints="1" noAdjustHandles="1" noChangeArrowheads="1" noChangeShapeType="1" noTextEdit="1"/>
              </p:cNvSpPr>
              <p:nvPr/>
            </p:nvSpPr>
            <p:spPr>
              <a:xfrm>
                <a:off x="4756102" y="2856249"/>
                <a:ext cx="300942"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A3DCB1BF-5267-8160-0163-A114B45CA693}"/>
                  </a:ext>
                </a:extLst>
              </p:cNvPr>
              <p:cNvSpPr txBox="1"/>
              <p:nvPr/>
            </p:nvSpPr>
            <p:spPr>
              <a:xfrm>
                <a:off x="4742061" y="2571920"/>
                <a:ext cx="3009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0</m:t>
                      </m:r>
                    </m:oMath>
                  </m:oMathPara>
                </a14:m>
                <a:endParaRPr kumimoji="1" lang="ja-JP" altLang="en-US">
                  <a:solidFill>
                    <a:srgbClr val="FF0000"/>
                  </a:solidFill>
                </a:endParaRPr>
              </a:p>
            </p:txBody>
          </p:sp>
        </mc:Choice>
        <mc:Fallback xmlns="">
          <p:sp>
            <p:nvSpPr>
              <p:cNvPr id="11" name="テキスト ボックス 10">
                <a:extLst>
                  <a:ext uri="{FF2B5EF4-FFF2-40B4-BE49-F238E27FC236}">
                    <a16:creationId xmlns:a16="http://schemas.microsoft.com/office/drawing/2014/main" id="{A3DCB1BF-5267-8160-0163-A114B45CA693}"/>
                  </a:ext>
                </a:extLst>
              </p:cNvPr>
              <p:cNvSpPr txBox="1">
                <a:spLocks noRot="1" noChangeAspect="1" noMove="1" noResize="1" noEditPoints="1" noAdjustHandles="1" noChangeArrowheads="1" noChangeShapeType="1" noTextEdit="1"/>
              </p:cNvSpPr>
              <p:nvPr/>
            </p:nvSpPr>
            <p:spPr>
              <a:xfrm>
                <a:off x="4742061" y="2571920"/>
                <a:ext cx="300942"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2E56F672-B94C-271F-6740-B1D24A851C46}"/>
                  </a:ext>
                </a:extLst>
              </p:cNvPr>
              <p:cNvSpPr txBox="1"/>
              <p:nvPr/>
            </p:nvSpPr>
            <p:spPr>
              <a:xfrm>
                <a:off x="6155140" y="2264846"/>
                <a:ext cx="7779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2" name="テキスト ボックス 11">
                <a:extLst>
                  <a:ext uri="{FF2B5EF4-FFF2-40B4-BE49-F238E27FC236}">
                    <a16:creationId xmlns:a16="http://schemas.microsoft.com/office/drawing/2014/main" id="{2E56F672-B94C-271F-6740-B1D24A851C46}"/>
                  </a:ext>
                </a:extLst>
              </p:cNvPr>
              <p:cNvSpPr txBox="1">
                <a:spLocks noRot="1" noChangeAspect="1" noMove="1" noResize="1" noEditPoints="1" noAdjustHandles="1" noChangeArrowheads="1" noChangeShapeType="1" noTextEdit="1"/>
              </p:cNvSpPr>
              <p:nvPr/>
            </p:nvSpPr>
            <p:spPr>
              <a:xfrm>
                <a:off x="6155140" y="2264846"/>
                <a:ext cx="777921" cy="369332"/>
              </a:xfrm>
              <a:prstGeom prst="rect">
                <a:avLst/>
              </a:prstGeom>
              <a:blipFill>
                <a:blip r:embed="rId7"/>
                <a:stretch>
                  <a:fillRect r="-32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3CD2071E-1485-FA4E-990A-170E21595B71}"/>
                  </a:ext>
                </a:extLst>
              </p:cNvPr>
              <p:cNvSpPr txBox="1"/>
              <p:nvPr/>
            </p:nvSpPr>
            <p:spPr>
              <a:xfrm>
                <a:off x="5904001" y="3113152"/>
                <a:ext cx="7779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3" name="テキスト ボックス 12">
                <a:extLst>
                  <a:ext uri="{FF2B5EF4-FFF2-40B4-BE49-F238E27FC236}">
                    <a16:creationId xmlns:a16="http://schemas.microsoft.com/office/drawing/2014/main" id="{3CD2071E-1485-FA4E-990A-170E21595B71}"/>
                  </a:ext>
                </a:extLst>
              </p:cNvPr>
              <p:cNvSpPr txBox="1">
                <a:spLocks noRot="1" noChangeAspect="1" noMove="1" noResize="1" noEditPoints="1" noAdjustHandles="1" noChangeArrowheads="1" noChangeShapeType="1" noTextEdit="1"/>
              </p:cNvSpPr>
              <p:nvPr/>
            </p:nvSpPr>
            <p:spPr>
              <a:xfrm>
                <a:off x="5904001" y="3113152"/>
                <a:ext cx="777921" cy="369332"/>
              </a:xfrm>
              <a:prstGeom prst="rect">
                <a:avLst/>
              </a:prstGeom>
              <a:blipFill>
                <a:blip r:embed="rId8"/>
                <a:stretch>
                  <a:fillRect r="-161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B1360A42-DB03-9D55-C817-B3063A1E0DB7}"/>
                  </a:ext>
                </a:extLst>
              </p:cNvPr>
              <p:cNvSpPr txBox="1"/>
              <p:nvPr/>
            </p:nvSpPr>
            <p:spPr>
              <a:xfrm>
                <a:off x="3836725" y="1994580"/>
                <a:ext cx="1505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4" name="テキスト ボックス 13">
                <a:extLst>
                  <a:ext uri="{FF2B5EF4-FFF2-40B4-BE49-F238E27FC236}">
                    <a16:creationId xmlns:a16="http://schemas.microsoft.com/office/drawing/2014/main" id="{B1360A42-DB03-9D55-C817-B3063A1E0DB7}"/>
                  </a:ext>
                </a:extLst>
              </p:cNvPr>
              <p:cNvSpPr txBox="1">
                <a:spLocks noRot="1" noChangeAspect="1" noMove="1" noResize="1" noEditPoints="1" noAdjustHandles="1" noChangeArrowheads="1" noChangeShapeType="1" noTextEdit="1"/>
              </p:cNvSpPr>
              <p:nvPr/>
            </p:nvSpPr>
            <p:spPr>
              <a:xfrm>
                <a:off x="3836725" y="1994580"/>
                <a:ext cx="1505041" cy="369332"/>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BC18FB10-3B82-A0A9-38B0-87D7A60CB87A}"/>
                  </a:ext>
                </a:extLst>
              </p:cNvPr>
              <p:cNvSpPr txBox="1"/>
              <p:nvPr/>
            </p:nvSpPr>
            <p:spPr>
              <a:xfrm>
                <a:off x="3778668" y="3632420"/>
                <a:ext cx="1505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:2</m:t>
                      </m:r>
                    </m:oMath>
                  </m:oMathPara>
                </a14:m>
                <a:endParaRPr kumimoji="1" lang="ja-JP" altLang="en-US">
                  <a:solidFill>
                    <a:srgbClr val="FF0000"/>
                  </a:solidFill>
                </a:endParaRPr>
              </a:p>
            </p:txBody>
          </p:sp>
        </mc:Choice>
        <mc:Fallback xmlns="">
          <p:sp>
            <p:nvSpPr>
              <p:cNvPr id="15" name="テキスト ボックス 14">
                <a:extLst>
                  <a:ext uri="{FF2B5EF4-FFF2-40B4-BE49-F238E27FC236}">
                    <a16:creationId xmlns:a16="http://schemas.microsoft.com/office/drawing/2014/main" id="{BC18FB10-3B82-A0A9-38B0-87D7A60CB87A}"/>
                  </a:ext>
                </a:extLst>
              </p:cNvPr>
              <p:cNvSpPr txBox="1">
                <a:spLocks noRot="1" noChangeAspect="1" noMove="1" noResize="1" noEditPoints="1" noAdjustHandles="1" noChangeArrowheads="1" noChangeShapeType="1" noTextEdit="1"/>
              </p:cNvSpPr>
              <p:nvPr/>
            </p:nvSpPr>
            <p:spPr>
              <a:xfrm>
                <a:off x="3778668" y="3632420"/>
                <a:ext cx="1505041" cy="369332"/>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8980A3EA-BCFC-575F-EDA3-6C8C50B01E25}"/>
                  </a:ext>
                </a:extLst>
              </p:cNvPr>
              <p:cNvSpPr txBox="1"/>
              <p:nvPr/>
            </p:nvSpPr>
            <p:spPr>
              <a:xfrm>
                <a:off x="5223659" y="1713394"/>
                <a:ext cx="16265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:10,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:6</m:t>
                      </m:r>
                    </m:oMath>
                  </m:oMathPara>
                </a14:m>
                <a:endParaRPr kumimoji="1" lang="ja-JP" altLang="en-US">
                  <a:solidFill>
                    <a:srgbClr val="FF0000"/>
                  </a:solidFill>
                </a:endParaRPr>
              </a:p>
            </p:txBody>
          </p:sp>
        </mc:Choice>
        <mc:Fallback xmlns="">
          <p:sp>
            <p:nvSpPr>
              <p:cNvPr id="16" name="テキスト ボックス 15">
                <a:extLst>
                  <a:ext uri="{FF2B5EF4-FFF2-40B4-BE49-F238E27FC236}">
                    <a16:creationId xmlns:a16="http://schemas.microsoft.com/office/drawing/2014/main" id="{8980A3EA-BCFC-575F-EDA3-6C8C50B01E25}"/>
                  </a:ext>
                </a:extLst>
              </p:cNvPr>
              <p:cNvSpPr txBox="1">
                <a:spLocks noRot="1" noChangeAspect="1" noMove="1" noResize="1" noEditPoints="1" noAdjustHandles="1" noChangeArrowheads="1" noChangeShapeType="1" noTextEdit="1"/>
              </p:cNvSpPr>
              <p:nvPr/>
            </p:nvSpPr>
            <p:spPr>
              <a:xfrm>
                <a:off x="5223659" y="1713394"/>
                <a:ext cx="1626577" cy="369332"/>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794D8CFB-537D-BED2-25BD-91AA67941BDC}"/>
                  </a:ext>
                </a:extLst>
              </p:cNvPr>
              <p:cNvSpPr txBox="1"/>
              <p:nvPr/>
            </p:nvSpPr>
            <p:spPr>
              <a:xfrm>
                <a:off x="4831177" y="4160894"/>
                <a:ext cx="162657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:10,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:6</m:t>
                      </m:r>
                    </m:oMath>
                  </m:oMathPara>
                </a14:m>
                <a:endParaRPr kumimoji="1" lang="ja-JP" altLang="en-US">
                  <a:solidFill>
                    <a:srgbClr val="FF0000"/>
                  </a:solidFill>
                </a:endParaRPr>
              </a:p>
            </p:txBody>
          </p:sp>
        </mc:Choice>
        <mc:Fallback xmlns="">
          <p:sp>
            <p:nvSpPr>
              <p:cNvPr id="17" name="テキスト ボックス 16">
                <a:extLst>
                  <a:ext uri="{FF2B5EF4-FFF2-40B4-BE49-F238E27FC236}">
                    <a16:creationId xmlns:a16="http://schemas.microsoft.com/office/drawing/2014/main" id="{794D8CFB-537D-BED2-25BD-91AA67941BDC}"/>
                  </a:ext>
                </a:extLst>
              </p:cNvPr>
              <p:cNvSpPr txBox="1">
                <a:spLocks noRot="1" noChangeAspect="1" noMove="1" noResize="1" noEditPoints="1" noAdjustHandles="1" noChangeArrowheads="1" noChangeShapeType="1" noTextEdit="1"/>
              </p:cNvSpPr>
              <p:nvPr/>
            </p:nvSpPr>
            <p:spPr>
              <a:xfrm>
                <a:off x="4831177" y="4160894"/>
                <a:ext cx="1626577" cy="369332"/>
              </a:xfrm>
              <a:prstGeom prst="rect">
                <a:avLst/>
              </a:prstGeom>
              <a:blipFill>
                <a:blip r:embed="rId12"/>
                <a:stretch>
                  <a:fillRect r="-7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1CE585FD-EBFB-822E-80D1-B8FE8396322F}"/>
                  </a:ext>
                </a:extLst>
              </p:cNvPr>
              <p:cNvSpPr txBox="1"/>
              <p:nvPr/>
            </p:nvSpPr>
            <p:spPr>
              <a:xfrm>
                <a:off x="2987867" y="143886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:14</m:t>
                      </m:r>
                    </m:oMath>
                  </m:oMathPara>
                </a14:m>
                <a:endParaRPr kumimoji="1" lang="ja-JP" altLang="en-US">
                  <a:solidFill>
                    <a:srgbClr val="FF0000"/>
                  </a:solidFill>
                </a:endParaRPr>
              </a:p>
            </p:txBody>
          </p:sp>
        </mc:Choice>
        <mc:Fallback xmlns="">
          <p:sp>
            <p:nvSpPr>
              <p:cNvPr id="18" name="テキスト ボックス 17">
                <a:extLst>
                  <a:ext uri="{FF2B5EF4-FFF2-40B4-BE49-F238E27FC236}">
                    <a16:creationId xmlns:a16="http://schemas.microsoft.com/office/drawing/2014/main" id="{1CE585FD-EBFB-822E-80D1-B8FE8396322F}"/>
                  </a:ext>
                </a:extLst>
              </p:cNvPr>
              <p:cNvSpPr txBox="1">
                <a:spLocks noRot="1" noChangeAspect="1" noMove="1" noResize="1" noEditPoints="1" noAdjustHandles="1" noChangeArrowheads="1" noChangeShapeType="1" noTextEdit="1"/>
              </p:cNvSpPr>
              <p:nvPr/>
            </p:nvSpPr>
            <p:spPr>
              <a:xfrm>
                <a:off x="2987867" y="1438865"/>
                <a:ext cx="1768235" cy="369332"/>
              </a:xfrm>
              <a:prstGeom prst="rect">
                <a:avLst/>
              </a:prstGeom>
              <a:blipFill>
                <a:blip r:embed="rId1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31CB34C0-9209-08FB-D350-563E00E1B25A}"/>
                  </a:ext>
                </a:extLst>
              </p:cNvPr>
              <p:cNvSpPr txBox="1"/>
              <p:nvPr/>
            </p:nvSpPr>
            <p:spPr>
              <a:xfrm>
                <a:off x="2987867" y="4680472"/>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:20,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:14</m:t>
                      </m:r>
                    </m:oMath>
                  </m:oMathPara>
                </a14:m>
                <a:endParaRPr kumimoji="1" lang="ja-JP" altLang="en-US">
                  <a:solidFill>
                    <a:srgbClr val="FF0000"/>
                  </a:solidFill>
                </a:endParaRPr>
              </a:p>
            </p:txBody>
          </p:sp>
        </mc:Choice>
        <mc:Fallback xmlns="">
          <p:sp>
            <p:nvSpPr>
              <p:cNvPr id="19" name="テキスト ボックス 18">
                <a:extLst>
                  <a:ext uri="{FF2B5EF4-FFF2-40B4-BE49-F238E27FC236}">
                    <a16:creationId xmlns:a16="http://schemas.microsoft.com/office/drawing/2014/main" id="{31CB34C0-9209-08FB-D350-563E00E1B25A}"/>
                  </a:ext>
                </a:extLst>
              </p:cNvPr>
              <p:cNvSpPr txBox="1">
                <a:spLocks noRot="1" noChangeAspect="1" noMove="1" noResize="1" noEditPoints="1" noAdjustHandles="1" noChangeArrowheads="1" noChangeShapeType="1" noTextEdit="1"/>
              </p:cNvSpPr>
              <p:nvPr/>
            </p:nvSpPr>
            <p:spPr>
              <a:xfrm>
                <a:off x="2987867" y="4680472"/>
                <a:ext cx="1768235" cy="369332"/>
              </a:xfrm>
              <a:prstGeom prst="rect">
                <a:avLst/>
              </a:prstGeom>
              <a:blipFill>
                <a:blip r:embed="rId1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786EF4BE-F70C-6447-E6CE-CA8C06B30102}"/>
                  </a:ext>
                </a:extLst>
              </p:cNvPr>
              <p:cNvSpPr txBox="1"/>
              <p:nvPr/>
            </p:nvSpPr>
            <p:spPr>
              <a:xfrm>
                <a:off x="5283709" y="1076594"/>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:42,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:34</m:t>
                      </m:r>
                    </m:oMath>
                  </m:oMathPara>
                </a14:m>
                <a:endParaRPr kumimoji="1" lang="ja-JP" altLang="en-US">
                  <a:solidFill>
                    <a:srgbClr val="FF0000"/>
                  </a:solidFill>
                </a:endParaRPr>
              </a:p>
            </p:txBody>
          </p:sp>
        </mc:Choice>
        <mc:Fallback xmlns="">
          <p:sp>
            <p:nvSpPr>
              <p:cNvPr id="20" name="テキスト ボックス 19">
                <a:extLst>
                  <a:ext uri="{FF2B5EF4-FFF2-40B4-BE49-F238E27FC236}">
                    <a16:creationId xmlns:a16="http://schemas.microsoft.com/office/drawing/2014/main" id="{786EF4BE-F70C-6447-E6CE-CA8C06B30102}"/>
                  </a:ext>
                </a:extLst>
              </p:cNvPr>
              <p:cNvSpPr txBox="1">
                <a:spLocks noRot="1" noChangeAspect="1" noMove="1" noResize="1" noEditPoints="1" noAdjustHandles="1" noChangeArrowheads="1" noChangeShapeType="1" noTextEdit="1"/>
              </p:cNvSpPr>
              <p:nvPr/>
            </p:nvSpPr>
            <p:spPr>
              <a:xfrm>
                <a:off x="5283709" y="1076594"/>
                <a:ext cx="1768235" cy="369332"/>
              </a:xfrm>
              <a:prstGeom prst="rect">
                <a:avLst/>
              </a:prstGeom>
              <a:blipFill>
                <a:blip r:embed="rId1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F471B0B2-04F0-05D0-7692-88921A9C4686}"/>
                  </a:ext>
                </a:extLst>
              </p:cNvPr>
              <p:cNvSpPr txBox="1"/>
              <p:nvPr/>
            </p:nvSpPr>
            <p:spPr>
              <a:xfrm>
                <a:off x="4705170" y="5263870"/>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FF0000"/>
                          </a:solidFill>
                          <a:latin typeface="Cambria Math" panose="02040503050406030204" pitchFamily="18" charset="0"/>
                        </a:rPr>
                        <m:t>𝑚𝑢𝑙</m:t>
                      </m:r>
                      <m:r>
                        <a:rPr kumimoji="1" lang="en-US" altLang="ja-JP" b="0" i="1" smtClean="0">
                          <a:solidFill>
                            <a:srgbClr val="FF0000"/>
                          </a:solidFill>
                          <a:latin typeface="Cambria Math" panose="02040503050406030204" pitchFamily="18" charset="0"/>
                        </a:rPr>
                        <m:t>:42, </m:t>
                      </m:r>
                      <m:r>
                        <a:rPr kumimoji="1" lang="en-US" altLang="ja-JP" b="0" i="1" smtClean="0">
                          <a:solidFill>
                            <a:srgbClr val="FF0000"/>
                          </a:solidFill>
                          <a:latin typeface="Cambria Math" panose="02040503050406030204" pitchFamily="18" charset="0"/>
                        </a:rPr>
                        <m:t>𝑎𝑑𝑑</m:t>
                      </m:r>
                      <m:r>
                        <a:rPr kumimoji="1" lang="en-US" altLang="ja-JP" b="0" i="1" smtClean="0">
                          <a:solidFill>
                            <a:srgbClr val="FF0000"/>
                          </a:solidFill>
                          <a:latin typeface="Cambria Math" panose="02040503050406030204" pitchFamily="18" charset="0"/>
                        </a:rPr>
                        <m:t>:34</m:t>
                      </m:r>
                    </m:oMath>
                  </m:oMathPara>
                </a14:m>
                <a:endParaRPr kumimoji="1" lang="ja-JP" altLang="en-US">
                  <a:solidFill>
                    <a:srgbClr val="FF0000"/>
                  </a:solidFill>
                </a:endParaRPr>
              </a:p>
            </p:txBody>
          </p:sp>
        </mc:Choice>
        <mc:Fallback xmlns="">
          <p:sp>
            <p:nvSpPr>
              <p:cNvPr id="21" name="テキスト ボックス 20">
                <a:extLst>
                  <a:ext uri="{FF2B5EF4-FFF2-40B4-BE49-F238E27FC236}">
                    <a16:creationId xmlns:a16="http://schemas.microsoft.com/office/drawing/2014/main" id="{F471B0B2-04F0-05D0-7692-88921A9C4686}"/>
                  </a:ext>
                </a:extLst>
              </p:cNvPr>
              <p:cNvSpPr txBox="1">
                <a:spLocks noRot="1" noChangeAspect="1" noMove="1" noResize="1" noEditPoints="1" noAdjustHandles="1" noChangeArrowheads="1" noChangeShapeType="1" noTextEdit="1"/>
              </p:cNvSpPr>
              <p:nvPr/>
            </p:nvSpPr>
            <p:spPr>
              <a:xfrm>
                <a:off x="4705170" y="5263870"/>
                <a:ext cx="1768235" cy="369332"/>
              </a:xfrm>
              <a:prstGeom prst="rect">
                <a:avLst/>
              </a:prstGeom>
              <a:blipFill>
                <a:blip r:embed="rId1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06EBD5A7-EC71-4838-248A-DCBC3253A901}"/>
                  </a:ext>
                </a:extLst>
              </p:cNvPr>
              <p:cNvSpPr txBox="1"/>
              <p:nvPr/>
            </p:nvSpPr>
            <p:spPr>
              <a:xfrm>
                <a:off x="2523294" y="760145"/>
                <a:ext cx="17682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solidFill>
                            <a:srgbClr val="FF0000"/>
                          </a:solidFill>
                          <a:latin typeface="Cambria Math" panose="02040503050406030204" pitchFamily="18" charset="0"/>
                        </a:rPr>
                        <m:t>𝒎𝒖𝒍</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𝟖𝟒</m:t>
                      </m:r>
                      <m:r>
                        <a:rPr kumimoji="1" lang="en-US" altLang="ja-JP" b="1" i="1" smtClean="0">
                          <a:solidFill>
                            <a:srgbClr val="FF0000"/>
                          </a:solidFill>
                          <a:latin typeface="Cambria Math" panose="02040503050406030204" pitchFamily="18" charset="0"/>
                        </a:rPr>
                        <m:t>, </m:t>
                      </m:r>
                      <m:r>
                        <a:rPr kumimoji="1" lang="en-US" altLang="ja-JP" b="1" i="1" smtClean="0">
                          <a:solidFill>
                            <a:srgbClr val="FF0000"/>
                          </a:solidFill>
                          <a:latin typeface="Cambria Math" panose="02040503050406030204" pitchFamily="18" charset="0"/>
                        </a:rPr>
                        <m:t>𝒂𝒅𝒅</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𝟕𝟎</m:t>
                      </m:r>
                    </m:oMath>
                  </m:oMathPara>
                </a14:m>
                <a:endParaRPr kumimoji="1" lang="ja-JP" altLang="en-US" b="1">
                  <a:solidFill>
                    <a:srgbClr val="FF0000"/>
                  </a:solidFill>
                </a:endParaRPr>
              </a:p>
            </p:txBody>
          </p:sp>
        </mc:Choice>
        <mc:Fallback xmlns="">
          <p:sp>
            <p:nvSpPr>
              <p:cNvPr id="22" name="テキスト ボックス 21">
                <a:extLst>
                  <a:ext uri="{FF2B5EF4-FFF2-40B4-BE49-F238E27FC236}">
                    <a16:creationId xmlns:a16="http://schemas.microsoft.com/office/drawing/2014/main" id="{06EBD5A7-EC71-4838-248A-DCBC3253A901}"/>
                  </a:ext>
                </a:extLst>
              </p:cNvPr>
              <p:cNvSpPr txBox="1">
                <a:spLocks noRot="1" noChangeAspect="1" noMove="1" noResize="1" noEditPoints="1" noAdjustHandles="1" noChangeArrowheads="1" noChangeShapeType="1" noTextEdit="1"/>
              </p:cNvSpPr>
              <p:nvPr/>
            </p:nvSpPr>
            <p:spPr>
              <a:xfrm>
                <a:off x="2523294" y="760145"/>
                <a:ext cx="1768235" cy="369332"/>
              </a:xfrm>
              <a:prstGeom prst="rect">
                <a:avLst/>
              </a:prstGeom>
              <a:blipFill>
                <a:blip r:embed="rId16"/>
                <a:stretch>
                  <a:fillRect r="-6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27FA6235-E590-F6D5-7476-0D3B3BA4C6F8}"/>
                  </a:ext>
                </a:extLst>
              </p:cNvPr>
              <p:cNvSpPr txBox="1"/>
              <p:nvPr/>
            </p:nvSpPr>
            <p:spPr>
              <a:xfrm>
                <a:off x="8131189" y="5583586"/>
                <a:ext cx="24939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2" name="テキスト ボックス 1">
                <a:extLst>
                  <a:ext uri="{FF2B5EF4-FFF2-40B4-BE49-F238E27FC236}">
                    <a16:creationId xmlns:a16="http://schemas.microsoft.com/office/drawing/2014/main" id="{27FA6235-E590-F6D5-7476-0D3B3BA4C6F8}"/>
                  </a:ext>
                </a:extLst>
              </p:cNvPr>
              <p:cNvSpPr txBox="1">
                <a:spLocks noRot="1" noChangeAspect="1" noMove="1" noResize="1" noEditPoints="1" noAdjustHandles="1" noChangeArrowheads="1" noChangeShapeType="1" noTextEdit="1"/>
              </p:cNvSpPr>
              <p:nvPr/>
            </p:nvSpPr>
            <p:spPr>
              <a:xfrm>
                <a:off x="8131189" y="5583586"/>
                <a:ext cx="249395" cy="276999"/>
              </a:xfrm>
              <a:prstGeom prst="rect">
                <a:avLst/>
              </a:prstGeom>
              <a:blipFill>
                <a:blip r:embed="rId17"/>
                <a:stretch>
                  <a:fillRect l="-10000" r="-10000" b="-434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CFBB7067-7FD6-B2B4-DEFF-39BC9A76DCA6}"/>
                  </a:ext>
                </a:extLst>
              </p:cNvPr>
              <p:cNvSpPr txBox="1"/>
              <p:nvPr/>
            </p:nvSpPr>
            <p:spPr>
              <a:xfrm>
                <a:off x="9067826" y="5583586"/>
                <a:ext cx="249395" cy="276999"/>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solidFill>
                            <a:srgbClr val="0070C0"/>
                          </a:solidFill>
                          <a:latin typeface="Cambria Math" panose="02040503050406030204" pitchFamily="18" charset="0"/>
                        </a:rPr>
                        <m:t>0</m:t>
                      </m:r>
                    </m:oMath>
                  </m:oMathPara>
                </a14:m>
                <a:endParaRPr kumimoji="1" lang="ja-JP" altLang="en-US">
                  <a:solidFill>
                    <a:srgbClr val="0070C0"/>
                  </a:solidFill>
                </a:endParaRPr>
              </a:p>
            </p:txBody>
          </p:sp>
        </mc:Choice>
        <mc:Fallback xmlns="">
          <p:sp>
            <p:nvSpPr>
              <p:cNvPr id="6" name="テキスト ボックス 5">
                <a:extLst>
                  <a:ext uri="{FF2B5EF4-FFF2-40B4-BE49-F238E27FC236}">
                    <a16:creationId xmlns:a16="http://schemas.microsoft.com/office/drawing/2014/main" id="{CFBB7067-7FD6-B2B4-DEFF-39BC9A76DCA6}"/>
                  </a:ext>
                </a:extLst>
              </p:cNvPr>
              <p:cNvSpPr txBox="1">
                <a:spLocks noRot="1" noChangeAspect="1" noMove="1" noResize="1" noEditPoints="1" noAdjustHandles="1" noChangeArrowheads="1" noChangeShapeType="1" noTextEdit="1"/>
              </p:cNvSpPr>
              <p:nvPr/>
            </p:nvSpPr>
            <p:spPr>
              <a:xfrm>
                <a:off x="9067826" y="5583586"/>
                <a:ext cx="249395" cy="276999"/>
              </a:xfrm>
              <a:prstGeom prst="rect">
                <a:avLst/>
              </a:prstGeom>
              <a:blipFill>
                <a:blip r:embed="rId18"/>
                <a:stretch>
                  <a:fillRect l="-10000" r="-5000" b="-4348"/>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3DD0DC2B-1ACD-8DC5-3500-08B519A038B4}"/>
              </a:ext>
            </a:extLst>
          </p:cNvPr>
          <p:cNvPicPr>
            <a:picLocks noChangeAspect="1"/>
          </p:cNvPicPr>
          <p:nvPr/>
        </p:nvPicPr>
        <p:blipFill>
          <a:blip r:embed="rId19"/>
          <a:srcRect/>
          <a:stretch/>
        </p:blipFill>
        <p:spPr>
          <a:xfrm>
            <a:off x="111800" y="2331686"/>
            <a:ext cx="1838119" cy="1737857"/>
          </a:xfrm>
          <a:prstGeom prst="rect">
            <a:avLst/>
          </a:prstGeom>
        </p:spPr>
      </p:pic>
      <p:sp>
        <p:nvSpPr>
          <p:cNvPr id="9" name="スライド番号プレースホルダー 8">
            <a:extLst>
              <a:ext uri="{FF2B5EF4-FFF2-40B4-BE49-F238E27FC236}">
                <a16:creationId xmlns:a16="http://schemas.microsoft.com/office/drawing/2014/main" id="{E143DC48-B75E-0627-5883-0D761687D6C3}"/>
              </a:ext>
            </a:extLst>
          </p:cNvPr>
          <p:cNvSpPr>
            <a:spLocks noGrp="1"/>
          </p:cNvSpPr>
          <p:nvPr>
            <p:ph type="sldNum" sz="quarter" idx="12"/>
          </p:nvPr>
        </p:nvSpPr>
        <p:spPr/>
        <p:txBody>
          <a:bodyPr/>
          <a:lstStyle/>
          <a:p>
            <a:fld id="{B7DD3F26-AD0F-FC47-9ED8-571159D68F9B}" type="slidenum">
              <a:rPr kumimoji="1" lang="ja-JP" altLang="en-US" smtClean="0"/>
              <a:t>17</a:t>
            </a:fld>
            <a:endParaRPr kumimoji="1" lang="ja-JP" altLang="en-US"/>
          </a:p>
        </p:txBody>
      </p:sp>
    </p:spTree>
    <p:extLst>
      <p:ext uri="{BB962C8B-B14F-4D97-AF65-F5344CB8AC3E}">
        <p14:creationId xmlns:p14="http://schemas.microsoft.com/office/powerpoint/2010/main" val="130084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FCC5-7957-6864-41A4-C5C4AFA1AB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824ED0-8D03-40EC-D7A1-4D4A5462E99F}"/>
              </a:ext>
            </a:extLst>
          </p:cNvPr>
          <p:cNvSpPr>
            <a:spLocks noGrp="1"/>
          </p:cNvSpPr>
          <p:nvPr>
            <p:ph type="title"/>
          </p:nvPr>
        </p:nvSpPr>
        <p:spPr/>
        <p:txBody>
          <a:bodyPr/>
          <a:lstStyle/>
          <a:p>
            <a:r>
              <a:rPr lang="ja-JP" altLang="en-US"/>
              <a:t>多</a:t>
            </a:r>
            <a:r>
              <a:rPr kumimoji="1" lang="ja-JP" altLang="en-US"/>
              <a:t>量子ゲートの</a:t>
            </a:r>
            <a:r>
              <a:rPr kumimoji="1" lang="en-US" altLang="ja-JP" dirty="0"/>
              <a:t>QMDD</a:t>
            </a:r>
            <a:r>
              <a:rPr kumimoji="1" lang="ja-JP" altLang="en-US"/>
              <a:t>表現</a:t>
            </a:r>
            <a:r>
              <a:rPr lang="en-US" altLang="ja-JP" dirty="0"/>
              <a:t>①</a:t>
            </a:r>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28E7F8A-CF90-8C2E-4A9F-D4597B012568}"/>
                  </a:ext>
                </a:extLst>
              </p:cNvPr>
              <p:cNvSpPr txBox="1"/>
              <p:nvPr/>
            </p:nvSpPr>
            <p:spPr>
              <a:xfrm>
                <a:off x="1578980" y="1388583"/>
                <a:ext cx="2733184" cy="1284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𝐶𝑋</m:t>
                      </m:r>
                      <m:r>
                        <a:rPr kumimoji="1" lang="en-US" altLang="ja-JP" sz="2400" b="0" i="1" smtClean="0">
                          <a:latin typeface="Cambria Math" panose="02040503050406030204" pitchFamily="18" charset="0"/>
                        </a:rPr>
                        <m:t>=</m:t>
                      </m:r>
                      <m:d>
                        <m:dPr>
                          <m:begChr m:val="["/>
                          <m:endChr m:val="]"/>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m>
                                  <m:mPr>
                                    <m:plcHide m:val="on"/>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1</m:t>
                                      </m:r>
                                    </m:e>
                                    <m:e>
                                      <m:r>
                                        <m:rPr>
                                          <m:brk m:alnAt="7"/>
                                        </m:rPr>
                                        <a:rPr kumimoji="1" lang="en-US" altLang="ja-JP" sz="2400" b="0" i="1" smtClean="0">
                                          <a:latin typeface="Cambria Math" panose="02040503050406030204" pitchFamily="18" charset="0"/>
                                        </a:rPr>
                                        <m:t>0</m:t>
                                      </m:r>
                                    </m:e>
                                  </m:mr>
                                  <m:mr>
                                    <m:e>
                                      <m:r>
                                        <m:rPr>
                                          <m:brk m:alnAt="7"/>
                                        </m:rPr>
                                        <a:rPr kumimoji="1" lang="en-US" altLang="ja-JP" sz="2400" b="0" i="1" smtClean="0">
                                          <a:latin typeface="Cambria Math" panose="02040503050406030204" pitchFamily="18" charset="0"/>
                                        </a:rPr>
                                        <m:t>0</m:t>
                                      </m:r>
                                    </m:e>
                                    <m:e>
                                      <m:r>
                                        <m:rPr>
                                          <m:brk m:alnAt="7"/>
                                        </m:rPr>
                                        <a:rPr kumimoji="1" lang="en-US" altLang="ja-JP" sz="2400" b="0" i="1" smtClean="0">
                                          <a:latin typeface="Cambria Math" panose="02040503050406030204" pitchFamily="18" charset="0"/>
                                        </a:rPr>
                                        <m:t>1</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i="1">
                                          <a:latin typeface="Cambria Math" panose="02040503050406030204" pitchFamily="18" charset="0"/>
                                        </a:rPr>
                                        <m:t>0</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mr>
                                </m:m>
                              </m:e>
                            </m:mr>
                            <m:mr>
                              <m:e>
                                <m:m>
                                  <m:mPr>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mr>
                                </m:m>
                              </m:e>
                            </m:mr>
                          </m:m>
                        </m:e>
                      </m:d>
                    </m:oMath>
                  </m:oMathPara>
                </a14:m>
                <a:endParaRPr kumimoji="1" lang="ja-JP" altLang="en-US" sz="2400"/>
              </a:p>
            </p:txBody>
          </p:sp>
        </mc:Choice>
        <mc:Fallback xmlns="">
          <p:sp>
            <p:nvSpPr>
              <p:cNvPr id="4" name="テキスト ボックス 3">
                <a:extLst>
                  <a:ext uri="{FF2B5EF4-FFF2-40B4-BE49-F238E27FC236}">
                    <a16:creationId xmlns:a16="http://schemas.microsoft.com/office/drawing/2014/main" id="{628E7F8A-CF90-8C2E-4A9F-D4597B012568}"/>
                  </a:ext>
                </a:extLst>
              </p:cNvPr>
              <p:cNvSpPr txBox="1">
                <a:spLocks noRot="1" noChangeAspect="1" noMove="1" noResize="1" noEditPoints="1" noAdjustHandles="1" noChangeArrowheads="1" noChangeShapeType="1" noTextEdit="1"/>
              </p:cNvSpPr>
              <p:nvPr/>
            </p:nvSpPr>
            <p:spPr>
              <a:xfrm>
                <a:off x="1578980" y="1388583"/>
                <a:ext cx="2733184" cy="1284647"/>
              </a:xfrm>
              <a:prstGeom prst="rect">
                <a:avLst/>
              </a:prstGeom>
              <a:blipFill>
                <a:blip r:embed="rId2"/>
                <a:stretch>
                  <a:fillRect l="-1852" t="-980" b="-686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0E0EF5E8-AA5B-E2EE-2200-BB12FA6A6A55}"/>
                  </a:ext>
                </a:extLst>
              </p:cNvPr>
              <p:cNvSpPr txBox="1"/>
              <p:nvPr/>
            </p:nvSpPr>
            <p:spPr>
              <a:xfrm>
                <a:off x="7879838" y="1388582"/>
                <a:ext cx="3191643" cy="1284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𝑆𝑊𝐴𝑃</m:t>
                      </m:r>
                      <m:r>
                        <a:rPr kumimoji="1" lang="en-US" altLang="ja-JP" sz="2400" b="0" i="1" smtClean="0">
                          <a:latin typeface="Cambria Math" panose="02040503050406030204" pitchFamily="18" charset="0"/>
                        </a:rPr>
                        <m:t>=</m:t>
                      </m:r>
                      <m:d>
                        <m:dPr>
                          <m:begChr m:val="["/>
                          <m:endChr m:val="]"/>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m>
                                  <m:mPr>
                                    <m:plcHide m:val="on"/>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1</m:t>
                                      </m:r>
                                    </m:e>
                                    <m:e>
                                      <m:r>
                                        <m:rPr>
                                          <m:brk m:alnAt="7"/>
                                        </m:rPr>
                                        <a:rPr kumimoji="1" lang="en-US" altLang="ja-JP" sz="2400" b="0" i="1" smtClean="0">
                                          <a:latin typeface="Cambria Math" panose="02040503050406030204" pitchFamily="18" charset="0"/>
                                        </a:rPr>
                                        <m:t>0</m:t>
                                      </m:r>
                                    </m:e>
                                  </m:mr>
                                  <m:mr>
                                    <m:e>
                                      <m:r>
                                        <m:rPr>
                                          <m:brk m:alnAt="7"/>
                                        </m:rPr>
                                        <a:rPr kumimoji="1" lang="en-US" altLang="ja-JP" sz="2400" b="0" i="1" smtClean="0">
                                          <a:latin typeface="Cambria Math" panose="02040503050406030204" pitchFamily="18" charset="0"/>
                                        </a:rPr>
                                        <m:t>0</m:t>
                                      </m:r>
                                    </m:e>
                                    <m:e>
                                      <m:r>
                                        <m:rPr>
                                          <m:brk m:alnAt="7"/>
                                        </m:rP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i="1">
                                          <a:latin typeface="Cambria Math" panose="02040503050406030204" pitchFamily="18" charset="0"/>
                                        </a:rPr>
                                        <m:t>0</m:t>
                                      </m:r>
                                    </m:e>
                                  </m:m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mr>
                                </m:m>
                              </m:e>
                            </m:mr>
                            <m:mr>
                              <m:e>
                                <m:m>
                                  <m:mPr>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1</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mr>
                          </m:m>
                        </m:e>
                      </m:d>
                    </m:oMath>
                  </m:oMathPara>
                </a14:m>
                <a:endParaRPr kumimoji="1" lang="ja-JP" altLang="en-US" sz="2400"/>
              </a:p>
            </p:txBody>
          </p:sp>
        </mc:Choice>
        <mc:Fallback xmlns="">
          <p:sp>
            <p:nvSpPr>
              <p:cNvPr id="5" name="テキスト ボックス 4">
                <a:extLst>
                  <a:ext uri="{FF2B5EF4-FFF2-40B4-BE49-F238E27FC236}">
                    <a16:creationId xmlns:a16="http://schemas.microsoft.com/office/drawing/2014/main" id="{0E0EF5E8-AA5B-E2EE-2200-BB12FA6A6A55}"/>
                  </a:ext>
                </a:extLst>
              </p:cNvPr>
              <p:cNvSpPr txBox="1">
                <a:spLocks noRot="1" noChangeAspect="1" noMove="1" noResize="1" noEditPoints="1" noAdjustHandles="1" noChangeArrowheads="1" noChangeShapeType="1" noTextEdit="1"/>
              </p:cNvSpPr>
              <p:nvPr/>
            </p:nvSpPr>
            <p:spPr>
              <a:xfrm>
                <a:off x="7879838" y="1388582"/>
                <a:ext cx="3191643" cy="1284647"/>
              </a:xfrm>
              <a:prstGeom prst="rect">
                <a:avLst/>
              </a:prstGeom>
              <a:blipFill>
                <a:blip r:embed="rId3"/>
                <a:stretch>
                  <a:fillRect l="-1587" t="-980" b="-6863"/>
                </a:stretch>
              </a:blipFill>
            </p:spPr>
            <p:txBody>
              <a:bodyPr/>
              <a:lstStyle/>
              <a:p>
                <a:r>
                  <a:rPr lang="ja-JP" altLang="en-US">
                    <a:noFill/>
                  </a:rPr>
                  <a:t> </a:t>
                </a:r>
              </a:p>
            </p:txBody>
          </p:sp>
        </mc:Fallback>
      </mc:AlternateContent>
      <p:pic>
        <p:nvPicPr>
          <p:cNvPr id="11" name="図 10" descr="グラフィカル ユーザー インターフェイス, アプリケーション&#10;&#10;自動的に生成された説明">
            <a:extLst>
              <a:ext uri="{FF2B5EF4-FFF2-40B4-BE49-F238E27FC236}">
                <a16:creationId xmlns:a16="http://schemas.microsoft.com/office/drawing/2014/main" id="{7C6F20E7-0467-D193-1368-16D76369EC0A}"/>
              </a:ext>
            </a:extLst>
          </p:cNvPr>
          <p:cNvPicPr>
            <a:picLocks noChangeAspect="1"/>
          </p:cNvPicPr>
          <p:nvPr/>
        </p:nvPicPr>
        <p:blipFill>
          <a:blip r:embed="rId4"/>
          <a:stretch>
            <a:fillRect/>
          </a:stretch>
        </p:blipFill>
        <p:spPr>
          <a:xfrm>
            <a:off x="7774556" y="2808166"/>
            <a:ext cx="3402206" cy="3989436"/>
          </a:xfrm>
          <a:prstGeom prst="rect">
            <a:avLst/>
          </a:prstGeom>
        </p:spPr>
      </p:pic>
      <p:pic>
        <p:nvPicPr>
          <p:cNvPr id="13" name="図 12" descr="グラフィカル ユーザー インターフェイス, アプリケーション, アイコン&#10;&#10;自動的に生成された説明">
            <a:extLst>
              <a:ext uri="{FF2B5EF4-FFF2-40B4-BE49-F238E27FC236}">
                <a16:creationId xmlns:a16="http://schemas.microsoft.com/office/drawing/2014/main" id="{00657D6A-A3FA-8832-0A3A-968A890C0C54}"/>
              </a:ext>
            </a:extLst>
          </p:cNvPr>
          <p:cNvPicPr>
            <a:picLocks noChangeAspect="1"/>
          </p:cNvPicPr>
          <p:nvPr/>
        </p:nvPicPr>
        <p:blipFill>
          <a:blip r:embed="rId5"/>
          <a:stretch>
            <a:fillRect/>
          </a:stretch>
        </p:blipFill>
        <p:spPr>
          <a:xfrm>
            <a:off x="1935861" y="2837237"/>
            <a:ext cx="2022681" cy="3989436"/>
          </a:xfrm>
          <a:prstGeom prst="rect">
            <a:avLst/>
          </a:prstGeom>
        </p:spPr>
      </p:pic>
      <p:sp>
        <p:nvSpPr>
          <p:cNvPr id="16" name="テキスト ボックス 15">
            <a:extLst>
              <a:ext uri="{FF2B5EF4-FFF2-40B4-BE49-F238E27FC236}">
                <a16:creationId xmlns:a16="http://schemas.microsoft.com/office/drawing/2014/main" id="{8E44E04D-5F57-F2F6-B582-AF980040745C}"/>
              </a:ext>
            </a:extLst>
          </p:cNvPr>
          <p:cNvSpPr txBox="1"/>
          <p:nvPr/>
        </p:nvSpPr>
        <p:spPr>
          <a:xfrm>
            <a:off x="4973255" y="3244334"/>
            <a:ext cx="2245489" cy="369332"/>
          </a:xfrm>
          <a:prstGeom prst="rect">
            <a:avLst/>
          </a:prstGeom>
          <a:noFill/>
        </p:spPr>
        <p:txBody>
          <a:bodyPr wrap="square" rtlCol="0">
            <a:spAutoFit/>
          </a:bodyPr>
          <a:lstStyle/>
          <a:p>
            <a:pPr algn="ctr"/>
            <a:r>
              <a:rPr kumimoji="1" lang="ja-JP" altLang="en-US"/>
              <a:t>非</a:t>
            </a:r>
            <a:r>
              <a:rPr kumimoji="1" lang="en-US" altLang="ja-JP" dirty="0"/>
              <a:t>0</a:t>
            </a:r>
            <a:r>
              <a:rPr kumimoji="1" lang="ja-JP" altLang="en-US"/>
              <a:t>の値の数は同じ</a:t>
            </a:r>
          </a:p>
        </p:txBody>
      </p:sp>
      <p:cxnSp>
        <p:nvCxnSpPr>
          <p:cNvPr id="20" name="直線矢印コネクタ 19">
            <a:extLst>
              <a:ext uri="{FF2B5EF4-FFF2-40B4-BE49-F238E27FC236}">
                <a16:creationId xmlns:a16="http://schemas.microsoft.com/office/drawing/2014/main" id="{4F6E44EE-81D7-D3CA-4670-B000DAEC641F}"/>
              </a:ext>
            </a:extLst>
          </p:cNvPr>
          <p:cNvCxnSpPr>
            <a:stCxn id="16" idx="0"/>
            <a:endCxn id="4" idx="3"/>
          </p:cNvCxnSpPr>
          <p:nvPr/>
        </p:nvCxnSpPr>
        <p:spPr>
          <a:xfrm flipH="1" flipV="1">
            <a:off x="4312164" y="2030907"/>
            <a:ext cx="1783836" cy="1213427"/>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直線矢印コネクタ 20">
            <a:extLst>
              <a:ext uri="{FF2B5EF4-FFF2-40B4-BE49-F238E27FC236}">
                <a16:creationId xmlns:a16="http://schemas.microsoft.com/office/drawing/2014/main" id="{0F3B0C90-EE29-6922-AA92-726C2852DB96}"/>
              </a:ext>
            </a:extLst>
          </p:cNvPr>
          <p:cNvCxnSpPr>
            <a:cxnSpLocks/>
            <a:stCxn id="16" idx="0"/>
            <a:endCxn id="5" idx="1"/>
          </p:cNvCxnSpPr>
          <p:nvPr/>
        </p:nvCxnSpPr>
        <p:spPr>
          <a:xfrm flipV="1">
            <a:off x="6096000" y="2030906"/>
            <a:ext cx="1783838" cy="121342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4CC1E739-F81B-5171-CF60-C52D4F85E421}"/>
              </a:ext>
            </a:extLst>
          </p:cNvPr>
          <p:cNvSpPr txBox="1"/>
          <p:nvPr/>
        </p:nvSpPr>
        <p:spPr>
          <a:xfrm>
            <a:off x="4270944" y="3712554"/>
            <a:ext cx="3650109" cy="369332"/>
          </a:xfrm>
          <a:prstGeom prst="rect">
            <a:avLst/>
          </a:prstGeom>
          <a:noFill/>
        </p:spPr>
        <p:txBody>
          <a:bodyPr wrap="square" rtlCol="0">
            <a:spAutoFit/>
          </a:bodyPr>
          <a:lstStyle/>
          <a:p>
            <a:pPr algn="ctr"/>
            <a:r>
              <a:rPr kumimoji="1" lang="ja-JP" altLang="en-US"/>
              <a:t>ノードとエッジの数には大差あり</a:t>
            </a:r>
          </a:p>
        </p:txBody>
      </p:sp>
      <p:cxnSp>
        <p:nvCxnSpPr>
          <p:cNvPr id="27" name="直線矢印コネクタ 26">
            <a:extLst>
              <a:ext uri="{FF2B5EF4-FFF2-40B4-BE49-F238E27FC236}">
                <a16:creationId xmlns:a16="http://schemas.microsoft.com/office/drawing/2014/main" id="{5DD2C807-E1AF-80EC-7395-D8E4456FB79A}"/>
              </a:ext>
            </a:extLst>
          </p:cNvPr>
          <p:cNvCxnSpPr>
            <a:cxnSpLocks/>
            <a:stCxn id="26" idx="2"/>
            <a:endCxn id="13" idx="3"/>
          </p:cNvCxnSpPr>
          <p:nvPr/>
        </p:nvCxnSpPr>
        <p:spPr>
          <a:xfrm flipH="1">
            <a:off x="3958542" y="4081886"/>
            <a:ext cx="2137457" cy="75006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線矢印コネクタ 29">
            <a:extLst>
              <a:ext uri="{FF2B5EF4-FFF2-40B4-BE49-F238E27FC236}">
                <a16:creationId xmlns:a16="http://schemas.microsoft.com/office/drawing/2014/main" id="{E3D58B84-DBF6-CE12-2D9C-3093CBEBE5F1}"/>
              </a:ext>
            </a:extLst>
          </p:cNvPr>
          <p:cNvCxnSpPr>
            <a:cxnSpLocks/>
            <a:stCxn id="26" idx="2"/>
            <a:endCxn id="11" idx="1"/>
          </p:cNvCxnSpPr>
          <p:nvPr/>
        </p:nvCxnSpPr>
        <p:spPr>
          <a:xfrm>
            <a:off x="6095999" y="4081886"/>
            <a:ext cx="1678557" cy="7209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2CE00171-7E11-38AA-737B-7E4391ECDC8D}"/>
              </a:ext>
            </a:extLst>
          </p:cNvPr>
          <p:cNvSpPr>
            <a:spLocks noGrp="1"/>
          </p:cNvSpPr>
          <p:nvPr>
            <p:ph type="sldNum" sz="quarter" idx="12"/>
          </p:nvPr>
        </p:nvSpPr>
        <p:spPr/>
        <p:txBody>
          <a:bodyPr/>
          <a:lstStyle/>
          <a:p>
            <a:fld id="{A05843C0-813E-B949-A4C0-2511A34E55B1}" type="slidenum">
              <a:rPr kumimoji="1" lang="ja-JP" altLang="en-US" smtClean="0"/>
              <a:t>18</a:t>
            </a:fld>
            <a:endParaRPr kumimoji="1" lang="ja-JP" altLang="en-US"/>
          </a:p>
        </p:txBody>
      </p:sp>
    </p:spTree>
    <p:extLst>
      <p:ext uri="{BB962C8B-B14F-4D97-AF65-F5344CB8AC3E}">
        <p14:creationId xmlns:p14="http://schemas.microsoft.com/office/powerpoint/2010/main" val="2677380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FDB22-DCEA-F7AA-2EBE-63419016D9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EACEF4-4E95-38EF-D4B3-ED32A7410766}"/>
              </a:ext>
            </a:extLst>
          </p:cNvPr>
          <p:cNvSpPr>
            <a:spLocks noGrp="1"/>
          </p:cNvSpPr>
          <p:nvPr>
            <p:ph type="title"/>
          </p:nvPr>
        </p:nvSpPr>
        <p:spPr/>
        <p:txBody>
          <a:bodyPr/>
          <a:lstStyle/>
          <a:p>
            <a:r>
              <a:rPr lang="ja-JP" altLang="en-US"/>
              <a:t>多</a:t>
            </a:r>
            <a:r>
              <a:rPr kumimoji="1" lang="ja-JP" altLang="en-US"/>
              <a:t>量子ゲートの</a:t>
            </a:r>
            <a:r>
              <a:rPr kumimoji="1" lang="en-US" altLang="ja-JP" dirty="0"/>
              <a:t>QMDD</a:t>
            </a:r>
            <a:r>
              <a:rPr kumimoji="1" lang="ja-JP" altLang="en-US"/>
              <a:t>表現</a:t>
            </a:r>
            <a:r>
              <a:rPr kumimoji="1" lang="en-US" altLang="ja-JP" dirty="0"/>
              <a:t>②</a:t>
            </a:r>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3C23D922-77C9-24DA-0E39-69BF9A674473}"/>
                  </a:ext>
                </a:extLst>
              </p:cNvPr>
              <p:cNvSpPr txBox="1"/>
              <p:nvPr/>
            </p:nvSpPr>
            <p:spPr>
              <a:xfrm>
                <a:off x="1251191" y="1388583"/>
                <a:ext cx="3392019" cy="1284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𝐶𝑋</m:t>
                      </m:r>
                      <m:r>
                        <a:rPr kumimoji="1" lang="en-US" altLang="ja-JP" sz="2400" b="0" i="1" smtClean="0">
                          <a:latin typeface="Cambria Math" panose="02040503050406030204" pitchFamily="18" charset="0"/>
                        </a:rPr>
                        <m:t>(0,1)=</m:t>
                      </m:r>
                      <m:d>
                        <m:dPr>
                          <m:begChr m:val="["/>
                          <m:endChr m:val="]"/>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m>
                                  <m:mPr>
                                    <m:plcHide m:val="on"/>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1</m:t>
                                      </m:r>
                                    </m:e>
                                    <m:e>
                                      <m:r>
                                        <m:rPr>
                                          <m:brk m:alnAt="7"/>
                                        </m:rPr>
                                        <a:rPr kumimoji="1" lang="en-US" altLang="ja-JP" sz="2400" b="0" i="1" smtClean="0">
                                          <a:latin typeface="Cambria Math" panose="02040503050406030204" pitchFamily="18" charset="0"/>
                                        </a:rPr>
                                        <m:t>0</m:t>
                                      </m:r>
                                    </m:e>
                                  </m:mr>
                                  <m:mr>
                                    <m:e>
                                      <m:r>
                                        <m:rPr>
                                          <m:brk m:alnAt="7"/>
                                        </m:rPr>
                                        <a:rPr kumimoji="1" lang="en-US" altLang="ja-JP" sz="2400" b="0" i="1" smtClean="0">
                                          <a:latin typeface="Cambria Math" panose="02040503050406030204" pitchFamily="18" charset="0"/>
                                        </a:rPr>
                                        <m:t>0</m:t>
                                      </m:r>
                                    </m:e>
                                    <m:e>
                                      <m:r>
                                        <m:rPr>
                                          <m:brk m:alnAt="7"/>
                                        </m:rPr>
                                        <a:rPr kumimoji="1" lang="en-US" altLang="ja-JP" sz="2400" b="0" i="1" smtClean="0">
                                          <a:latin typeface="Cambria Math" panose="02040503050406030204" pitchFamily="18" charset="0"/>
                                        </a:rPr>
                                        <m:t>1</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i="1">
                                          <a:latin typeface="Cambria Math" panose="02040503050406030204" pitchFamily="18" charset="0"/>
                                        </a:rPr>
                                        <m:t>0</m:t>
                                      </m:r>
                                    </m:e>
                                  </m:mr>
                                  <m:mr>
                                    <m:e>
                                      <m:r>
                                        <a:rPr lang="en-US" altLang="ja-JP" sz="2400" i="1">
                                          <a:latin typeface="Cambria Math" panose="02040503050406030204" pitchFamily="18" charset="0"/>
                                        </a:rPr>
                                        <m:t>0</m:t>
                                      </m:r>
                                    </m:e>
                                    <m:e>
                                      <m:r>
                                        <a:rPr lang="en-US" altLang="ja-JP" sz="2400" i="1">
                                          <a:latin typeface="Cambria Math" panose="02040503050406030204" pitchFamily="18" charset="0"/>
                                        </a:rPr>
                                        <m:t>0</m:t>
                                      </m:r>
                                    </m:e>
                                  </m:mr>
                                </m:m>
                              </m:e>
                            </m:mr>
                            <m:mr>
                              <m:e>
                                <m:m>
                                  <m:mPr>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b="0" i="1" smtClean="0">
                                          <a:latin typeface="Cambria Math" panose="02040503050406030204" pitchFamily="18" charset="0"/>
                                        </a:rPr>
                                        <m:t>1</m:t>
                                      </m:r>
                                    </m:e>
                                  </m:mr>
                                  <m:mr>
                                    <m:e>
                                      <m:r>
                                        <a:rPr lang="en-US" altLang="ja-JP" sz="2400" b="0" i="1" smtClean="0">
                                          <a:latin typeface="Cambria Math" panose="02040503050406030204" pitchFamily="18" charset="0"/>
                                        </a:rPr>
                                        <m:t>1</m:t>
                                      </m:r>
                                    </m:e>
                                    <m:e>
                                      <m:r>
                                        <a:rPr lang="en-US" altLang="ja-JP" sz="2400" i="1">
                                          <a:latin typeface="Cambria Math" panose="02040503050406030204" pitchFamily="18" charset="0"/>
                                        </a:rPr>
                                        <m:t>0</m:t>
                                      </m:r>
                                    </m:e>
                                  </m:mr>
                                </m:m>
                              </m:e>
                            </m:mr>
                          </m:m>
                        </m:e>
                      </m:d>
                    </m:oMath>
                  </m:oMathPara>
                </a14:m>
                <a:endParaRPr kumimoji="1" lang="ja-JP" altLang="en-US" sz="2400"/>
              </a:p>
            </p:txBody>
          </p:sp>
        </mc:Choice>
        <mc:Fallback xmlns="">
          <p:sp>
            <p:nvSpPr>
              <p:cNvPr id="4" name="テキスト ボックス 3">
                <a:extLst>
                  <a:ext uri="{FF2B5EF4-FFF2-40B4-BE49-F238E27FC236}">
                    <a16:creationId xmlns:a16="http://schemas.microsoft.com/office/drawing/2014/main" id="{3C23D922-77C9-24DA-0E39-69BF9A674473}"/>
                  </a:ext>
                </a:extLst>
              </p:cNvPr>
              <p:cNvSpPr txBox="1">
                <a:spLocks noRot="1" noChangeAspect="1" noMove="1" noResize="1" noEditPoints="1" noAdjustHandles="1" noChangeArrowheads="1" noChangeShapeType="1" noTextEdit="1"/>
              </p:cNvSpPr>
              <p:nvPr/>
            </p:nvSpPr>
            <p:spPr>
              <a:xfrm>
                <a:off x="1251191" y="1388583"/>
                <a:ext cx="3392019" cy="1284647"/>
              </a:xfrm>
              <a:prstGeom prst="rect">
                <a:avLst/>
              </a:prstGeom>
              <a:blipFill>
                <a:blip r:embed="rId2"/>
                <a:stretch>
                  <a:fillRect l="-1119" t="-980" b="-686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E0136A1-9967-40BB-1225-6C57EEFEB02E}"/>
                  </a:ext>
                </a:extLst>
              </p:cNvPr>
              <p:cNvSpPr txBox="1"/>
              <p:nvPr/>
            </p:nvSpPr>
            <p:spPr>
              <a:xfrm>
                <a:off x="7602812" y="1388582"/>
                <a:ext cx="3504229" cy="12846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𝐶𝑋</m:t>
                      </m:r>
                      <m:r>
                        <a:rPr kumimoji="1" lang="en-US" altLang="ja-JP" sz="2400" b="0" i="1" smtClean="0">
                          <a:latin typeface="Cambria Math" panose="02040503050406030204" pitchFamily="18" charset="0"/>
                        </a:rPr>
                        <m:t>(1,0)=</m:t>
                      </m:r>
                      <m:d>
                        <m:dPr>
                          <m:begChr m:val="["/>
                          <m:endChr m:val="]"/>
                          <m:ctrlPr>
                            <a:rPr kumimoji="1" lang="en-US" altLang="ja-JP" sz="2400" b="0" i="1" smtClean="0">
                              <a:latin typeface="Cambria Math" panose="02040503050406030204" pitchFamily="18" charset="0"/>
                            </a:rPr>
                          </m:ctrlPr>
                        </m:dPr>
                        <m:e>
                          <m:m>
                            <m:mPr>
                              <m:mcs>
                                <m:mc>
                                  <m:mcPr>
                                    <m:count m:val="2"/>
                                    <m:mcJc m:val="center"/>
                                  </m:mcPr>
                                </m:mc>
                              </m:mcs>
                              <m:ctrlPr>
                                <a:rPr kumimoji="1" lang="en-US" altLang="ja-JP" sz="2400" b="0" i="1" smtClean="0">
                                  <a:latin typeface="Cambria Math" panose="02040503050406030204" pitchFamily="18" charset="0"/>
                                </a:rPr>
                              </m:ctrlPr>
                            </m:mPr>
                            <m:mr>
                              <m:e>
                                <m:m>
                                  <m:mPr>
                                    <m:plcHide m:val="on"/>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1</m:t>
                                      </m:r>
                                    </m:e>
                                    <m:e>
                                      <m:r>
                                        <m:rPr>
                                          <m:brk m:alnAt="7"/>
                                        </m:rPr>
                                        <a:rPr kumimoji="1" lang="en-US" altLang="ja-JP" sz="2400" b="0" i="1" smtClean="0">
                                          <a:latin typeface="Cambria Math" panose="02040503050406030204" pitchFamily="18" charset="0"/>
                                        </a:rPr>
                                        <m:t>0</m:t>
                                      </m:r>
                                    </m:e>
                                  </m:mr>
                                  <m:mr>
                                    <m:e>
                                      <m:r>
                                        <m:rPr>
                                          <m:brk m:alnAt="7"/>
                                        </m:rPr>
                                        <a:rPr kumimoji="1" lang="en-US" altLang="ja-JP" sz="2400" b="0" i="1" smtClean="0">
                                          <a:latin typeface="Cambria Math" panose="02040503050406030204" pitchFamily="18" charset="0"/>
                                        </a:rPr>
                                        <m:t>0</m:t>
                                      </m:r>
                                    </m:e>
                                    <m:e>
                                      <m:r>
                                        <m:rPr>
                                          <m:brk m:alnAt="7"/>
                                        </m:rPr>
                                        <a:rPr kumimoji="1" lang="en-US" altLang="ja-JP" sz="2400" b="0" i="1" smtClean="0">
                                          <a:latin typeface="Cambria Math" panose="02040503050406030204" pitchFamily="18" charset="0"/>
                                        </a:rPr>
                                        <m:t>0</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i="1">
                                          <a:latin typeface="Cambria Math" panose="02040503050406030204" pitchFamily="18" charset="0"/>
                                        </a:rPr>
                                        <m:t>0</m:t>
                                      </m:r>
                                    </m:e>
                                    <m:e>
                                      <m:r>
                                        <a:rPr lang="en-US" altLang="ja-JP" sz="2400" i="1">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1</m:t>
                                      </m:r>
                                    </m:e>
                                  </m:mr>
                                </m:m>
                              </m:e>
                            </m:mr>
                            <m:mr>
                              <m:e>
                                <m:m>
                                  <m:mPr>
                                    <m:mcs>
                                      <m:mc>
                                        <m:mcPr>
                                          <m:count m:val="2"/>
                                          <m:mcJc m:val="center"/>
                                        </m:mcPr>
                                      </m:mc>
                                    </m:mcs>
                                    <m:ctrlPr>
                                      <a:rPr kumimoji="1" lang="en-US" altLang="ja-JP" sz="2400" b="0" i="1" smtClean="0">
                                        <a:latin typeface="Cambria Math" panose="02040503050406030204" pitchFamily="18" charset="0"/>
                                      </a:rPr>
                                    </m:ctrlPr>
                                  </m:mPr>
                                  <m:mr>
                                    <m:e>
                                      <m:r>
                                        <m:rPr>
                                          <m:brk m:alnAt="7"/>
                                        </m:rP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1</m:t>
                                      </m:r>
                                    </m:e>
                                  </m:mr>
                                </m:m>
                              </m:e>
                              <m:e>
                                <m:m>
                                  <m:mPr>
                                    <m:mcs>
                                      <m:mc>
                                        <m:mcPr>
                                          <m:count m:val="2"/>
                                          <m:mcJc m:val="center"/>
                                        </m:mcPr>
                                      </m:mc>
                                    </m:mcs>
                                    <m:ctrlPr>
                                      <a:rPr lang="en-US" altLang="ja-JP" sz="2400" i="1">
                                        <a:latin typeface="Cambria Math" panose="02040503050406030204" pitchFamily="18" charset="0"/>
                                      </a:rPr>
                                    </m:ctrlPr>
                                  </m:mPr>
                                  <m:mr>
                                    <m:e>
                                      <m:r>
                                        <m:rPr>
                                          <m:brk m:alnAt="7"/>
                                        </m:rPr>
                                        <a:rPr lang="en-US" altLang="ja-JP" sz="2400" b="0" i="1" smtClean="0">
                                          <a:latin typeface="Cambria Math" panose="02040503050406030204" pitchFamily="18" charset="0"/>
                                        </a:rPr>
                                        <m:t>1</m:t>
                                      </m:r>
                                    </m:e>
                                    <m:e>
                                      <m:r>
                                        <a:rPr lang="en-US" altLang="ja-JP" sz="2400" b="0" i="1" smtClean="0">
                                          <a:latin typeface="Cambria Math" panose="02040503050406030204" pitchFamily="18" charset="0"/>
                                        </a:rPr>
                                        <m:t>0</m:t>
                                      </m:r>
                                    </m:e>
                                  </m:mr>
                                  <m:mr>
                                    <m:e>
                                      <m:r>
                                        <a:rPr lang="en-US" altLang="ja-JP" sz="2400" b="0" i="1" smtClean="0">
                                          <a:latin typeface="Cambria Math" panose="02040503050406030204" pitchFamily="18" charset="0"/>
                                        </a:rPr>
                                        <m:t>0</m:t>
                                      </m:r>
                                    </m:e>
                                    <m:e>
                                      <m:r>
                                        <a:rPr lang="en-US" altLang="ja-JP" sz="2400" b="0" i="1" smtClean="0">
                                          <a:latin typeface="Cambria Math" panose="02040503050406030204" pitchFamily="18" charset="0"/>
                                        </a:rPr>
                                        <m:t>0</m:t>
                                      </m:r>
                                    </m:e>
                                  </m:mr>
                                </m:m>
                              </m:e>
                            </m:mr>
                          </m:m>
                        </m:e>
                      </m:d>
                    </m:oMath>
                  </m:oMathPara>
                </a14:m>
                <a:endParaRPr kumimoji="1" lang="ja-JP" altLang="en-US" sz="2400"/>
              </a:p>
            </p:txBody>
          </p:sp>
        </mc:Choice>
        <mc:Fallback xmlns="">
          <p:sp>
            <p:nvSpPr>
              <p:cNvPr id="5" name="テキスト ボックス 4">
                <a:extLst>
                  <a:ext uri="{FF2B5EF4-FFF2-40B4-BE49-F238E27FC236}">
                    <a16:creationId xmlns:a16="http://schemas.microsoft.com/office/drawing/2014/main" id="{EE0136A1-9967-40BB-1225-6C57EEFEB02E}"/>
                  </a:ext>
                </a:extLst>
              </p:cNvPr>
              <p:cNvSpPr txBox="1">
                <a:spLocks noRot="1" noChangeAspect="1" noMove="1" noResize="1" noEditPoints="1" noAdjustHandles="1" noChangeArrowheads="1" noChangeShapeType="1" noTextEdit="1"/>
              </p:cNvSpPr>
              <p:nvPr/>
            </p:nvSpPr>
            <p:spPr>
              <a:xfrm>
                <a:off x="7602812" y="1388582"/>
                <a:ext cx="3504229" cy="1284647"/>
              </a:xfrm>
              <a:prstGeom prst="rect">
                <a:avLst/>
              </a:prstGeom>
              <a:blipFill>
                <a:blip r:embed="rId3"/>
                <a:stretch>
                  <a:fillRect t="-980" b="-6863"/>
                </a:stretch>
              </a:blipFill>
            </p:spPr>
            <p:txBody>
              <a:bodyPr/>
              <a:lstStyle/>
              <a:p>
                <a:r>
                  <a:rPr lang="ja-JP" altLang="en-US">
                    <a:noFill/>
                  </a:rPr>
                  <a:t> </a:t>
                </a:r>
              </a:p>
            </p:txBody>
          </p:sp>
        </mc:Fallback>
      </mc:AlternateContent>
      <p:pic>
        <p:nvPicPr>
          <p:cNvPr id="13" name="図 12" descr="グラフィカル ユーザー インターフェイス, アプリケーション, アイコン&#10;&#10;自動的に生成された説明">
            <a:extLst>
              <a:ext uri="{FF2B5EF4-FFF2-40B4-BE49-F238E27FC236}">
                <a16:creationId xmlns:a16="http://schemas.microsoft.com/office/drawing/2014/main" id="{9575EF0F-55EB-CC96-8006-EFAEAA668B2E}"/>
              </a:ext>
            </a:extLst>
          </p:cNvPr>
          <p:cNvPicPr>
            <a:picLocks noChangeAspect="1"/>
          </p:cNvPicPr>
          <p:nvPr/>
        </p:nvPicPr>
        <p:blipFill>
          <a:blip r:embed="rId4"/>
          <a:stretch>
            <a:fillRect/>
          </a:stretch>
        </p:blipFill>
        <p:spPr>
          <a:xfrm>
            <a:off x="1935861" y="2837237"/>
            <a:ext cx="2022681" cy="3989436"/>
          </a:xfrm>
          <a:prstGeom prst="rect">
            <a:avLst/>
          </a:prstGeom>
        </p:spPr>
      </p:pic>
      <p:sp>
        <p:nvSpPr>
          <p:cNvPr id="16" name="テキスト ボックス 15">
            <a:extLst>
              <a:ext uri="{FF2B5EF4-FFF2-40B4-BE49-F238E27FC236}">
                <a16:creationId xmlns:a16="http://schemas.microsoft.com/office/drawing/2014/main" id="{C499BB93-CF5E-C6B3-BA5F-908EAFE80124}"/>
              </a:ext>
            </a:extLst>
          </p:cNvPr>
          <p:cNvSpPr txBox="1"/>
          <p:nvPr/>
        </p:nvSpPr>
        <p:spPr>
          <a:xfrm>
            <a:off x="4973255" y="3244334"/>
            <a:ext cx="2245489" cy="369332"/>
          </a:xfrm>
          <a:prstGeom prst="rect">
            <a:avLst/>
          </a:prstGeom>
          <a:noFill/>
        </p:spPr>
        <p:txBody>
          <a:bodyPr wrap="square" rtlCol="0">
            <a:spAutoFit/>
          </a:bodyPr>
          <a:lstStyle/>
          <a:p>
            <a:pPr algn="ctr"/>
            <a:r>
              <a:rPr kumimoji="1" lang="ja-JP" altLang="en-US"/>
              <a:t>非</a:t>
            </a:r>
            <a:r>
              <a:rPr kumimoji="1" lang="en-US" altLang="ja-JP" dirty="0"/>
              <a:t>0</a:t>
            </a:r>
            <a:r>
              <a:rPr kumimoji="1" lang="ja-JP" altLang="en-US"/>
              <a:t>の値の数は同じ</a:t>
            </a:r>
          </a:p>
        </p:txBody>
      </p:sp>
      <p:cxnSp>
        <p:nvCxnSpPr>
          <p:cNvPr id="20" name="直線矢印コネクタ 19">
            <a:extLst>
              <a:ext uri="{FF2B5EF4-FFF2-40B4-BE49-F238E27FC236}">
                <a16:creationId xmlns:a16="http://schemas.microsoft.com/office/drawing/2014/main" id="{E42714E0-F7F5-DE25-96A4-1408915C0EC6}"/>
              </a:ext>
            </a:extLst>
          </p:cNvPr>
          <p:cNvCxnSpPr>
            <a:stCxn id="16" idx="0"/>
            <a:endCxn id="4" idx="3"/>
          </p:cNvCxnSpPr>
          <p:nvPr/>
        </p:nvCxnSpPr>
        <p:spPr>
          <a:xfrm flipH="1" flipV="1">
            <a:off x="4643210" y="2030907"/>
            <a:ext cx="1452790" cy="1213427"/>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直線矢印コネクタ 20">
            <a:extLst>
              <a:ext uri="{FF2B5EF4-FFF2-40B4-BE49-F238E27FC236}">
                <a16:creationId xmlns:a16="http://schemas.microsoft.com/office/drawing/2014/main" id="{7F19E235-0599-2EFA-CB11-1E2E80AB94EE}"/>
              </a:ext>
            </a:extLst>
          </p:cNvPr>
          <p:cNvCxnSpPr>
            <a:cxnSpLocks/>
            <a:stCxn id="16" idx="0"/>
            <a:endCxn id="5" idx="1"/>
          </p:cNvCxnSpPr>
          <p:nvPr/>
        </p:nvCxnSpPr>
        <p:spPr>
          <a:xfrm flipV="1">
            <a:off x="6096000" y="2030906"/>
            <a:ext cx="1506812" cy="121342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EDCCEE84-848A-E4E4-153E-24E12A8DBD92}"/>
              </a:ext>
            </a:extLst>
          </p:cNvPr>
          <p:cNvSpPr txBox="1"/>
          <p:nvPr/>
        </p:nvSpPr>
        <p:spPr>
          <a:xfrm>
            <a:off x="4157183" y="3696686"/>
            <a:ext cx="3877633" cy="646331"/>
          </a:xfrm>
          <a:prstGeom prst="rect">
            <a:avLst/>
          </a:prstGeom>
          <a:noFill/>
        </p:spPr>
        <p:txBody>
          <a:bodyPr wrap="square" rtlCol="0">
            <a:spAutoFit/>
          </a:bodyPr>
          <a:lstStyle/>
          <a:p>
            <a:pPr algn="ctr"/>
            <a:r>
              <a:rPr kumimoji="1" lang="ja-JP" altLang="en-US"/>
              <a:t>ノードとエッジの数は同数だが、</a:t>
            </a:r>
            <a:br>
              <a:rPr kumimoji="1" lang="en-US" altLang="ja-JP" dirty="0"/>
            </a:br>
            <a:r>
              <a:rPr kumimoji="1" lang="ja-JP" altLang="en-US"/>
              <a:t>演算時などにおける探索回数は増加</a:t>
            </a:r>
          </a:p>
        </p:txBody>
      </p:sp>
      <p:cxnSp>
        <p:nvCxnSpPr>
          <p:cNvPr id="27" name="直線矢印コネクタ 26">
            <a:extLst>
              <a:ext uri="{FF2B5EF4-FFF2-40B4-BE49-F238E27FC236}">
                <a16:creationId xmlns:a16="http://schemas.microsoft.com/office/drawing/2014/main" id="{7CB2B870-6758-5BC0-7DDE-A158D1A8FD7B}"/>
              </a:ext>
            </a:extLst>
          </p:cNvPr>
          <p:cNvCxnSpPr>
            <a:cxnSpLocks/>
            <a:stCxn id="26" idx="2"/>
            <a:endCxn id="13" idx="3"/>
          </p:cNvCxnSpPr>
          <p:nvPr/>
        </p:nvCxnSpPr>
        <p:spPr>
          <a:xfrm flipH="1">
            <a:off x="3958542" y="4343017"/>
            <a:ext cx="2137458" cy="4889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線矢印コネクタ 29">
            <a:extLst>
              <a:ext uri="{FF2B5EF4-FFF2-40B4-BE49-F238E27FC236}">
                <a16:creationId xmlns:a16="http://schemas.microsoft.com/office/drawing/2014/main" id="{39486004-B7A6-20BF-F639-544D923C38A5}"/>
              </a:ext>
            </a:extLst>
          </p:cNvPr>
          <p:cNvCxnSpPr>
            <a:cxnSpLocks/>
            <a:stCxn id="26" idx="2"/>
            <a:endCxn id="23" idx="1"/>
          </p:cNvCxnSpPr>
          <p:nvPr/>
        </p:nvCxnSpPr>
        <p:spPr>
          <a:xfrm>
            <a:off x="6096000" y="4343017"/>
            <a:ext cx="2197370" cy="4889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6" name="図 5" descr="ダイアグラム&#10;&#10;自動的に生成された説明">
            <a:extLst>
              <a:ext uri="{FF2B5EF4-FFF2-40B4-BE49-F238E27FC236}">
                <a16:creationId xmlns:a16="http://schemas.microsoft.com/office/drawing/2014/main" id="{CA991ADE-B400-15B5-75FE-7BC1AC0B27F8}"/>
              </a:ext>
            </a:extLst>
          </p:cNvPr>
          <p:cNvPicPr>
            <a:picLocks noChangeAspect="1"/>
          </p:cNvPicPr>
          <p:nvPr/>
        </p:nvPicPr>
        <p:blipFill>
          <a:blip r:embed="rId5"/>
          <a:stretch>
            <a:fillRect/>
          </a:stretch>
        </p:blipFill>
        <p:spPr>
          <a:xfrm>
            <a:off x="554182" y="3197002"/>
            <a:ext cx="1640614" cy="755203"/>
          </a:xfrm>
          <a:prstGeom prst="rect">
            <a:avLst/>
          </a:prstGeom>
        </p:spPr>
      </p:pic>
      <p:pic>
        <p:nvPicPr>
          <p:cNvPr id="8" name="図 7" descr="ダイアグラム&#10;&#10;自動的に生成された説明">
            <a:extLst>
              <a:ext uri="{FF2B5EF4-FFF2-40B4-BE49-F238E27FC236}">
                <a16:creationId xmlns:a16="http://schemas.microsoft.com/office/drawing/2014/main" id="{673D193B-B5E3-9E1F-363B-5363DF3D5CAA}"/>
              </a:ext>
            </a:extLst>
          </p:cNvPr>
          <p:cNvPicPr>
            <a:picLocks noChangeAspect="1"/>
          </p:cNvPicPr>
          <p:nvPr/>
        </p:nvPicPr>
        <p:blipFill>
          <a:blip r:embed="rId6"/>
          <a:stretch>
            <a:fillRect/>
          </a:stretch>
        </p:blipFill>
        <p:spPr>
          <a:xfrm>
            <a:off x="10194873" y="3248984"/>
            <a:ext cx="1666656" cy="833328"/>
          </a:xfrm>
          <a:prstGeom prst="rect">
            <a:avLst/>
          </a:prstGeom>
        </p:spPr>
      </p:pic>
      <p:pic>
        <p:nvPicPr>
          <p:cNvPr id="23" name="図 22" descr="アイコン&#10;&#10;中程度の精度で自動的に生成された説明">
            <a:extLst>
              <a:ext uri="{FF2B5EF4-FFF2-40B4-BE49-F238E27FC236}">
                <a16:creationId xmlns:a16="http://schemas.microsoft.com/office/drawing/2014/main" id="{CF9F928F-B05C-630C-BF34-DFDAD086B6A8}"/>
              </a:ext>
            </a:extLst>
          </p:cNvPr>
          <p:cNvPicPr>
            <a:picLocks noChangeAspect="1"/>
          </p:cNvPicPr>
          <p:nvPr/>
        </p:nvPicPr>
        <p:blipFill>
          <a:blip r:embed="rId7"/>
          <a:stretch>
            <a:fillRect/>
          </a:stretch>
        </p:blipFill>
        <p:spPr>
          <a:xfrm>
            <a:off x="8293370" y="2837236"/>
            <a:ext cx="2125214" cy="3989437"/>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A9581586-8DD2-130D-4133-7E1625541B60}"/>
                  </a:ext>
                </a:extLst>
              </p:cNvPr>
              <p:cNvSpPr txBox="1"/>
              <p:nvPr/>
            </p:nvSpPr>
            <p:spPr>
              <a:xfrm>
                <a:off x="385465" y="2769458"/>
                <a:ext cx="19732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𝒄𝒕𝒓𝒍</m:t>
                      </m:r>
                      <m:r>
                        <a:rPr kumimoji="1" lang="en-US" altLang="ja-JP" b="1" i="1" smtClean="0">
                          <a:latin typeface="Cambria Math" panose="02040503050406030204" pitchFamily="18" charset="0"/>
                        </a:rPr>
                        <m:t> </m:t>
                      </m:r>
                      <m:r>
                        <a:rPr kumimoji="1" lang="en-US" altLang="ja-JP" b="1" i="1" smtClean="0">
                          <a:latin typeface="Cambria Math" panose="02040503050406030204" pitchFamily="18" charset="0"/>
                        </a:rPr>
                        <m:t>𝒊𝒅𝒙</m:t>
                      </m:r>
                      <m:r>
                        <a:rPr kumimoji="1" lang="en-US" altLang="ja-JP" b="1" i="1" smtClean="0">
                          <a:latin typeface="Cambria Math" panose="02040503050406030204" pitchFamily="18" charset="0"/>
                        </a:rPr>
                        <m:t>&lt;</m:t>
                      </m:r>
                      <m:r>
                        <a:rPr kumimoji="1" lang="en-US" altLang="ja-JP" b="1" i="1" smtClean="0">
                          <a:latin typeface="Cambria Math" panose="02040503050406030204" pitchFamily="18" charset="0"/>
                        </a:rPr>
                        <m:t>𝒕𝒈𝒕</m:t>
                      </m:r>
                      <m:r>
                        <a:rPr kumimoji="1" lang="en-US" altLang="ja-JP" b="1" i="1" smtClean="0">
                          <a:latin typeface="Cambria Math" panose="02040503050406030204" pitchFamily="18" charset="0"/>
                        </a:rPr>
                        <m:t> </m:t>
                      </m:r>
                      <m:r>
                        <a:rPr kumimoji="1" lang="en-US" altLang="ja-JP" b="1" i="1" smtClean="0">
                          <a:latin typeface="Cambria Math" panose="02040503050406030204" pitchFamily="18" charset="0"/>
                        </a:rPr>
                        <m:t>𝒊𝒅𝒙</m:t>
                      </m:r>
                    </m:oMath>
                  </m:oMathPara>
                </a14:m>
                <a:endParaRPr kumimoji="1" lang="ja-JP" altLang="en-US" b="1"/>
              </a:p>
            </p:txBody>
          </p:sp>
        </mc:Choice>
        <mc:Fallback xmlns="">
          <p:sp>
            <p:nvSpPr>
              <p:cNvPr id="25" name="テキスト ボックス 24">
                <a:extLst>
                  <a:ext uri="{FF2B5EF4-FFF2-40B4-BE49-F238E27FC236}">
                    <a16:creationId xmlns:a16="http://schemas.microsoft.com/office/drawing/2014/main" id="{A9581586-8DD2-130D-4133-7E1625541B60}"/>
                  </a:ext>
                </a:extLst>
              </p:cNvPr>
              <p:cNvSpPr txBox="1">
                <a:spLocks noRot="1" noChangeAspect="1" noMove="1" noResize="1" noEditPoints="1" noAdjustHandles="1" noChangeArrowheads="1" noChangeShapeType="1" noTextEdit="1"/>
              </p:cNvSpPr>
              <p:nvPr/>
            </p:nvSpPr>
            <p:spPr>
              <a:xfrm>
                <a:off x="385465" y="2769458"/>
                <a:ext cx="1973297" cy="276999"/>
              </a:xfrm>
              <a:prstGeom prst="rect">
                <a:avLst/>
              </a:prstGeom>
              <a:blipFill>
                <a:blip r:embed="rId8"/>
                <a:stretch>
                  <a:fillRect l="-2564" t="-4167" r="-2564" b="-3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CDDB3CF-8333-4689-1F01-3A74565FD819}"/>
                  </a:ext>
                </a:extLst>
              </p:cNvPr>
              <p:cNvSpPr txBox="1"/>
              <p:nvPr/>
            </p:nvSpPr>
            <p:spPr>
              <a:xfrm>
                <a:off x="10041553" y="2837236"/>
                <a:ext cx="19732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1" i="1" smtClean="0">
                          <a:latin typeface="Cambria Math" panose="02040503050406030204" pitchFamily="18" charset="0"/>
                        </a:rPr>
                        <m:t>𝒄𝒕𝒓𝒍</m:t>
                      </m:r>
                      <m:r>
                        <a:rPr kumimoji="1" lang="en-US" altLang="ja-JP" b="1" i="1" smtClean="0">
                          <a:latin typeface="Cambria Math" panose="02040503050406030204" pitchFamily="18" charset="0"/>
                        </a:rPr>
                        <m:t> </m:t>
                      </m:r>
                      <m:r>
                        <a:rPr kumimoji="1" lang="en-US" altLang="ja-JP" b="1" i="1" smtClean="0">
                          <a:latin typeface="Cambria Math" panose="02040503050406030204" pitchFamily="18" charset="0"/>
                        </a:rPr>
                        <m:t>𝒊𝒅𝒙</m:t>
                      </m:r>
                      <m:r>
                        <a:rPr kumimoji="1" lang="en-US" altLang="ja-JP" b="1" i="1" smtClean="0">
                          <a:latin typeface="Cambria Math" panose="02040503050406030204" pitchFamily="18" charset="0"/>
                        </a:rPr>
                        <m:t>&gt;</m:t>
                      </m:r>
                      <m:r>
                        <a:rPr kumimoji="1" lang="en-US" altLang="ja-JP" b="1" i="1" smtClean="0">
                          <a:latin typeface="Cambria Math" panose="02040503050406030204" pitchFamily="18" charset="0"/>
                        </a:rPr>
                        <m:t>𝒕𝒈𝒕</m:t>
                      </m:r>
                      <m:r>
                        <a:rPr kumimoji="1" lang="en-US" altLang="ja-JP" b="1" i="1" smtClean="0">
                          <a:latin typeface="Cambria Math" panose="02040503050406030204" pitchFamily="18" charset="0"/>
                        </a:rPr>
                        <m:t> </m:t>
                      </m:r>
                      <m:r>
                        <a:rPr kumimoji="1" lang="en-US" altLang="ja-JP" b="1" i="1" smtClean="0">
                          <a:latin typeface="Cambria Math" panose="02040503050406030204" pitchFamily="18" charset="0"/>
                        </a:rPr>
                        <m:t>𝒊𝒅𝒙</m:t>
                      </m:r>
                    </m:oMath>
                  </m:oMathPara>
                </a14:m>
                <a:endParaRPr kumimoji="1" lang="ja-JP" altLang="en-US" b="1"/>
              </a:p>
            </p:txBody>
          </p:sp>
        </mc:Choice>
        <mc:Fallback xmlns="">
          <p:sp>
            <p:nvSpPr>
              <p:cNvPr id="29" name="テキスト ボックス 28">
                <a:extLst>
                  <a:ext uri="{FF2B5EF4-FFF2-40B4-BE49-F238E27FC236}">
                    <a16:creationId xmlns:a16="http://schemas.microsoft.com/office/drawing/2014/main" id="{1CDDB3CF-8333-4689-1F01-3A74565FD819}"/>
                  </a:ext>
                </a:extLst>
              </p:cNvPr>
              <p:cNvSpPr txBox="1">
                <a:spLocks noRot="1" noChangeAspect="1" noMove="1" noResize="1" noEditPoints="1" noAdjustHandles="1" noChangeArrowheads="1" noChangeShapeType="1" noTextEdit="1"/>
              </p:cNvSpPr>
              <p:nvPr/>
            </p:nvSpPr>
            <p:spPr>
              <a:xfrm>
                <a:off x="10041553" y="2837236"/>
                <a:ext cx="1973297" cy="276999"/>
              </a:xfrm>
              <a:prstGeom prst="rect">
                <a:avLst/>
              </a:prstGeom>
              <a:blipFill>
                <a:blip r:embed="rId9"/>
                <a:stretch>
                  <a:fillRect l="-1911" t="-8696" r="-1911" b="-34783"/>
                </a:stretch>
              </a:blipFill>
            </p:spPr>
            <p:txBody>
              <a:bodyPr/>
              <a:lstStyle/>
              <a:p>
                <a:r>
                  <a:rPr lang="ja-JP" altLang="en-US">
                    <a:noFill/>
                  </a:rPr>
                  <a:t> </a:t>
                </a:r>
              </a:p>
            </p:txBody>
          </p:sp>
        </mc:Fallback>
      </mc:AlternateContent>
      <p:sp>
        <p:nvSpPr>
          <p:cNvPr id="3" name="スライド番号プレースホルダー 2">
            <a:extLst>
              <a:ext uri="{FF2B5EF4-FFF2-40B4-BE49-F238E27FC236}">
                <a16:creationId xmlns:a16="http://schemas.microsoft.com/office/drawing/2014/main" id="{6989B1DC-79BA-6B80-E888-D65485820CF0}"/>
              </a:ext>
            </a:extLst>
          </p:cNvPr>
          <p:cNvSpPr>
            <a:spLocks noGrp="1"/>
          </p:cNvSpPr>
          <p:nvPr>
            <p:ph type="sldNum" sz="quarter" idx="12"/>
          </p:nvPr>
        </p:nvSpPr>
        <p:spPr/>
        <p:txBody>
          <a:bodyPr/>
          <a:lstStyle/>
          <a:p>
            <a:fld id="{A05843C0-813E-B949-A4C0-2511A34E55B1}" type="slidenum">
              <a:rPr kumimoji="1" lang="ja-JP" altLang="en-US" smtClean="0"/>
              <a:t>19</a:t>
            </a:fld>
            <a:endParaRPr kumimoji="1" lang="ja-JP" altLang="en-US"/>
          </a:p>
        </p:txBody>
      </p:sp>
    </p:spTree>
    <p:extLst>
      <p:ext uri="{BB962C8B-B14F-4D97-AF65-F5344CB8AC3E}">
        <p14:creationId xmlns:p14="http://schemas.microsoft.com/office/powerpoint/2010/main" val="15039344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14179</TotalTime>
  <Words>2785</Words>
  <Application>Microsoft Macintosh PowerPoint</Application>
  <PresentationFormat>ワイド画面</PresentationFormat>
  <Paragraphs>356</Paragraphs>
  <Slides>19</Slides>
  <Notes>12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19</vt:i4>
      </vt:variant>
    </vt:vector>
  </HeadingPairs>
  <TitlesOfParts>
    <vt:vector size="26" baseType="lpstr">
      <vt:lpstr>游ゴシック</vt:lpstr>
      <vt:lpstr>游ゴシック Light</vt:lpstr>
      <vt:lpstr>游明朝</vt:lpstr>
      <vt:lpstr>Arial</vt:lpstr>
      <vt:lpstr>Cambria Math</vt:lpstr>
      <vt:lpstr>Wingdings</vt:lpstr>
      <vt:lpstr>Office テーマ</vt:lpstr>
      <vt:lpstr>同時に適用する量子ゲートの 適切な選択による QMDDの量子回路シミュレーション</vt:lpstr>
      <vt:lpstr>QMDDを用いた表現</vt:lpstr>
      <vt:lpstr>QMDDの構造</vt:lpstr>
      <vt:lpstr>従来のシミュレーション手法</vt:lpstr>
      <vt:lpstr>ゲート連結</vt:lpstr>
      <vt:lpstr>単一量子ゲートQMDDの形状による大別</vt:lpstr>
      <vt:lpstr>QMDDの形状と計算量の関係</vt:lpstr>
      <vt:lpstr>提案するシミュレーション手法</vt:lpstr>
      <vt:lpstr>多量子ゲートの考慮</vt:lpstr>
      <vt:lpstr>手法の比較</vt:lpstr>
      <vt:lpstr>まとめ</vt:lpstr>
      <vt:lpstr>付録</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多量子ゲートのQMDD表現①</vt:lpstr>
      <vt:lpstr>多量子ゲートのQMDD表現②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三石 海人(is0637ki)</dc:creator>
  <cp:lastModifiedBy>三石 海人(is0637ki)</cp:lastModifiedBy>
  <cp:revision>27</cp:revision>
  <dcterms:created xsi:type="dcterms:W3CDTF">2025-12-11T04:48:17Z</dcterms:created>
  <dcterms:modified xsi:type="dcterms:W3CDTF">2025-12-22T03:08:13Z</dcterms:modified>
</cp:coreProperties>
</file>