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3" r:id="rId3"/>
    <p:sldId id="264" r:id="rId4"/>
    <p:sldId id="328" r:id="rId5"/>
    <p:sldId id="326" r:id="rId6"/>
    <p:sldId id="330" r:id="rId7"/>
    <p:sldId id="332" r:id="rId8"/>
    <p:sldId id="391" r:id="rId9"/>
    <p:sldId id="413" r:id="rId10"/>
    <p:sldId id="398" r:id="rId11"/>
    <p:sldId id="295" r:id="rId12"/>
    <p:sldId id="257" r:id="rId13"/>
    <p:sldId id="331" r:id="rId14"/>
    <p:sldId id="265" r:id="rId15"/>
    <p:sldId id="267" r:id="rId16"/>
    <p:sldId id="269" r:id="rId17"/>
    <p:sldId id="392" r:id="rId18"/>
    <p:sldId id="393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5"/>
    <p:restoredTop sz="91867"/>
  </p:normalViewPr>
  <p:slideViewPr>
    <p:cSldViewPr snapToGrid="0">
      <p:cViewPr>
        <p:scale>
          <a:sx n="88" d="100"/>
          <a:sy n="88" d="100"/>
        </p:scale>
        <p:origin x="1312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127E3B-03AF-1F42-98F8-1A42E6319B7D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FC832-1C17-2B46-9D92-3AA382C5F8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4997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4FCCAA-E98D-924E-8192-CCFDFD99EBA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7686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4FCCAA-E98D-924E-8192-CCFDFD99EBA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705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90566A-FB34-40BB-89ED-909F1B54E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15562EE-6A63-65AD-6725-D58C653B7B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C2BAAE-29D0-0685-DE12-FB5A469D0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92C3F7-6E59-E090-F543-63F11DABD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5CFEFF-D44E-A443-29C7-DB1804E4B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3626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F103CD-2A3B-957C-EC49-753C9E2F9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EBBD17-02B2-FCF1-25E5-C3235F53D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F46DAB-5A75-5B6E-39C4-C359A430E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B06AA3-BD9D-0186-B1B7-20BB62CD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6395702-A898-D83B-C808-574ACB50E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0154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1E3CC9-C4CB-6ED7-2986-2DED393FA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D261FAC-6BFC-7FA5-047E-A03826CC3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ED0179-471C-D5CB-5B88-9A7C60F30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6539B3-BB8D-D3BB-0055-FE420D4D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2B7036-773C-9EC3-ADF2-5AD048652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4626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14C69C-30EC-D10D-B172-FD4ED807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CC1B55-0115-5DB4-23C5-C4FFA639E1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F08616-4894-DFB7-985A-8898E373C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CD3602-4CCB-480E-97E1-DB82B580F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C7435A-0BC3-DEEB-957E-35379009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6C2E5B-6AE6-0F86-F95A-93BEBA279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9339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3471AD-17C9-A001-F0C7-AA5FAE273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7B8220-8A0E-BCC7-55A1-1A40130FE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79C290D-F019-E8E9-93B3-BF8C05D27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78BAB3-0AA5-2A67-11E7-B39BBAD2FF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EAA196C-AC3B-7275-437C-DE854DFCFF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814B3ED-70E4-A29C-4183-718EBC81E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92A18E-3998-0F37-9690-3B7390C1F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5D06042-F89B-8612-ABB8-7260B1E6C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645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68D57B-8E63-240B-1B6F-77EB31DFD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5FD9C1-BFF3-6A2F-D44B-9975A795D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4C9F5B9-654C-167D-A899-2180727F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B450731-C926-1A12-09D3-AA9923942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548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84B6429-532D-C4FE-C511-8AEC05CBD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0DB8BFD-C0B5-018C-F3A0-95E6E77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82EE592-BBED-CB97-E496-1FAC3C280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2244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71CE3A-C7C4-36CB-D850-180EC4979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749CA9-4B33-4F22-C28E-24EC9A49E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8DB7482-B133-1A8A-2312-D6E515D28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85100E-DA58-1882-40A7-3FD842EBF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48FC22-5220-E0EE-DF85-8D18FF74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40C55EC-447E-CA24-27A5-FC7483112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9881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52AFD4-9D64-5F0D-17F5-EE30A028D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C6CB6E-6840-CFEF-8916-E09C582CA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C11B09B-38E3-EF6D-DBDB-94E52FAC62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6651F6F-4671-9D07-64AB-BC2605E9E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232FAA-BBC5-DA11-9153-4362C7511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54E7FAE-3068-71E4-2ABA-19E05A9E1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55081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4B5464-BF58-CFBE-D0C8-059B9BDA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4736-2FA5-1190-3031-F408C20C8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9783B4-4080-DCA9-1D09-9AF42B84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D5AB79-1640-9B5A-0326-1C9E2514D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EF0723-469C-BB66-61E4-1B39C7470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504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2C2C11D-FDAF-AE61-9F93-A7D445B654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43BD950-0B3C-D14B-FD42-5DB4C6D52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6A3C37-C190-878C-4562-DDCA92D32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DE83B1-7174-7868-A84A-7F898826D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4EC120-E428-255F-08E7-8F298C764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001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98D1020-AE1E-A6AB-510C-8F4E3C2FA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8BBE29-D4F5-B6A1-46F1-BFF80A61F8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F0ED12-96F1-6F5A-5F74-1EC9368BD9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EB5D25-29CC-6799-F7F0-6DAE1C02A7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4098E5-3F86-01DB-FB84-21C90AC30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3484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4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12" Type="http://schemas.openxmlformats.org/officeDocument/2006/relationships/image" Target="../media/image2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19.png"/><Relationship Id="rId5" Type="http://schemas.openxmlformats.org/officeDocument/2006/relationships/image" Target="../media/image36.png"/><Relationship Id="rId10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30.png"/><Relationship Id="rId3" Type="http://schemas.openxmlformats.org/officeDocument/2006/relationships/image" Target="../media/image340.png"/><Relationship Id="rId7" Type="http://schemas.openxmlformats.org/officeDocument/2006/relationships/image" Target="../media/image420.png"/><Relationship Id="rId12" Type="http://schemas.openxmlformats.org/officeDocument/2006/relationships/image" Target="../media/image520.png"/><Relationship Id="rId17" Type="http://schemas.openxmlformats.org/officeDocument/2006/relationships/image" Target="../media/image6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60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1.png"/><Relationship Id="rId11" Type="http://schemas.openxmlformats.org/officeDocument/2006/relationships/image" Target="../media/image510.png"/><Relationship Id="rId5" Type="http://schemas.openxmlformats.org/officeDocument/2006/relationships/image" Target="../media/image29.png"/><Relationship Id="rId15" Type="http://schemas.openxmlformats.org/officeDocument/2006/relationships/image" Target="../media/image550.png"/><Relationship Id="rId10" Type="http://schemas.openxmlformats.org/officeDocument/2006/relationships/image" Target="../media/image500.png"/><Relationship Id="rId19" Type="http://schemas.openxmlformats.org/officeDocument/2006/relationships/image" Target="../media/image63.png"/><Relationship Id="rId4" Type="http://schemas.openxmlformats.org/officeDocument/2006/relationships/image" Target="../media/image28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66.png"/><Relationship Id="rId3" Type="http://schemas.openxmlformats.org/officeDocument/2006/relationships/image" Target="../media/image29.png"/><Relationship Id="rId7" Type="http://schemas.openxmlformats.org/officeDocument/2006/relationships/image" Target="../media/image600.png"/><Relationship Id="rId12" Type="http://schemas.openxmlformats.org/officeDocument/2006/relationships/image" Target="../media/image650.png"/><Relationship Id="rId17" Type="http://schemas.openxmlformats.org/officeDocument/2006/relationships/image" Target="../media/image28.png"/><Relationship Id="rId2" Type="http://schemas.openxmlformats.org/officeDocument/2006/relationships/image" Target="../media/image580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0.png"/><Relationship Id="rId11" Type="http://schemas.openxmlformats.org/officeDocument/2006/relationships/image" Target="../media/image640.png"/><Relationship Id="rId5" Type="http://schemas.openxmlformats.org/officeDocument/2006/relationships/image" Target="../media/image590.png"/><Relationship Id="rId15" Type="http://schemas.openxmlformats.org/officeDocument/2006/relationships/image" Target="../media/image68.png"/><Relationship Id="rId10" Type="http://schemas.openxmlformats.org/officeDocument/2006/relationships/image" Target="../media/image630.png"/><Relationship Id="rId9" Type="http://schemas.openxmlformats.org/officeDocument/2006/relationships/image" Target="../media/image65.png"/><Relationship Id="rId14" Type="http://schemas.openxmlformats.org/officeDocument/2006/relationships/image" Target="../media/image6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13" Type="http://schemas.openxmlformats.org/officeDocument/2006/relationships/image" Target="../media/image611.png"/><Relationship Id="rId18" Type="http://schemas.openxmlformats.org/officeDocument/2006/relationships/image" Target="../media/image76.png"/><Relationship Id="rId3" Type="http://schemas.openxmlformats.org/officeDocument/2006/relationships/image" Target="../media/image28.png"/><Relationship Id="rId21" Type="http://schemas.openxmlformats.org/officeDocument/2006/relationships/image" Target="../media/image79.png"/><Relationship Id="rId7" Type="http://schemas.openxmlformats.org/officeDocument/2006/relationships/image" Target="../media/image70.png"/><Relationship Id="rId12" Type="http://schemas.openxmlformats.org/officeDocument/2006/relationships/image" Target="../media/image600.png"/><Relationship Id="rId17" Type="http://schemas.openxmlformats.org/officeDocument/2006/relationships/image" Target="../media/image75.png"/><Relationship Id="rId25" Type="http://schemas.openxmlformats.org/officeDocument/2006/relationships/image" Target="../media/image32.png"/><Relationship Id="rId2" Type="http://schemas.openxmlformats.org/officeDocument/2006/relationships/image" Target="../media/image690.png"/><Relationship Id="rId16" Type="http://schemas.openxmlformats.org/officeDocument/2006/relationships/image" Target="../media/image74.png"/><Relationship Id="rId20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11" Type="http://schemas.openxmlformats.org/officeDocument/2006/relationships/image" Target="../media/image590.png"/><Relationship Id="rId24" Type="http://schemas.openxmlformats.org/officeDocument/2006/relationships/image" Target="../media/image82.png"/><Relationship Id="rId5" Type="http://schemas.openxmlformats.org/officeDocument/2006/relationships/image" Target="../media/image411.png"/><Relationship Id="rId15" Type="http://schemas.openxmlformats.org/officeDocument/2006/relationships/image" Target="../media/image73.png"/><Relationship Id="rId23" Type="http://schemas.openxmlformats.org/officeDocument/2006/relationships/image" Target="../media/image81.png"/><Relationship Id="rId10" Type="http://schemas.openxmlformats.org/officeDocument/2006/relationships/image" Target="../media/image72.png"/><Relationship Id="rId19" Type="http://schemas.openxmlformats.org/officeDocument/2006/relationships/image" Target="../media/image77.png"/><Relationship Id="rId4" Type="http://schemas.openxmlformats.org/officeDocument/2006/relationships/image" Target="../media/image29.png"/><Relationship Id="rId9" Type="http://schemas.openxmlformats.org/officeDocument/2006/relationships/image" Target="../media/image71.png"/><Relationship Id="rId14" Type="http://schemas.openxmlformats.org/officeDocument/2006/relationships/image" Target="../media/image62.png"/><Relationship Id="rId22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13" Type="http://schemas.openxmlformats.org/officeDocument/2006/relationships/image" Target="../media/image540.png"/><Relationship Id="rId18" Type="http://schemas.openxmlformats.org/officeDocument/2006/relationships/image" Target="../media/image85.png"/><Relationship Id="rId3" Type="http://schemas.openxmlformats.org/officeDocument/2006/relationships/image" Target="../media/image28.png"/><Relationship Id="rId7" Type="http://schemas.openxmlformats.org/officeDocument/2006/relationships/image" Target="../media/image480.png"/><Relationship Id="rId12" Type="http://schemas.openxmlformats.org/officeDocument/2006/relationships/image" Target="../media/image530.png"/><Relationship Id="rId17" Type="http://schemas.openxmlformats.org/officeDocument/2006/relationships/image" Target="../media/image84.png"/><Relationship Id="rId2" Type="http://schemas.openxmlformats.org/officeDocument/2006/relationships/image" Target="../media/image830.png"/><Relationship Id="rId16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11" Type="http://schemas.openxmlformats.org/officeDocument/2006/relationships/image" Target="../media/image520.png"/><Relationship Id="rId5" Type="http://schemas.openxmlformats.org/officeDocument/2006/relationships/image" Target="../media/image411.png"/><Relationship Id="rId15" Type="http://schemas.openxmlformats.org/officeDocument/2006/relationships/image" Target="../media/image560.png"/><Relationship Id="rId10" Type="http://schemas.openxmlformats.org/officeDocument/2006/relationships/image" Target="../media/image510.png"/><Relationship Id="rId19" Type="http://schemas.openxmlformats.org/officeDocument/2006/relationships/image" Target="../media/image33.png"/><Relationship Id="rId4" Type="http://schemas.openxmlformats.org/officeDocument/2006/relationships/image" Target="../media/image29.png"/><Relationship Id="rId9" Type="http://schemas.openxmlformats.org/officeDocument/2006/relationships/image" Target="../media/image500.png"/><Relationship Id="rId14" Type="http://schemas.openxmlformats.org/officeDocument/2006/relationships/image" Target="../media/image5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280.png"/><Relationship Id="rId7" Type="http://schemas.openxmlformats.org/officeDocument/2006/relationships/image" Target="../media/image4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5.png"/><Relationship Id="rId9" Type="http://schemas.openxmlformats.org/officeDocument/2006/relationships/image" Target="../media/image3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71EC0-13C8-2482-7018-27885F87D2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QMDD</a:t>
            </a:r>
            <a:r>
              <a:rPr kumimoji="1" lang="ja-JP" altLang="en-US"/>
              <a:t>を用いた量子回路シミュレータにおけるシミュレーション手法の最適化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76B64C5-D80A-B101-9F65-AE8E636856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/>
              <a:t>次世代コンピューティング研究室</a:t>
            </a:r>
            <a:endParaRPr kumimoji="1" lang="en-US" altLang="ja-JP" dirty="0"/>
          </a:p>
          <a:p>
            <a:r>
              <a:rPr lang="ja-JP" altLang="en-US"/>
              <a:t>三石</a:t>
            </a:r>
            <a:r>
              <a:rPr lang="en-US" altLang="ja-JP" dirty="0"/>
              <a:t> </a:t>
            </a:r>
            <a:r>
              <a:rPr lang="ja-JP" altLang="en-US"/>
              <a:t>海人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3468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46C40-4537-222C-BC70-F9238B510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QMDD</a:t>
            </a:r>
            <a:r>
              <a:rPr kumimoji="1" lang="ja-JP" altLang="en-US"/>
              <a:t>を用いた表現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F4BE56A-50A7-E22E-90B9-26F9D33C3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QMDD : Quantum Multiple-valued Decision Diagrams</a:t>
            </a:r>
          </a:p>
          <a:p>
            <a:pPr lvl="1"/>
            <a:r>
              <a:rPr kumimoji="1" lang="ja-JP" altLang="en-US"/>
              <a:t>量子回路を表現・操作するためのデータ構造</a:t>
            </a:r>
            <a:endParaRPr kumimoji="1" lang="en-US" altLang="ja-JP" dirty="0"/>
          </a:p>
          <a:p>
            <a:pPr lvl="1"/>
            <a:r>
              <a:rPr lang="ja-JP" altLang="en-US"/>
              <a:t>行列をスカラになるまで</a:t>
            </a:r>
            <a:r>
              <a:rPr lang="en-US" altLang="ja-JP" dirty="0"/>
              <a:t>4</a:t>
            </a:r>
            <a:r>
              <a:rPr lang="ja-JP" altLang="en-US"/>
              <a:t>分割して表現</a:t>
            </a:r>
            <a:endParaRPr kumimoji="1" lang="en-US" altLang="ja-JP" dirty="0"/>
          </a:p>
          <a:p>
            <a:pPr lvl="1"/>
            <a:r>
              <a:rPr lang="ja-JP" altLang="en-US"/>
              <a:t>行列表現よりも</a:t>
            </a:r>
            <a:r>
              <a:rPr lang="ja-JP" altLang="en-US">
                <a:solidFill>
                  <a:srgbClr val="FF0000"/>
                </a:solidFill>
              </a:rPr>
              <a:t>必要メモリを削減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kumimoji="1" lang="ja-JP" altLang="en-US"/>
              <a:t>零行列や共通する部分行列を利用して圧縮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76842DBF-1755-BBD8-59FE-277BAB37F8A6}"/>
                  </a:ext>
                </a:extLst>
              </p:cNvPr>
              <p:cNvSpPr txBox="1"/>
              <p:nvPr/>
            </p:nvSpPr>
            <p:spPr>
              <a:xfrm>
                <a:off x="1788794" y="4183380"/>
                <a:ext cx="2245995" cy="6837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01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76842DBF-1755-BBD8-59FE-277BAB37F8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8794" y="4183380"/>
                <a:ext cx="2245995" cy="683713"/>
              </a:xfrm>
              <a:prstGeom prst="rect">
                <a:avLst/>
              </a:prstGeom>
              <a:blipFill>
                <a:blip r:embed="rId3"/>
                <a:stretch>
                  <a:fillRect l="-2247" t="-1818" b="-727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CB9512F-E3BB-5B41-4628-71E85E39B324}"/>
              </a:ext>
            </a:extLst>
          </p:cNvPr>
          <p:cNvSpPr txBox="1"/>
          <p:nvPr/>
        </p:nvSpPr>
        <p:spPr>
          <a:xfrm>
            <a:off x="2351721" y="5942568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行列表現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3D2F1D-5F86-474E-40D0-0A73C4F4BAC3}"/>
              </a:ext>
            </a:extLst>
          </p:cNvPr>
          <p:cNvSpPr txBox="1"/>
          <p:nvPr/>
        </p:nvSpPr>
        <p:spPr>
          <a:xfrm>
            <a:off x="7875435" y="5942568"/>
            <a:ext cx="93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QMDD</a:t>
            </a:r>
            <a:endParaRPr kumimoji="1" lang="ja-JP" altLang="en-US" b="1"/>
          </a:p>
        </p:txBody>
      </p:sp>
      <p:pic>
        <p:nvPicPr>
          <p:cNvPr id="7" name="図 6" descr="黒い背景と白い文字&#10;&#10;自動的に生成された説明">
            <a:extLst>
              <a:ext uri="{FF2B5EF4-FFF2-40B4-BE49-F238E27FC236}">
                <a16:creationId xmlns:a16="http://schemas.microsoft.com/office/drawing/2014/main" id="{D3AFADEB-08FA-28E6-B55D-319C8C02D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711" y="2831653"/>
            <a:ext cx="4000495" cy="2975978"/>
          </a:xfrm>
          <a:prstGeom prst="rect">
            <a:avLst/>
          </a:prstGeom>
        </p:spPr>
      </p:pic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6D76037-5C80-9FC9-76D4-946CC074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F3317-65BA-D746-98B8-3038158C8C28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26" name="円/楕円 25">
            <a:extLst>
              <a:ext uri="{FF2B5EF4-FFF2-40B4-BE49-F238E27FC236}">
                <a16:creationId xmlns:a16="http://schemas.microsoft.com/office/drawing/2014/main" id="{844F6F19-119C-91D2-06FE-ACE294D5954D}"/>
              </a:ext>
            </a:extLst>
          </p:cNvPr>
          <p:cNvSpPr/>
          <p:nvPr/>
        </p:nvSpPr>
        <p:spPr>
          <a:xfrm rot="3175257">
            <a:off x="6962333" y="3673883"/>
            <a:ext cx="826702" cy="2584075"/>
          </a:xfrm>
          <a:prstGeom prst="ellipse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円/楕円 26">
            <a:extLst>
              <a:ext uri="{FF2B5EF4-FFF2-40B4-BE49-F238E27FC236}">
                <a16:creationId xmlns:a16="http://schemas.microsoft.com/office/drawing/2014/main" id="{4D20296F-859D-D2F3-C056-50C1948E9A0C}"/>
              </a:ext>
            </a:extLst>
          </p:cNvPr>
          <p:cNvSpPr/>
          <p:nvPr/>
        </p:nvSpPr>
        <p:spPr>
          <a:xfrm rot="1514347">
            <a:off x="7622697" y="4133200"/>
            <a:ext cx="826702" cy="1917343"/>
          </a:xfrm>
          <a:prstGeom prst="ellipse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円/楕円 27">
            <a:extLst>
              <a:ext uri="{FF2B5EF4-FFF2-40B4-BE49-F238E27FC236}">
                <a16:creationId xmlns:a16="http://schemas.microsoft.com/office/drawing/2014/main" id="{15E04F87-A857-DD0A-D8DD-9C0399AC0816}"/>
              </a:ext>
            </a:extLst>
          </p:cNvPr>
          <p:cNvSpPr/>
          <p:nvPr/>
        </p:nvSpPr>
        <p:spPr>
          <a:xfrm rot="20234308">
            <a:off x="8365892" y="4096471"/>
            <a:ext cx="826702" cy="1917343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円/楕円 28">
            <a:extLst>
              <a:ext uri="{FF2B5EF4-FFF2-40B4-BE49-F238E27FC236}">
                <a16:creationId xmlns:a16="http://schemas.microsoft.com/office/drawing/2014/main" id="{6EBE49DE-B5D3-940B-E5C5-84E1F19ED0BB}"/>
              </a:ext>
            </a:extLst>
          </p:cNvPr>
          <p:cNvSpPr/>
          <p:nvPr/>
        </p:nvSpPr>
        <p:spPr>
          <a:xfrm rot="18532584">
            <a:off x="9005602" y="3673883"/>
            <a:ext cx="826702" cy="2584075"/>
          </a:xfrm>
          <a:prstGeom prst="ellipse">
            <a:avLst/>
          </a:prstGeom>
          <a:noFill/>
          <a:ln>
            <a:solidFill>
              <a:srgbClr val="7030A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497A7C0A-9FB8-6462-0426-B47998E6506C}"/>
              </a:ext>
            </a:extLst>
          </p:cNvPr>
          <p:cNvSpPr/>
          <p:nvPr/>
        </p:nvSpPr>
        <p:spPr>
          <a:xfrm>
            <a:off x="2523698" y="4163831"/>
            <a:ext cx="671977" cy="361408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5829F2C2-ADB7-6932-CDAD-A330F3EB1F59}"/>
              </a:ext>
            </a:extLst>
          </p:cNvPr>
          <p:cNvSpPr/>
          <p:nvPr/>
        </p:nvSpPr>
        <p:spPr>
          <a:xfrm flipV="1">
            <a:off x="2521280" y="4525236"/>
            <a:ext cx="671976" cy="369301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57B02F4C-B8E0-0DCD-1674-42BDA96190A4}"/>
              </a:ext>
            </a:extLst>
          </p:cNvPr>
          <p:cNvSpPr/>
          <p:nvPr/>
        </p:nvSpPr>
        <p:spPr>
          <a:xfrm flipH="1">
            <a:off x="3193254" y="4178514"/>
            <a:ext cx="669556" cy="341855"/>
          </a:xfrm>
          <a:prstGeom prst="roundRect">
            <a:avLst/>
          </a:prstGeom>
          <a:noFill/>
          <a:ln w="285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E5427364-8771-6D50-A68C-F38DF0916780}"/>
              </a:ext>
            </a:extLst>
          </p:cNvPr>
          <p:cNvSpPr/>
          <p:nvPr/>
        </p:nvSpPr>
        <p:spPr>
          <a:xfrm>
            <a:off x="3193255" y="4525236"/>
            <a:ext cx="669551" cy="369281"/>
          </a:xfrm>
          <a:prstGeom prst="roundRect">
            <a:avLst/>
          </a:prstGeom>
          <a:noFill/>
          <a:ln w="28575">
            <a:solidFill>
              <a:srgbClr val="7030A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705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5A4EF-B385-D8F7-7CC1-08E1229E7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従来</a:t>
            </a:r>
            <a:r>
              <a:rPr kumimoji="1" lang="ja-JP" altLang="en-US"/>
              <a:t>のシミュレーション手法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96A97A3-E3CF-14A4-1B39-174F7B02B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ja-JP" altLang="en-US"/>
              <a:t>量子回路の</a:t>
            </a:r>
            <a:r>
              <a:rPr lang="ja-JP" altLang="en-US">
                <a:solidFill>
                  <a:srgbClr val="FF0000"/>
                </a:solidFill>
              </a:rPr>
              <a:t>深さを最小</a:t>
            </a:r>
            <a:r>
              <a:rPr lang="ja-JP" altLang="en-US"/>
              <a:t>にするような設計</a:t>
            </a:r>
            <a:endParaRPr lang="en-US" altLang="ja-JP" dirty="0"/>
          </a:p>
          <a:p>
            <a:r>
              <a:rPr kumimoji="1" lang="ja-JP" altLang="en-US"/>
              <a:t>並列実行可能なゲートを同じレイヤに配置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b="1"/>
              <a:t>問題点</a:t>
            </a:r>
            <a:endParaRPr kumimoji="1" lang="en-US" altLang="ja-JP" b="1" dirty="0"/>
          </a:p>
          <a:p>
            <a:r>
              <a:rPr lang="en-US" altLang="ja-JP" dirty="0"/>
              <a:t>QMDD</a:t>
            </a:r>
            <a:r>
              <a:rPr lang="ja-JP" altLang="en-US"/>
              <a:t>サイズ大</a:t>
            </a:r>
            <a:endParaRPr lang="en-US" altLang="ja-JP" dirty="0"/>
          </a:p>
          <a:p>
            <a:r>
              <a:rPr kumimoji="1" lang="ja-JP" altLang="en-US" u="sng"/>
              <a:t>連結するゲートの形状に依存して演算時の</a:t>
            </a:r>
            <a:r>
              <a:rPr kumimoji="1" lang="ja-JP" altLang="en-US" u="sng">
                <a:solidFill>
                  <a:srgbClr val="FF0000"/>
                </a:solidFill>
              </a:rPr>
              <a:t>再帰数が増加</a:t>
            </a:r>
          </a:p>
        </p:txBody>
      </p:sp>
      <p:pic>
        <p:nvPicPr>
          <p:cNvPr id="4" name="図 3" descr="ダイアグラム&#10;&#10;自動的に生成された説明">
            <a:extLst>
              <a:ext uri="{FF2B5EF4-FFF2-40B4-BE49-F238E27FC236}">
                <a16:creationId xmlns:a16="http://schemas.microsoft.com/office/drawing/2014/main" id="{B68AE4E2-045C-BA80-365B-94EFBE0C01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11" t="2306" r="6362" b="8296"/>
          <a:stretch/>
        </p:blipFill>
        <p:spPr>
          <a:xfrm>
            <a:off x="1696761" y="2932531"/>
            <a:ext cx="1461978" cy="14938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F1ABDD4-B3F4-6614-ABDD-C1A81B8E76ED}"/>
                  </a:ext>
                </a:extLst>
              </p:cNvPr>
              <p:cNvSpPr txBox="1"/>
              <p:nvPr/>
            </p:nvSpPr>
            <p:spPr>
              <a:xfrm>
                <a:off x="2478730" y="3494802"/>
                <a:ext cx="283571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altLang="ja-JP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⨂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kumimoji="1" lang="en-US" altLang="ja-JP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⨂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kumimoji="1" lang="ja-JP" altLang="en-US" sz="240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F1ABDD4-B3F4-6614-ABDD-C1A81B8E7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730" y="3494802"/>
                <a:ext cx="2835713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928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C47D69-CC51-BB7E-6E9A-21D68C527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単一量子ゲート</a:t>
            </a:r>
            <a:r>
              <a:rPr kumimoji="1" lang="en-US" altLang="ja-JP" dirty="0"/>
              <a:t>QMDD</a:t>
            </a:r>
            <a:r>
              <a:rPr kumimoji="1" lang="ja-JP" altLang="en-US"/>
              <a:t>の形状による大別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テキスト プレースホルダー 2">
                <a:extLst>
                  <a:ext uri="{FF2B5EF4-FFF2-40B4-BE49-F238E27FC236}">
                    <a16:creationId xmlns:a16="http://schemas.microsoft.com/office/drawing/2014/main" id="{762437C9-E30A-17CE-27D3-56D0F534D43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kumimoji="1" lang="en-US" altLang="ja-JP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kumimoji="1" lang="ja-JP" altLang="en-US"/>
                  <a:t>の要素を持つ</a:t>
                </a:r>
              </a:p>
            </p:txBody>
          </p:sp>
        </mc:Choice>
        <mc:Fallback>
          <p:sp>
            <p:nvSpPr>
              <p:cNvPr id="3" name="テキスト プレースホルダー 2">
                <a:extLst>
                  <a:ext uri="{FF2B5EF4-FFF2-40B4-BE49-F238E27FC236}">
                    <a16:creationId xmlns:a16="http://schemas.microsoft.com/office/drawing/2014/main" id="{762437C9-E30A-17CE-27D3-56D0F534D4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246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コンテンツ プレースホルダー 3">
                <a:extLst>
                  <a:ext uri="{FF2B5EF4-FFF2-40B4-BE49-F238E27FC236}">
                    <a16:creationId xmlns:a16="http://schemas.microsoft.com/office/drawing/2014/main" id="{E53BC16D-65C0-80AB-E0AE-CE7FB72EABF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kumimoji="1" lang="ja-JP" altLang="en-US"/>
                  <a:t>例</a:t>
                </a:r>
                <a:r>
                  <a:rPr lang="en-US" altLang="ja-JP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𝑋</m:t>
                    </m:r>
                  </m:oMath>
                </a14:m>
                <a:r>
                  <a:rPr kumimoji="1" lang="ja-JP" altLang="en-US"/>
                  <a:t>ゲート</a:t>
                </a:r>
                <a:endParaRPr kumimoji="1" lang="en-US" altLang="ja-JP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en-US" altLang="ja-JP" dirty="0"/>
              </a:p>
              <a:p>
                <a:pPr marL="0" indent="0">
                  <a:buNone/>
                </a:pPr>
                <a:endParaRPr kumimoji="1" lang="ja-JP" altLang="en-US"/>
              </a:p>
            </p:txBody>
          </p:sp>
        </mc:Choice>
        <mc:Fallback>
          <p:sp>
            <p:nvSpPr>
              <p:cNvPr id="4" name="コンテンツ プレースホルダー 3">
                <a:extLst>
                  <a:ext uri="{FF2B5EF4-FFF2-40B4-BE49-F238E27FC236}">
                    <a16:creationId xmlns:a16="http://schemas.microsoft.com/office/drawing/2014/main" id="{E53BC16D-65C0-80AB-E0AE-CE7FB72EAB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211" t="-27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568D51A-D0DC-724C-DE3B-60F237792E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kumimoji="1" lang="ja-JP" altLang="en-US"/>
              <a:t>非ゼロの要素のみを持つ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コンテンツ プレースホルダー 5">
                <a:extLst>
                  <a:ext uri="{FF2B5EF4-FFF2-40B4-BE49-F238E27FC236}">
                    <a16:creationId xmlns:a16="http://schemas.microsoft.com/office/drawing/2014/main" id="{251733BC-71C7-EEDD-3CE6-FBEE55847BA3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/>
            <p:txBody>
              <a:bodyPr/>
              <a:lstStyle/>
              <a:p>
                <a:r>
                  <a:rPr kumimoji="1" lang="ja-JP" altLang="en-US"/>
                  <a:t>例</a:t>
                </a:r>
                <a:r>
                  <a:rPr kumimoji="1" lang="en-US" altLang="ja-JP" dirty="0"/>
                  <a:t>: 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kumimoji="1" lang="ja-JP" altLang="en-US"/>
                  <a:t>ゲート</a:t>
                </a:r>
                <a:endParaRPr kumimoji="1" lang="en-US" altLang="ja-JP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en-US" altLang="ja-JP" dirty="0"/>
              </a:p>
              <a:p>
                <a:endParaRPr kumimoji="1" lang="ja-JP" altLang="en-US"/>
              </a:p>
            </p:txBody>
          </p:sp>
        </mc:Choice>
        <mc:Fallback>
          <p:sp>
            <p:nvSpPr>
              <p:cNvPr id="6" name="コンテンツ プレースホルダー 5">
                <a:extLst>
                  <a:ext uri="{FF2B5EF4-FFF2-40B4-BE49-F238E27FC236}">
                    <a16:creationId xmlns:a16="http://schemas.microsoft.com/office/drawing/2014/main" id="{251733BC-71C7-EEDD-3CE6-FBEE55847B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blipFill>
                <a:blip r:embed="rId4"/>
                <a:stretch>
                  <a:fillRect l="-2200" t="-27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図 9" descr="アプリケーション が含まれている画像&#10;&#10;自動的に生成された説明">
            <a:extLst>
              <a:ext uri="{FF2B5EF4-FFF2-40B4-BE49-F238E27FC236}">
                <a16:creationId xmlns:a16="http://schemas.microsoft.com/office/drawing/2014/main" id="{FEA15D4E-CD64-1EE0-3BEE-A0463EEEBB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163" y="3259455"/>
            <a:ext cx="1584283" cy="3233420"/>
          </a:xfrm>
          <a:prstGeom prst="rect">
            <a:avLst/>
          </a:prstGeom>
        </p:spPr>
      </p:pic>
      <p:pic>
        <p:nvPicPr>
          <p:cNvPr id="12" name="図 11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FFC2EFF6-A0F8-E51C-D6ED-763FD8AAC0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8839" y="3319462"/>
            <a:ext cx="1584283" cy="3233420"/>
          </a:xfrm>
          <a:prstGeom prst="rect">
            <a:avLst/>
          </a:pr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FEF342-4272-A0FA-3B79-9AD52C8C8CF5}"/>
              </a:ext>
            </a:extLst>
          </p:cNvPr>
          <p:cNvSpPr/>
          <p:nvPr/>
        </p:nvSpPr>
        <p:spPr>
          <a:xfrm>
            <a:off x="896377" y="5256324"/>
            <a:ext cx="332423" cy="33242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EBCD04C-F24A-EA5D-BAC6-C63AF95371AF}"/>
              </a:ext>
            </a:extLst>
          </p:cNvPr>
          <p:cNvSpPr/>
          <p:nvPr/>
        </p:nvSpPr>
        <p:spPr>
          <a:xfrm>
            <a:off x="1682282" y="5256324"/>
            <a:ext cx="332423" cy="33242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71716D5-2669-8C1C-BA01-F9F2515982AA}"/>
              </a:ext>
            </a:extLst>
          </p:cNvPr>
          <p:cNvSpPr/>
          <p:nvPr/>
        </p:nvSpPr>
        <p:spPr>
          <a:xfrm>
            <a:off x="3869987" y="3307510"/>
            <a:ext cx="332423" cy="33242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7A08E46-3287-1589-992A-713DEDD5B08E}"/>
              </a:ext>
            </a:extLst>
          </p:cNvPr>
          <p:cNvSpPr/>
          <p:nvPr/>
        </p:nvSpPr>
        <p:spPr>
          <a:xfrm>
            <a:off x="3329116" y="2897152"/>
            <a:ext cx="332423" cy="33242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471DA501-B924-86DC-5181-E96A86B7419C}"/>
                  </a:ext>
                </a:extLst>
              </p:cNvPr>
              <p:cNvSpPr txBox="1"/>
              <p:nvPr/>
            </p:nvSpPr>
            <p:spPr>
              <a:xfrm>
                <a:off x="2505616" y="3881339"/>
                <a:ext cx="2840444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1" lang="ja-JP" altLang="en-US"/>
                  <a:t>の要素の数は</a:t>
                </a:r>
                <a:r>
                  <a:rPr kumimoji="1" lang="en-US" altLang="ja-JP" dirty="0"/>
                  <a:t>2</a:t>
                </a:r>
                <a:r>
                  <a:rPr kumimoji="1" lang="ja-JP" altLang="en-US"/>
                  <a:t>個</a:t>
                </a:r>
                <a:endParaRPr kumimoji="1" lang="en-US" altLang="ja-JP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ja-JP" altLang="en-US"/>
                  <a:t>奇数個になるものは存在しない</a:t>
                </a:r>
                <a:br>
                  <a:rPr lang="en-US" altLang="ja-JP" dirty="0"/>
                </a:br>
                <a:endParaRPr lang="en-US" altLang="ja-JP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kumimoji="1" lang="ja-JP" altLang="en-US"/>
                  <a:t>演算中に再帰を</a:t>
                </a:r>
                <a:br>
                  <a:rPr kumimoji="1" lang="en-US" altLang="ja-JP" dirty="0"/>
                </a:br>
                <a:r>
                  <a:rPr kumimoji="1" lang="ja-JP" altLang="en-US"/>
                  <a:t>スキップする役割</a:t>
                </a:r>
                <a:endParaRPr kumimoji="1" lang="en-US" altLang="ja-JP" dirty="0"/>
              </a:p>
            </p:txBody>
          </p:sp>
        </mc:Choice>
        <mc:Fallback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471DA501-B924-86DC-5181-E96A86B74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616" y="3881339"/>
                <a:ext cx="2840444" cy="1754326"/>
              </a:xfrm>
              <a:prstGeom prst="rect">
                <a:avLst/>
              </a:prstGeom>
              <a:blipFill>
                <a:blip r:embed="rId7"/>
                <a:stretch>
                  <a:fillRect l="-1339" t="-1439" b="-503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58858FC-9EDE-B377-FFD2-CC2C846EE592}"/>
              </a:ext>
            </a:extLst>
          </p:cNvPr>
          <p:cNvSpPr/>
          <p:nvPr/>
        </p:nvSpPr>
        <p:spPr>
          <a:xfrm>
            <a:off x="6159568" y="5303242"/>
            <a:ext cx="1183681" cy="332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FF3091F-9912-3A0C-DE07-90C6C80FB914}"/>
              </a:ext>
            </a:extLst>
          </p:cNvPr>
          <p:cNvSpPr txBox="1"/>
          <p:nvPr/>
        </p:nvSpPr>
        <p:spPr>
          <a:xfrm>
            <a:off x="8135901" y="4613006"/>
            <a:ext cx="28404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/>
              <a:t>演算時に全てのエッジの探索が必要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72827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65B21F-8EEA-3C6B-1A82-CAB687022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ゲート連結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961404-F359-2CA4-5A27-E87052788F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>
                <a:solidFill>
                  <a:srgbClr val="FF0000"/>
                </a:solidFill>
              </a:rPr>
              <a:t>テンソル積</a:t>
            </a:r>
            <a:r>
              <a:rPr lang="ja-JP" altLang="en-US"/>
              <a:t>で実装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r>
              <a:rPr kumimoji="1" lang="en-US" altLang="ja-JP" dirty="0"/>
              <a:t>QMDD</a:t>
            </a:r>
            <a:r>
              <a:rPr kumimoji="1" lang="ja-JP" altLang="en-US"/>
              <a:t>では終端ノード</a:t>
            </a:r>
            <a:r>
              <a:rPr lang="ja-JP" altLang="en-US"/>
              <a:t>を始点ノードに置換する処理</a:t>
            </a:r>
            <a:endParaRPr lang="en-US" altLang="ja-JP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B0102C2-99C2-AD78-9C7C-B0B444E68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F3317-65BA-D746-98B8-3038158C8C28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7" name="図 6" descr="時計 が含まれている画像&#10;&#10;自動的に生成された説明">
            <a:extLst>
              <a:ext uri="{FF2B5EF4-FFF2-40B4-BE49-F238E27FC236}">
                <a16:creationId xmlns:a16="http://schemas.microsoft.com/office/drawing/2014/main" id="{F1461C18-BC33-C21A-9BD8-DC4B8E8D2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58393"/>
            <a:ext cx="2649117" cy="1592624"/>
          </a:xfrm>
          <a:prstGeom prst="rect">
            <a:avLst/>
          </a:prstGeom>
        </p:spPr>
      </p:pic>
      <p:pic>
        <p:nvPicPr>
          <p:cNvPr id="9" name="図 8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CBE72A4D-C8AF-0E05-73C5-59B3A1917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6529" y="3611232"/>
            <a:ext cx="1507010" cy="3075709"/>
          </a:xfrm>
          <a:prstGeom prst="rect">
            <a:avLst/>
          </a:prstGeom>
        </p:spPr>
      </p:pic>
      <p:pic>
        <p:nvPicPr>
          <p:cNvPr id="13" name="図 12" descr="アプリケーション が含まれている画像&#10;&#10;自動的に生成された説明">
            <a:extLst>
              <a:ext uri="{FF2B5EF4-FFF2-40B4-BE49-F238E27FC236}">
                <a16:creationId xmlns:a16="http://schemas.microsoft.com/office/drawing/2014/main" id="{5A35DE30-714F-078E-D28E-4C4D925C0E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460" y="3611232"/>
            <a:ext cx="1507010" cy="3075709"/>
          </a:xfrm>
          <a:prstGeom prst="rect">
            <a:avLst/>
          </a:prstGeom>
        </p:spPr>
      </p:pic>
      <p:pic>
        <p:nvPicPr>
          <p:cNvPr id="15" name="図 14" descr="ボール, 時計, テーブル, 挿絵 が含まれている画像&#10;&#10;自動的に生成された説明">
            <a:extLst>
              <a:ext uri="{FF2B5EF4-FFF2-40B4-BE49-F238E27FC236}">
                <a16:creationId xmlns:a16="http://schemas.microsoft.com/office/drawing/2014/main" id="{82166B8A-629E-F048-FEE9-F223447D3B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6940" y="1398914"/>
            <a:ext cx="1645856" cy="5322562"/>
          </a:xfrm>
          <a:prstGeom prst="rect">
            <a:avLst/>
          </a:prstGeom>
        </p:spPr>
      </p:pic>
      <p:sp>
        <p:nvSpPr>
          <p:cNvPr id="16" name="右矢印 15">
            <a:extLst>
              <a:ext uri="{FF2B5EF4-FFF2-40B4-BE49-F238E27FC236}">
                <a16:creationId xmlns:a16="http://schemas.microsoft.com/office/drawing/2014/main" id="{DE840419-6999-C66A-2C49-85420E51163C}"/>
              </a:ext>
            </a:extLst>
          </p:cNvPr>
          <p:cNvSpPr/>
          <p:nvPr/>
        </p:nvSpPr>
        <p:spPr>
          <a:xfrm>
            <a:off x="2564849" y="4566658"/>
            <a:ext cx="1287093" cy="376094"/>
          </a:xfrm>
          <a:prstGeom prst="rightArrow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右矢印 16">
            <a:extLst>
              <a:ext uri="{FF2B5EF4-FFF2-40B4-BE49-F238E27FC236}">
                <a16:creationId xmlns:a16="http://schemas.microsoft.com/office/drawing/2014/main" id="{1F87A06B-55FC-5052-3926-12835C30BE8A}"/>
              </a:ext>
            </a:extLst>
          </p:cNvPr>
          <p:cNvSpPr/>
          <p:nvPr/>
        </p:nvSpPr>
        <p:spPr>
          <a:xfrm>
            <a:off x="8322288" y="4572774"/>
            <a:ext cx="1287093" cy="376094"/>
          </a:xfrm>
          <a:prstGeom prst="rightArrow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B3C664A9-6E34-0287-F442-6D45D5FCA68B}"/>
                  </a:ext>
                </a:extLst>
              </p:cNvPr>
              <p:cNvSpPr txBox="1"/>
              <p:nvPr/>
            </p:nvSpPr>
            <p:spPr>
              <a:xfrm>
                <a:off x="5829100" y="4477706"/>
                <a:ext cx="5337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sz="3600" i="1" smtClean="0">
                          <a:latin typeface="Cambria Math" panose="02040503050406030204" pitchFamily="18" charset="0"/>
                        </a:rPr>
                        <m:t>⨂</m:t>
                      </m:r>
                    </m:oMath>
                  </m:oMathPara>
                </a14:m>
                <a:endParaRPr kumimoji="1" lang="ja-JP" altLang="en-US" sz="360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B3C664A9-6E34-0287-F442-6D45D5FCA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100" y="4477706"/>
                <a:ext cx="533799" cy="553998"/>
              </a:xfrm>
              <a:prstGeom prst="rect">
                <a:avLst/>
              </a:prstGeom>
              <a:blipFill>
                <a:blip r:embed="rId6"/>
                <a:stretch>
                  <a:fillRect l="-18182" r="-18182" b="-159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8088E09-072A-6C13-5E96-3FD8F0FE43D4}"/>
                  </a:ext>
                </a:extLst>
              </p:cNvPr>
              <p:cNvSpPr txBox="1"/>
              <p:nvPr/>
            </p:nvSpPr>
            <p:spPr>
              <a:xfrm>
                <a:off x="2811321" y="4289659"/>
                <a:ext cx="5958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⨂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8088E09-072A-6C13-5E96-3FD8F0FE4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321" y="4289659"/>
                <a:ext cx="595869" cy="276999"/>
              </a:xfrm>
              <a:prstGeom prst="rect">
                <a:avLst/>
              </a:prstGeom>
              <a:blipFill>
                <a:blip r:embed="rId7"/>
                <a:stretch>
                  <a:fillRect l="-8333" r="-6250" b="-173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6218D0-C056-9770-F5B5-34A4DAE02948}"/>
              </a:ext>
            </a:extLst>
          </p:cNvPr>
          <p:cNvSpPr/>
          <p:nvPr/>
        </p:nvSpPr>
        <p:spPr>
          <a:xfrm>
            <a:off x="3801455" y="3451790"/>
            <a:ext cx="1977158" cy="329247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21B3FB4-78C5-864D-E7FF-0148E16497DF}"/>
              </a:ext>
            </a:extLst>
          </p:cNvPr>
          <p:cNvSpPr/>
          <p:nvPr/>
        </p:nvSpPr>
        <p:spPr>
          <a:xfrm>
            <a:off x="9743153" y="2604611"/>
            <a:ext cx="1977158" cy="1944132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8304653-552F-C69A-E826-1E0C63A96906}"/>
              </a:ext>
            </a:extLst>
          </p:cNvPr>
          <p:cNvSpPr/>
          <p:nvPr/>
        </p:nvSpPr>
        <p:spPr>
          <a:xfrm>
            <a:off x="6409432" y="3451789"/>
            <a:ext cx="1977158" cy="3292475"/>
          </a:xfrm>
          <a:prstGeom prst="rect">
            <a:avLst/>
          </a:prstGeom>
          <a:noFill/>
          <a:ln w="28575"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313E3ED-C070-C5CE-0D23-76B4CB14CD51}"/>
              </a:ext>
            </a:extLst>
          </p:cNvPr>
          <p:cNvSpPr/>
          <p:nvPr/>
        </p:nvSpPr>
        <p:spPr>
          <a:xfrm>
            <a:off x="9743153" y="4548744"/>
            <a:ext cx="1977158" cy="1944132"/>
          </a:xfrm>
          <a:prstGeom prst="rect">
            <a:avLst/>
          </a:prstGeom>
          <a:noFill/>
          <a:ln w="28575"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5305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37425B-AD63-1731-7282-64152EDE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QMDD</a:t>
            </a:r>
            <a:r>
              <a:rPr kumimoji="1" lang="ja-JP" altLang="en-US"/>
              <a:t>の形状と計算量の関係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48BADE0-2C32-73CD-7D8B-C33CFDCE73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1" lang="ja-JP" altLang="en-US"/>
                  <a:t>の要素の有無で</a:t>
                </a:r>
                <a:r>
                  <a:rPr lang="ja-JP" altLang="en-US">
                    <a:solidFill>
                      <a:srgbClr val="FF0000"/>
                    </a:solidFill>
                  </a:rPr>
                  <a:t>乗算</a:t>
                </a:r>
                <a:r>
                  <a:rPr kumimoji="1" lang="ja-JP" altLang="en-US"/>
                  <a:t>と</a:t>
                </a:r>
                <a:r>
                  <a:rPr kumimoji="1" lang="ja-JP" altLang="en-US" b="1">
                    <a:solidFill>
                      <a:srgbClr val="FF0000"/>
                    </a:solidFill>
                  </a:rPr>
                  <a:t>加算</a:t>
                </a:r>
                <a:r>
                  <a:rPr lang="ja-JP" altLang="en-US"/>
                  <a:t>の再帰に大差</a:t>
                </a:r>
                <a:endParaRPr lang="en-US" altLang="ja-JP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kumimoji="1" lang="ja-JP" altLang="en-US" b="1"/>
                  <a:t>の要素なし</a:t>
                </a:r>
                <a:endParaRPr kumimoji="1" lang="en-US" altLang="ja-JP" b="1" dirty="0"/>
              </a:p>
              <a:p>
                <a:pPr lvl="1"/>
                <a:endParaRPr lang="en-US" altLang="ja-JP" dirty="0"/>
              </a:p>
              <a:p>
                <a:pPr lvl="1"/>
                <a:endParaRPr kumimoji="1" lang="en-US" altLang="ja-JP" dirty="0"/>
              </a:p>
              <a:p>
                <a:pPr lvl="1"/>
                <a:endParaRPr lang="en-US" altLang="ja-JP" dirty="0"/>
              </a:p>
              <a:p>
                <a:pPr lvl="1"/>
                <a:endParaRPr kumimoji="1" lang="en-US" altLang="ja-JP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kumimoji="1" lang="ja-JP" altLang="en-US" b="1" dirty="0"/>
                  <a:t>の</a:t>
                </a:r>
                <a:r>
                  <a:rPr kumimoji="1" lang="ja-JP" altLang="en-US" b="1"/>
                  <a:t>要素あり</a:t>
                </a:r>
                <a:endParaRPr kumimoji="1" lang="en-US" altLang="ja-JP" b="1" dirty="0"/>
              </a:p>
              <a:p>
                <a:pPr lvl="2"/>
                <a:r>
                  <a:rPr kumimoji="1" lang="ja-JP" altLang="en-US"/>
                  <a:t>対角行列</a:t>
                </a:r>
                <a:endParaRPr kumimoji="1" lang="en-US" altLang="ja-JP" dirty="0"/>
              </a:p>
              <a:p>
                <a:pPr lvl="2"/>
                <a:r>
                  <a:rPr lang="ja-JP" altLang="en-US"/>
                  <a:t>副対角行列</a:t>
                </a:r>
                <a:endParaRPr kumimoji="1" lang="en-US" altLang="ja-JP" dirty="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48BADE0-2C32-73CD-7D8B-C33CFDCE73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BF19779-0156-C4C4-C8A1-1772DC29A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F3317-65BA-D746-98B8-3038158C8C28}" type="slidenum">
              <a:rPr kumimoji="1" lang="ja-JP" altLang="en-US" smtClean="0"/>
              <a:t>6</a:t>
            </a:fld>
            <a:endParaRPr kumimoji="1" lang="ja-JP" altLang="en-US"/>
          </a:p>
        </p:txBody>
      </p:sp>
      <p:pic>
        <p:nvPicPr>
          <p:cNvPr id="9" name="図 8" descr="アプリケーション が含まれている画像&#10;&#10;自動的に生成された説明">
            <a:extLst>
              <a:ext uri="{FF2B5EF4-FFF2-40B4-BE49-F238E27FC236}">
                <a16:creationId xmlns:a16="http://schemas.microsoft.com/office/drawing/2014/main" id="{AA4B9DBD-C9EB-AA84-4D54-861F859142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305" y="2251451"/>
            <a:ext cx="1112009" cy="2269539"/>
          </a:xfrm>
          <a:prstGeom prst="rect">
            <a:avLst/>
          </a:prstGeom>
        </p:spPr>
      </p:pic>
      <p:pic>
        <p:nvPicPr>
          <p:cNvPr id="13" name="図 12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B33BACE5-4497-134D-9133-189C1BA09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375" y="4520990"/>
            <a:ext cx="1112009" cy="2269539"/>
          </a:xfrm>
          <a:prstGeom prst="rect">
            <a:avLst/>
          </a:prstGeom>
        </p:spPr>
      </p:pic>
      <p:pic>
        <p:nvPicPr>
          <p:cNvPr id="16" name="図 15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C0F7109F-2CF8-F746-589E-A478B44BE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375" y="2239042"/>
            <a:ext cx="1112009" cy="22695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C30C43D2-A465-DAC4-7882-A3455D5FC828}"/>
                  </a:ext>
                </a:extLst>
              </p:cNvPr>
              <p:cNvSpPr txBox="1"/>
              <p:nvPr/>
            </p:nvSpPr>
            <p:spPr>
              <a:xfrm>
                <a:off x="1635524" y="2836582"/>
                <a:ext cx="1552348" cy="10992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1"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e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kumimoji="1"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ja-JP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C30C43D2-A465-DAC4-7882-A3455D5FC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524" y="2836582"/>
                <a:ext cx="1552348" cy="1099275"/>
              </a:xfrm>
              <a:prstGeom prst="rect">
                <a:avLst/>
              </a:prstGeom>
              <a:blipFill>
                <a:blip r:embed="rId5"/>
                <a:stretch>
                  <a:fillRect t="-2273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829FD7E7-FD06-5550-66A1-C806DC9C4A84}"/>
                  </a:ext>
                </a:extLst>
              </p:cNvPr>
              <p:cNvSpPr txBox="1"/>
              <p:nvPr/>
            </p:nvSpPr>
            <p:spPr>
              <a:xfrm>
                <a:off x="1798005" y="5336032"/>
                <a:ext cx="1371401" cy="10788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1"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kumimoji="1"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ja-JP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mr>
                            <m:mr>
                              <m:e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829FD7E7-FD06-5550-66A1-C806DC9C4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8005" y="5336032"/>
                <a:ext cx="1371401" cy="1078821"/>
              </a:xfrm>
              <a:prstGeom prst="rect">
                <a:avLst/>
              </a:prstGeom>
              <a:blipFill>
                <a:blip r:embed="rId6"/>
                <a:stretch>
                  <a:fillRect l="-917" t="-2353" b="-1176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図 19" descr="アプリケーション が含まれている画像&#10;&#10;自動的に生成された説明">
            <a:extLst>
              <a:ext uri="{FF2B5EF4-FFF2-40B4-BE49-F238E27FC236}">
                <a16:creationId xmlns:a16="http://schemas.microsoft.com/office/drawing/2014/main" id="{676A85DA-D7D6-22DA-FFBC-1344C02675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8305" y="4508581"/>
            <a:ext cx="1111255" cy="226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951AAA1A-23F3-4D12-535C-197D2B0E9AC5}"/>
                  </a:ext>
                </a:extLst>
              </p:cNvPr>
              <p:cNvSpPr txBox="1"/>
              <p:nvPr/>
            </p:nvSpPr>
            <p:spPr>
              <a:xfrm>
                <a:off x="5439456" y="3244333"/>
                <a:ext cx="307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951AAA1A-23F3-4D12-535C-197D2B0E9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456" y="3244333"/>
                <a:ext cx="307777" cy="369332"/>
              </a:xfrm>
              <a:prstGeom prst="rect">
                <a:avLst/>
              </a:prstGeom>
              <a:blipFill>
                <a:blip r:embed="rId8"/>
                <a:stretch>
                  <a:fillRect l="-12000" r="-1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3559979-A374-8758-DADA-8B99F87E5648}"/>
                  </a:ext>
                </a:extLst>
              </p:cNvPr>
              <p:cNvSpPr txBox="1"/>
              <p:nvPr/>
            </p:nvSpPr>
            <p:spPr>
              <a:xfrm>
                <a:off x="5430648" y="5642581"/>
                <a:ext cx="307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3559979-A374-8758-DADA-8B99F87E5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648" y="5642581"/>
                <a:ext cx="307777" cy="369332"/>
              </a:xfrm>
              <a:prstGeom prst="rect">
                <a:avLst/>
              </a:prstGeom>
              <a:blipFill>
                <a:blip r:embed="rId9"/>
                <a:stretch>
                  <a:fillRect l="-12000" r="-16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図 24" descr="時計 が含まれている画像&#10;&#10;自動的に生成された説明">
            <a:extLst>
              <a:ext uri="{FF2B5EF4-FFF2-40B4-BE49-F238E27FC236}">
                <a16:creationId xmlns:a16="http://schemas.microsoft.com/office/drawing/2014/main" id="{AD2E205F-763C-795C-A0C4-38B3023266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1235" y="2239042"/>
            <a:ext cx="1364699" cy="2268000"/>
          </a:xfrm>
          <a:prstGeom prst="rect">
            <a:avLst/>
          </a:prstGeom>
        </p:spPr>
      </p:pic>
      <p:pic>
        <p:nvPicPr>
          <p:cNvPr id="27" name="図 26" descr="時計, 挿絵 が含まれている画像&#10;&#10;自動的に生成された説明">
            <a:extLst>
              <a:ext uri="{FF2B5EF4-FFF2-40B4-BE49-F238E27FC236}">
                <a16:creationId xmlns:a16="http://schemas.microsoft.com/office/drawing/2014/main" id="{15AE05B1-04D7-CB12-CE8A-E4906647B6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56220" y="4522529"/>
            <a:ext cx="1234728" cy="2268000"/>
          </a:xfrm>
          <a:prstGeom prst="rect">
            <a:avLst/>
          </a:prstGeom>
        </p:spPr>
      </p:pic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78AEF8E-B850-5130-C607-924905239DD8}"/>
              </a:ext>
            </a:extLst>
          </p:cNvPr>
          <p:cNvCxnSpPr>
            <a:cxnSpLocks/>
            <a:stCxn id="23" idx="2"/>
            <a:endCxn id="44" idx="1"/>
          </p:cNvCxnSpPr>
          <p:nvPr/>
        </p:nvCxnSpPr>
        <p:spPr>
          <a:xfrm>
            <a:off x="8730757" y="6101444"/>
            <a:ext cx="735981" cy="194464"/>
          </a:xfrm>
          <a:prstGeom prst="straightConnector1">
            <a:avLst/>
          </a:prstGeom>
          <a:ln w="127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0E4E5C48-7CC5-9F49-4173-F83EE4753BA2}"/>
                  </a:ext>
                </a:extLst>
              </p:cNvPr>
              <p:cNvSpPr txBox="1"/>
              <p:nvPr/>
            </p:nvSpPr>
            <p:spPr>
              <a:xfrm>
                <a:off x="9532134" y="4865984"/>
                <a:ext cx="236219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/>
                  <a:t>量子状態に関わらず</a:t>
                </a:r>
                <a:br>
                  <a:rPr kumimoji="1" lang="en-US" altLang="ja-JP" dirty="0"/>
                </a:br>
                <a:r>
                  <a:rPr lang="ja-JP" altLang="en-US"/>
                  <a:t>加</a:t>
                </a:r>
                <a:r>
                  <a:rPr kumimoji="1" lang="ja-JP" altLang="en-US"/>
                  <a:t>算</a:t>
                </a:r>
                <a:r>
                  <a:rPr lang="ja-JP" altLang="en-US"/>
                  <a:t>の</a:t>
                </a:r>
                <a:r>
                  <a:rPr lang="ja-JP" altLang="en-US">
                    <a:solidFill>
                      <a:srgbClr val="FF0000"/>
                    </a:solidFill>
                  </a:rPr>
                  <a:t>再帰なし</a:t>
                </a:r>
                <a:endParaRPr lang="en-US" altLang="ja-JP" dirty="0">
                  <a:solidFill>
                    <a:srgbClr val="FF0000"/>
                  </a:solidFill>
                </a:endParaRPr>
              </a:p>
              <a:p>
                <a:endParaRPr kumimoji="1" lang="en-US" altLang="ja-JP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0E4E5C48-7CC5-9F49-4173-F83EE4753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2134" y="4865984"/>
                <a:ext cx="2362199" cy="1200329"/>
              </a:xfrm>
              <a:prstGeom prst="rect">
                <a:avLst/>
              </a:prstGeom>
              <a:blipFill>
                <a:blip r:embed="rId12"/>
                <a:stretch>
                  <a:fillRect l="-2139" t="-2105" b="-315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09C5F88-E25C-75B7-84B0-F62825D3FEE9}"/>
              </a:ext>
            </a:extLst>
          </p:cNvPr>
          <p:cNvSpPr/>
          <p:nvPr/>
        </p:nvSpPr>
        <p:spPr>
          <a:xfrm>
            <a:off x="7876802" y="3591516"/>
            <a:ext cx="657038" cy="2302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778AF53B-501A-DBCF-72AA-8E4B25380467}"/>
              </a:ext>
            </a:extLst>
          </p:cNvPr>
          <p:cNvSpPr/>
          <p:nvPr/>
        </p:nvSpPr>
        <p:spPr>
          <a:xfrm>
            <a:off x="8613329" y="3591516"/>
            <a:ext cx="657038" cy="2302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66ECD9C1-7630-5E21-3F9B-97DF81EA8DE6}"/>
              </a:ext>
            </a:extLst>
          </p:cNvPr>
          <p:cNvCxnSpPr>
            <a:cxnSpLocks/>
            <a:stCxn id="49" idx="0"/>
            <a:endCxn id="56" idx="1"/>
          </p:cNvCxnSpPr>
          <p:nvPr/>
        </p:nvCxnSpPr>
        <p:spPr>
          <a:xfrm flipV="1">
            <a:off x="8205321" y="3252199"/>
            <a:ext cx="1526967" cy="33931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68E7C3F1-AEBC-55A4-50E1-A4D7C6AD09CE}"/>
              </a:ext>
            </a:extLst>
          </p:cNvPr>
          <p:cNvCxnSpPr>
            <a:cxnSpLocks/>
            <a:stCxn id="50" idx="0"/>
            <a:endCxn id="56" idx="1"/>
          </p:cNvCxnSpPr>
          <p:nvPr/>
        </p:nvCxnSpPr>
        <p:spPr>
          <a:xfrm flipV="1">
            <a:off x="8941848" y="3252199"/>
            <a:ext cx="790440" cy="33931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テキスト ボックス 55">
                <a:extLst>
                  <a:ext uri="{FF2B5EF4-FFF2-40B4-BE49-F238E27FC236}">
                    <a16:creationId xmlns:a16="http://schemas.microsoft.com/office/drawing/2014/main" id="{179B92CA-C8FC-784F-E078-4E5CBCA50093}"/>
                  </a:ext>
                </a:extLst>
              </p:cNvPr>
              <p:cNvSpPr txBox="1"/>
              <p:nvPr/>
            </p:nvSpPr>
            <p:spPr>
              <a:xfrm>
                <a:off x="9732288" y="2513535"/>
                <a:ext cx="224623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kumimoji="1" lang="ja-JP" altLang="en-US"/>
                  <a:t>量子ビット数に</a:t>
                </a:r>
                <a:br>
                  <a:rPr kumimoji="1" lang="en-US" altLang="ja-JP" dirty="0"/>
                </a:br>
                <a:r>
                  <a:rPr kumimoji="1" lang="ja-JP" altLang="en-US"/>
                  <a:t>応じて指数関数的に増加</a:t>
                </a:r>
                <a:br>
                  <a:rPr kumimoji="1" lang="en-US" altLang="ja-JP" dirty="0"/>
                </a:br>
                <a:br>
                  <a:rPr kumimoji="1" lang="en-US" altLang="ja-JP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56" name="テキスト ボックス 55">
                <a:extLst>
                  <a:ext uri="{FF2B5EF4-FFF2-40B4-BE49-F238E27FC236}">
                    <a16:creationId xmlns:a16="http://schemas.microsoft.com/office/drawing/2014/main" id="{179B92CA-C8FC-784F-E078-4E5CBCA500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2288" y="2513535"/>
                <a:ext cx="2246239" cy="1477328"/>
              </a:xfrm>
              <a:prstGeom prst="rect">
                <a:avLst/>
              </a:prstGeom>
              <a:blipFill>
                <a:blip r:embed="rId13"/>
                <a:stretch>
                  <a:fillRect l="-2247" t="-1695" r="-1685" b="-254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288B225-4C62-74B9-8BAE-E3B26DB99EDA}"/>
              </a:ext>
            </a:extLst>
          </p:cNvPr>
          <p:cNvSpPr/>
          <p:nvPr/>
        </p:nvSpPr>
        <p:spPr>
          <a:xfrm>
            <a:off x="7878846" y="5875530"/>
            <a:ext cx="657038" cy="2302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8E45AA-D488-AACA-8DAE-B3C78C49FFC8}"/>
              </a:ext>
            </a:extLst>
          </p:cNvPr>
          <p:cNvSpPr/>
          <p:nvPr/>
        </p:nvSpPr>
        <p:spPr>
          <a:xfrm>
            <a:off x="8616340" y="5872699"/>
            <a:ext cx="657038" cy="2302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8A66B9-DEF8-B28E-D997-2FBB0401E6BB}"/>
              </a:ext>
            </a:extLst>
          </p:cNvPr>
          <p:cNvSpPr>
            <a:spLocks noChangeAspect="1"/>
          </p:cNvSpPr>
          <p:nvPr/>
        </p:nvSpPr>
        <p:spPr>
          <a:xfrm>
            <a:off x="8313312" y="5875530"/>
            <a:ext cx="230400" cy="230294"/>
          </a:xfrm>
          <a:prstGeom prst="rect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31135C6-C70D-356A-FBC4-9704477E7335}"/>
              </a:ext>
            </a:extLst>
          </p:cNvPr>
          <p:cNvSpPr>
            <a:spLocks noChangeAspect="1"/>
          </p:cNvSpPr>
          <p:nvPr/>
        </p:nvSpPr>
        <p:spPr>
          <a:xfrm>
            <a:off x="8303194" y="3591516"/>
            <a:ext cx="230400" cy="230294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EF55B46-0A44-AE22-2186-5E7B66C19AEC}"/>
              </a:ext>
            </a:extLst>
          </p:cNvPr>
          <p:cNvSpPr>
            <a:spLocks noChangeAspect="1"/>
          </p:cNvSpPr>
          <p:nvPr/>
        </p:nvSpPr>
        <p:spPr>
          <a:xfrm>
            <a:off x="8615557" y="3591516"/>
            <a:ext cx="230400" cy="230294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C952359-4E2E-CDC1-BD88-C7B0A9DBE3A2}"/>
              </a:ext>
            </a:extLst>
          </p:cNvPr>
          <p:cNvSpPr>
            <a:spLocks noChangeAspect="1"/>
          </p:cNvSpPr>
          <p:nvPr/>
        </p:nvSpPr>
        <p:spPr>
          <a:xfrm>
            <a:off x="8615557" y="5871150"/>
            <a:ext cx="230400" cy="230294"/>
          </a:xfrm>
          <a:prstGeom prst="rect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95FC9A67-50D1-200D-4B06-E69FC1CD27F9}"/>
              </a:ext>
            </a:extLst>
          </p:cNvPr>
          <p:cNvCxnSpPr>
            <a:cxnSpLocks/>
            <a:stCxn id="29" idx="2"/>
            <a:endCxn id="44" idx="1"/>
          </p:cNvCxnSpPr>
          <p:nvPr/>
        </p:nvCxnSpPr>
        <p:spPr>
          <a:xfrm>
            <a:off x="8428512" y="6105824"/>
            <a:ext cx="1038226" cy="190084"/>
          </a:xfrm>
          <a:prstGeom prst="straightConnector1">
            <a:avLst/>
          </a:prstGeom>
          <a:ln w="127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BE9B8D6-DC9C-1E7B-B345-29A279F805A1}"/>
              </a:ext>
            </a:extLst>
          </p:cNvPr>
          <p:cNvSpPr txBox="1"/>
          <p:nvPr/>
        </p:nvSpPr>
        <p:spPr>
          <a:xfrm>
            <a:off x="9466738" y="611124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一部の乗算も再帰なし</a:t>
            </a:r>
          </a:p>
        </p:txBody>
      </p:sp>
    </p:spTree>
    <p:extLst>
      <p:ext uri="{BB962C8B-B14F-4D97-AF65-F5344CB8AC3E}">
        <p14:creationId xmlns:p14="http://schemas.microsoft.com/office/powerpoint/2010/main" val="2408056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1EF2EB-A185-9816-5B85-989FBF8CD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提案するシミュレーション手法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602201D7-7380-EF9E-E586-898922297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1" lang="ja-JP" altLang="en-US"/>
                  <a:t>の要素を持たないゲートよりも</a:t>
                </a:r>
                <a:r>
                  <a:rPr kumimoji="1" lang="ja-JP" altLang="en-US">
                    <a:solidFill>
                      <a:srgbClr val="FF0000"/>
                    </a:solidFill>
                  </a:rPr>
                  <a:t>上位ビットへの</a:t>
                </a:r>
                <a:br>
                  <a:rPr kumimoji="1" lang="en-US" altLang="ja-JP" dirty="0">
                    <a:solidFill>
                      <a:srgbClr val="FF0000"/>
                    </a:solidFill>
                  </a:rPr>
                </a:br>
                <a:r>
                  <a:rPr kumimoji="1" lang="ja-JP" altLang="en-US">
                    <a:solidFill>
                      <a:srgbClr val="FF0000"/>
                    </a:solidFill>
                  </a:rPr>
                  <a:t>ゲート</a:t>
                </a:r>
                <a:r>
                  <a:rPr lang="ja-JP" altLang="en-US">
                    <a:solidFill>
                      <a:srgbClr val="FF0000"/>
                    </a:solidFill>
                  </a:rPr>
                  <a:t>の配置を制限</a:t>
                </a:r>
                <a:endParaRPr kumimoji="1" lang="en-US" altLang="ja-JP" dirty="0">
                  <a:solidFill>
                    <a:srgbClr val="FF000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1" lang="ja-JP" altLang="en-US"/>
                  <a:t>の要素を持たないゲートは終端ノードに接続</a:t>
                </a:r>
                <a:endParaRPr kumimoji="1" lang="en-US" altLang="ja-JP" dirty="0"/>
              </a:p>
              <a:p>
                <a:r>
                  <a:rPr kumimoji="1" lang="ja-JP" altLang="en-US"/>
                  <a:t>その他の並列実行可能なゲートは同一レイヤに配置</a:t>
                </a:r>
                <a:endParaRPr kumimoji="1" lang="en-US" altLang="ja-JP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kumimoji="1" lang="ja-JP" altLang="en-US" b="0" dirty="0"/>
                  <a:t>ゲート</a:t>
                </a:r>
                <a:r>
                  <a:rPr kumimoji="1" lang="ja-JP" altLang="en-US" b="0"/>
                  <a:t>のパディングは</a:t>
                </a:r>
                <a14:m>
                  <m:oMath xmlns:m="http://schemas.openxmlformats.org/officeDocument/2006/math">
                    <m:r>
                      <a:rPr lang="en-US" altLang="ja-JP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1" lang="ja-JP" altLang="en-US" b="0"/>
                  <a:t>の要素を持つゲートと</a:t>
                </a:r>
                <a:r>
                  <a:rPr kumimoji="1" lang="ja-JP" altLang="en-US" b="0">
                    <a:solidFill>
                      <a:srgbClr val="FF0000"/>
                    </a:solidFill>
                  </a:rPr>
                  <a:t>等価</a:t>
                </a:r>
                <a:endParaRPr kumimoji="1" lang="en-US" altLang="ja-JP" dirty="0">
                  <a:solidFill>
                    <a:srgbClr val="FF0000"/>
                  </a:solidFill>
                </a:endParaRPr>
              </a:p>
              <a:p>
                <a:endParaRPr lang="en-US" altLang="ja-JP" dirty="0"/>
              </a:p>
              <a:p>
                <a:r>
                  <a:rPr kumimoji="1" lang="ja-JP" altLang="en-US"/>
                  <a:t>例</a:t>
                </a:r>
                <a:r>
                  <a:rPr kumimoji="1" lang="en-US" altLang="ja-JP" dirty="0"/>
                  <a:t>: H</a:t>
                </a:r>
                <a:r>
                  <a:rPr kumimoji="1" lang="ja-JP" altLang="en-US"/>
                  <a:t>ゲートと</a:t>
                </a:r>
                <a:r>
                  <a:rPr lang="en-US" altLang="ja-JP" dirty="0"/>
                  <a:t>X</a:t>
                </a:r>
                <a:r>
                  <a:rPr lang="ja-JP" altLang="en-US"/>
                  <a:t>ゲートから構成される量子回路</a:t>
                </a:r>
                <a:endParaRPr lang="en-US" altLang="ja-JP" dirty="0"/>
              </a:p>
              <a:p>
                <a:pPr lvl="1"/>
                <a:r>
                  <a:rPr lang="en-US" altLang="ja-JP" dirty="0"/>
                  <a:t>H: 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1" lang="ja-JP" altLang="en-US"/>
                  <a:t>の要素なし</a:t>
                </a:r>
                <a:endParaRPr kumimoji="1" lang="en-US" altLang="ja-JP" dirty="0"/>
              </a:p>
              <a:p>
                <a:pPr lvl="1"/>
                <a:r>
                  <a:rPr lang="en-US" altLang="ja-JP" dirty="0"/>
                  <a:t>X: 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ja-JP" altLang="en-US"/>
                  <a:t>の要素あり（副対角行列）</a:t>
                </a:r>
                <a:endParaRPr lang="en-US" altLang="ja-JP" dirty="0"/>
              </a:p>
              <a:p>
                <a:pPr marL="457200" lvl="1" indent="0">
                  <a:buNone/>
                </a:pPr>
                <a:endParaRPr lang="en-US" altLang="ja-JP" dirty="0"/>
              </a:p>
              <a:p>
                <a:pPr marL="457200" lvl="1" indent="0">
                  <a:buNone/>
                </a:pPr>
                <a:endParaRPr lang="en-US" altLang="ja-JP" dirty="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602201D7-7380-EF9E-E586-898922297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EE8D923-F103-C40F-466A-19DDB483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F3317-65BA-D746-98B8-3038158C8C28}" type="slidenum">
              <a:rPr kumimoji="1" lang="ja-JP" altLang="en-US" smtClean="0"/>
              <a:t>7</a:t>
            </a:fld>
            <a:endParaRPr kumimoji="1" lang="ja-JP" altLang="en-US"/>
          </a:p>
        </p:txBody>
      </p:sp>
      <p:pic>
        <p:nvPicPr>
          <p:cNvPr id="6" name="図 5" descr="ダイアグラム&#10;&#10;自動的に生成された説明">
            <a:extLst>
              <a:ext uri="{FF2B5EF4-FFF2-40B4-BE49-F238E27FC236}">
                <a16:creationId xmlns:a16="http://schemas.microsoft.com/office/drawing/2014/main" id="{57A5A9E1-AD92-24D6-A442-A7D1D5473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804" y="5048514"/>
            <a:ext cx="2879885" cy="1809486"/>
          </a:xfrm>
          <a:prstGeom prst="rect">
            <a:avLst/>
          </a:prstGeom>
        </p:spPr>
      </p:pic>
      <p:sp>
        <p:nvSpPr>
          <p:cNvPr id="8" name="円/楕円 7">
            <a:extLst>
              <a:ext uri="{FF2B5EF4-FFF2-40B4-BE49-F238E27FC236}">
                <a16:creationId xmlns:a16="http://schemas.microsoft.com/office/drawing/2014/main" id="{E6738539-E909-D0EF-F8AD-161CD9C077CB}"/>
              </a:ext>
            </a:extLst>
          </p:cNvPr>
          <p:cNvSpPr>
            <a:spLocks noChangeAspect="1"/>
          </p:cNvSpPr>
          <p:nvPr/>
        </p:nvSpPr>
        <p:spPr>
          <a:xfrm>
            <a:off x="7800174" y="6121691"/>
            <a:ext cx="655057" cy="65505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CF8FB4EB-87CC-A162-5078-69E26FF6B404}"/>
              </a:ext>
            </a:extLst>
          </p:cNvPr>
          <p:cNvCxnSpPr>
            <a:cxnSpLocks/>
            <a:stCxn id="13" idx="3"/>
            <a:endCxn id="8" idx="2"/>
          </p:cNvCxnSpPr>
          <p:nvPr/>
        </p:nvCxnSpPr>
        <p:spPr>
          <a:xfrm>
            <a:off x="5902591" y="6362858"/>
            <a:ext cx="1897583" cy="863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3DDAC4B-CCDD-127E-E8F0-D8E1683FE5D3}"/>
              </a:ext>
            </a:extLst>
          </p:cNvPr>
          <p:cNvSpPr txBox="1"/>
          <p:nvPr/>
        </p:nvSpPr>
        <p:spPr>
          <a:xfrm>
            <a:off x="3236090" y="6039692"/>
            <a:ext cx="2666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H</a:t>
            </a:r>
            <a:r>
              <a:rPr kumimoji="1" lang="ja-JP" altLang="en-US"/>
              <a:t>ゲートの下にゲートを</a:t>
            </a:r>
            <a:r>
              <a:rPr kumimoji="1" lang="ja-JP" altLang="en-US" b="1"/>
              <a:t>挿入しない</a:t>
            </a:r>
          </a:p>
        </p:txBody>
      </p:sp>
      <p:pic>
        <p:nvPicPr>
          <p:cNvPr id="11" name="図 10" descr="ダイアグラム&#10;&#10;自動的に生成された説明">
            <a:extLst>
              <a:ext uri="{FF2B5EF4-FFF2-40B4-BE49-F238E27FC236}">
                <a16:creationId xmlns:a16="http://schemas.microsoft.com/office/drawing/2014/main" id="{008C25FC-B9CA-013B-C136-12E4D06A8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827" y="3561255"/>
            <a:ext cx="2548234" cy="148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288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C4872-6C2B-432A-C75E-927B2EB82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AB7D67-A74D-D586-6218-9B801CEF9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多</a:t>
            </a:r>
            <a:r>
              <a:rPr kumimoji="1" lang="ja-JP" altLang="en-US"/>
              <a:t>量子ゲートの考慮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7BFB2A97-2522-A34B-6A5F-43C14BBD5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ja-JP" dirty="0"/>
                  <a:t>QMDD</a:t>
                </a:r>
                <a:r>
                  <a:rPr lang="ja-JP" altLang="en-US"/>
                  <a:t>の上位レベルで</a:t>
                </a:r>
                <a:r>
                  <a:rPr lang="ja-JP" altLang="en-US">
                    <a:solidFill>
                      <a:srgbClr val="FF0000"/>
                    </a:solidFill>
                  </a:rPr>
                  <a:t>零行列を</a:t>
                </a:r>
                <a:r>
                  <a:rPr lang="en-US" altLang="ja-JP" dirty="0">
                    <a:solidFill>
                      <a:srgbClr val="FF0000"/>
                    </a:solidFill>
                  </a:rPr>
                  <a:t>QMDD</a:t>
                </a:r>
                <a:r>
                  <a:rPr lang="ja-JP" altLang="en-US">
                    <a:solidFill>
                      <a:srgbClr val="FF0000"/>
                    </a:solidFill>
                  </a:rPr>
                  <a:t>の上位で圧縮</a:t>
                </a:r>
                <a:r>
                  <a:rPr lang="ja-JP" altLang="en-US"/>
                  <a:t>を目指す</a:t>
                </a:r>
                <a:endParaRPr lang="en-US" altLang="ja-JP" dirty="0"/>
              </a:p>
              <a:p>
                <a:endParaRPr lang="en-US" altLang="ja-JP" dirty="0"/>
              </a:p>
              <a:p>
                <a:r>
                  <a:rPr lang="ja-JP" altLang="en-US"/>
                  <a:t>特に</a:t>
                </a:r>
                <a14:m>
                  <m:oMath xmlns:m="http://schemas.openxmlformats.org/officeDocument/2006/math">
                    <m:r>
                      <a:rPr lang="en-US" altLang="ja-JP" b="0" i="1" u="sng" smtClean="0">
                        <a:latin typeface="Cambria Math" panose="02040503050406030204" pitchFamily="18" charset="0"/>
                      </a:rPr>
                      <m:t>𝑆𝑊𝐴𝑃</m:t>
                    </m:r>
                  </m:oMath>
                </a14:m>
                <a:r>
                  <a:rPr lang="ja-JP" altLang="en-US"/>
                  <a:t>などの置換行列は圧縮できない</a:t>
                </a:r>
                <a:endParaRPr lang="en-US" altLang="ja-JP" dirty="0"/>
              </a:p>
              <a:p>
                <a:pPr lvl="1"/>
                <a:r>
                  <a:rPr lang="ja-JP" altLang="en-US"/>
                  <a:t>明示的にゲートを挿入せず後段のゲートキューを置換</a:t>
                </a:r>
                <a:endParaRPr lang="en-US" altLang="ja-JP" dirty="0"/>
              </a:p>
              <a:p>
                <a:endParaRPr lang="en-US" altLang="ja-JP" dirty="0"/>
              </a:p>
              <a:p>
                <a:r>
                  <a:rPr lang="ja-JP" altLang="en-US"/>
                  <a:t>また一部の制御ゲートは</a:t>
                </a:r>
                <a:r>
                  <a:rPr lang="ja-JP" altLang="en-US">
                    <a:solidFill>
                      <a:srgbClr val="FF0000"/>
                    </a:solidFill>
                  </a:rPr>
                  <a:t>制御ビットとターゲットビットの</a:t>
                </a:r>
                <a:br>
                  <a:rPr lang="en-US" altLang="ja-JP" dirty="0">
                    <a:solidFill>
                      <a:srgbClr val="FF0000"/>
                    </a:solidFill>
                  </a:rPr>
                </a:br>
                <a:r>
                  <a:rPr lang="ja-JP" altLang="en-US">
                    <a:solidFill>
                      <a:srgbClr val="FF0000"/>
                    </a:solidFill>
                  </a:rPr>
                  <a:t>大小関係</a:t>
                </a:r>
                <a:r>
                  <a:rPr lang="ja-JP" altLang="en-US"/>
                  <a:t>で</a:t>
                </a:r>
                <a:r>
                  <a:rPr lang="en-US" altLang="ja-JP" dirty="0"/>
                  <a:t>QMDD</a:t>
                </a:r>
                <a:r>
                  <a:rPr lang="ja-JP" altLang="en-US"/>
                  <a:t>の形状が大きく変化</a:t>
                </a:r>
                <a:endParaRPr lang="en-US" altLang="ja-JP" dirty="0"/>
              </a:p>
              <a:p>
                <a:endParaRPr lang="en-US" altLang="ja-JP" dirty="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7BFB2A97-2522-A34B-6A5F-43C14BBD5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E9DFC6EB-6CCD-0F17-3C54-178F8C33789E}"/>
                  </a:ext>
                </a:extLst>
              </p:cNvPr>
              <p:cNvSpPr txBox="1"/>
              <p:nvPr/>
            </p:nvSpPr>
            <p:spPr>
              <a:xfrm>
                <a:off x="2053542" y="5208228"/>
                <a:ext cx="2733184" cy="1284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𝐶𝑋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E9DFC6EB-6CCD-0F17-3C54-178F8C33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3542" y="5208228"/>
                <a:ext cx="2733184" cy="1284647"/>
              </a:xfrm>
              <a:prstGeom prst="rect">
                <a:avLst/>
              </a:prstGeom>
              <a:blipFill>
                <a:blip r:embed="rId3"/>
                <a:stretch>
                  <a:fillRect l="-1852" b="-67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30F736BA-8931-8BE1-C08C-CCD94C08533A}"/>
                  </a:ext>
                </a:extLst>
              </p:cNvPr>
              <p:cNvSpPr txBox="1"/>
              <p:nvPr/>
            </p:nvSpPr>
            <p:spPr>
              <a:xfrm>
                <a:off x="5863542" y="5208228"/>
                <a:ext cx="3191643" cy="1284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𝑆𝑊𝐴𝑃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30F736BA-8931-8BE1-C08C-CCD94C085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3542" y="5208228"/>
                <a:ext cx="3191643" cy="1284647"/>
              </a:xfrm>
              <a:prstGeom prst="rect">
                <a:avLst/>
              </a:prstGeom>
              <a:blipFill>
                <a:blip r:embed="rId4"/>
                <a:stretch>
                  <a:fillRect l="-1587" b="-67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343236E-4857-BD9A-7205-9F4FC7AAA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843C0-813E-B949-A4C0-2511A34E55B1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1940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30DB4-2795-50ED-BD15-2C8A38737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A2D152-2511-CD69-C92D-664D2F09D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手法の比較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5737B3-D9D7-6F2B-8571-00204C4BA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843C0-813E-B949-A4C0-2511A34E55B1}" type="slidenum">
              <a:rPr kumimoji="1" lang="ja-JP" altLang="en-US" smtClean="0"/>
              <a:t>9</a:t>
            </a:fld>
            <a:endParaRPr kumimoji="1" lang="ja-JP" altLang="en-US"/>
          </a:p>
        </p:txBody>
      </p:sp>
      <p:pic>
        <p:nvPicPr>
          <p:cNvPr id="8" name="図 7" descr="グラフ, 散布図&#10;&#10;自動的に生成された説明">
            <a:extLst>
              <a:ext uri="{FF2B5EF4-FFF2-40B4-BE49-F238E27FC236}">
                <a16:creationId xmlns:a16="http://schemas.microsoft.com/office/drawing/2014/main" id="{665603E3-B8D6-A127-CA24-C3789F315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0" y="1693997"/>
            <a:ext cx="11849259" cy="221142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12BD358-E3A1-989D-B981-E0581C575082}"/>
              </a:ext>
            </a:extLst>
          </p:cNvPr>
          <p:cNvSpPr txBox="1"/>
          <p:nvPr/>
        </p:nvSpPr>
        <p:spPr>
          <a:xfrm>
            <a:off x="171370" y="1399660"/>
            <a:ext cx="4051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既存のシミュレーション手法</a:t>
            </a:r>
          </a:p>
        </p:txBody>
      </p:sp>
      <p:pic>
        <p:nvPicPr>
          <p:cNvPr id="7" name="図 6" descr="グラフ, 散布図&#10;&#10;自動的に生成された説明">
            <a:extLst>
              <a:ext uri="{FF2B5EF4-FFF2-40B4-BE49-F238E27FC236}">
                <a16:creationId xmlns:a16="http://schemas.microsoft.com/office/drawing/2014/main" id="{B20E89B4-9A0B-3D8C-1B90-501C33CF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84" y="4488830"/>
            <a:ext cx="12020629" cy="221186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1D6917A-7AD6-C7BF-504F-29E764E55528}"/>
              </a:ext>
            </a:extLst>
          </p:cNvPr>
          <p:cNvSpPr txBox="1"/>
          <p:nvPr/>
        </p:nvSpPr>
        <p:spPr>
          <a:xfrm>
            <a:off x="171370" y="4119498"/>
            <a:ext cx="4051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提案するシミュレーション手法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914A285-B21F-2659-F5AD-4ECE330F1296}"/>
              </a:ext>
            </a:extLst>
          </p:cNvPr>
          <p:cNvSpPr/>
          <p:nvPr/>
        </p:nvSpPr>
        <p:spPr>
          <a:xfrm>
            <a:off x="1886673" y="1690688"/>
            <a:ext cx="1238492" cy="212895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D73AA14-1A65-AEA2-D957-D7586A20F09A}"/>
              </a:ext>
            </a:extLst>
          </p:cNvPr>
          <p:cNvSpPr/>
          <p:nvPr/>
        </p:nvSpPr>
        <p:spPr>
          <a:xfrm>
            <a:off x="1772855" y="4502773"/>
            <a:ext cx="1352310" cy="215720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899AE52-567A-784A-A47A-23ADACB81F3B}"/>
              </a:ext>
            </a:extLst>
          </p:cNvPr>
          <p:cNvSpPr/>
          <p:nvPr/>
        </p:nvSpPr>
        <p:spPr>
          <a:xfrm>
            <a:off x="8079128" y="4502773"/>
            <a:ext cx="1045583" cy="215720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3214009-FCFA-8B9E-E010-71A4E471DFA3}"/>
              </a:ext>
            </a:extLst>
          </p:cNvPr>
          <p:cNvSpPr/>
          <p:nvPr/>
        </p:nvSpPr>
        <p:spPr>
          <a:xfrm>
            <a:off x="9193672" y="4488830"/>
            <a:ext cx="783705" cy="215720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9597383-E449-5AF4-A2D6-21CA83FCD28C}"/>
              </a:ext>
            </a:extLst>
          </p:cNvPr>
          <p:cNvSpPr/>
          <p:nvPr/>
        </p:nvSpPr>
        <p:spPr>
          <a:xfrm>
            <a:off x="7859210" y="1690688"/>
            <a:ext cx="636608" cy="212895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A836A72-23DF-7095-DB53-8E5A6435F6C9}"/>
              </a:ext>
            </a:extLst>
          </p:cNvPr>
          <p:cNvSpPr/>
          <p:nvPr/>
        </p:nvSpPr>
        <p:spPr>
          <a:xfrm>
            <a:off x="8692587" y="1690688"/>
            <a:ext cx="432123" cy="212895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1148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472502-2C7C-2F6A-7750-FAF31049A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まとめ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303BCDB-3E4B-D278-622F-0F38415A39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ja-JP" altLang="en-US"/>
                  <a:t>量子ゲートの</a:t>
                </a:r>
                <a:r>
                  <a:rPr lang="en-US" altLang="ja-JP" dirty="0"/>
                  <a:t>QMDD</a:t>
                </a:r>
                <a:r>
                  <a:rPr lang="ja-JP" altLang="en-US"/>
                  <a:t>の形状に注目したシミュレーション手法</a:t>
                </a:r>
                <a:br>
                  <a:rPr lang="en-US" altLang="ja-JP" dirty="0"/>
                </a:br>
                <a:r>
                  <a:rPr lang="ja-JP" altLang="en-US"/>
                  <a:t>の提案</a:t>
                </a:r>
                <a:endParaRPr lang="en-US" altLang="ja-JP" dirty="0"/>
              </a:p>
              <a:p>
                <a:pPr lvl="1"/>
                <a:r>
                  <a:rPr lang="ja-JP" altLang="en-US"/>
                  <a:t>単一量子ゲート</a:t>
                </a:r>
                <a:r>
                  <a:rPr lang="en-US" altLang="ja-JP" dirty="0"/>
                  <a:t>… 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ja-JP" altLang="en-US" dirty="0"/>
                  <a:t>の要素</a:t>
                </a:r>
                <a:r>
                  <a:rPr lang="ja-JP" altLang="en-US"/>
                  <a:t>の有無</a:t>
                </a:r>
                <a:endParaRPr lang="en-US" altLang="ja-JP" dirty="0"/>
              </a:p>
              <a:p>
                <a:pPr lvl="1"/>
                <a:r>
                  <a:rPr lang="ja-JP" altLang="en-US"/>
                  <a:t>多量子ゲート</a:t>
                </a:r>
                <a:r>
                  <a:rPr lang="en-US" altLang="ja-JP" dirty="0"/>
                  <a:t>… </a:t>
                </a:r>
                <a:r>
                  <a:rPr lang="ja-JP" altLang="en-US"/>
                  <a:t>零行列の有無</a:t>
                </a:r>
                <a:endParaRPr lang="en-US" altLang="ja-JP" dirty="0"/>
              </a:p>
              <a:p>
                <a:endParaRPr lang="en-US" altLang="ja-JP" dirty="0"/>
              </a:p>
              <a:p>
                <a:r>
                  <a:rPr lang="ja-JP" altLang="en-US"/>
                  <a:t>ゲートの連結に起因する演算時の再帰数の指数的増大を抑制</a:t>
                </a:r>
                <a:endParaRPr lang="en-US" altLang="ja-JP" dirty="0"/>
              </a:p>
              <a:p>
                <a:endParaRPr lang="en-US" altLang="ja-JP" dirty="0"/>
              </a:p>
              <a:p>
                <a:pPr marL="0" indent="0">
                  <a:buNone/>
                </a:pPr>
                <a:r>
                  <a:rPr lang="ja-JP" altLang="en-US" b="1"/>
                  <a:t>今後の課題</a:t>
                </a:r>
                <a:endParaRPr lang="en-US" altLang="ja-JP" b="1" dirty="0"/>
              </a:p>
              <a:p>
                <a:r>
                  <a:rPr lang="en-US" altLang="ja-JP" dirty="0"/>
                  <a:t>QMDD</a:t>
                </a:r>
                <a:r>
                  <a:rPr lang="ja-JP" altLang="en-US"/>
                  <a:t>の変数順序を入れ替えてデッドスペースの削減</a:t>
                </a:r>
                <a:endParaRPr lang="en-US" altLang="ja-JP" dirty="0"/>
              </a:p>
              <a:p>
                <a:r>
                  <a:rPr lang="ja-JP" altLang="en-US"/>
                  <a:t>制御ビットとターゲットビットの大小関係を考慮した最適化</a:t>
                </a:r>
                <a:endParaRPr lang="en-US" altLang="ja-JP" dirty="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303BCDB-3E4B-D278-622F-0F38415A39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29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58688B0-0BD7-6CB8-B29B-642461808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843C0-813E-B949-A4C0-2511A34E55B1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76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5CF78F-B759-94DB-B0AF-04F206518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kumimoji="1" lang="ja-JP" altLang="en-US"/>
              <a:t>付録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814F23-2BFD-0CC7-9A42-B4A93A28A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F3317-65BA-D746-98B8-3038158C8C28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6064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E64201CF-365E-1834-E818-6658C175CD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</p:spPr>
            <p:txBody>
              <a:bodyPr>
                <a:normAutofit fontScale="85000" lnSpcReduction="10000"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①</m:t>
                    </m:r>
                  </m:oMath>
                </a14:m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))…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②</m:t>
                    </m:r>
                  </m:oMath>
                </a14:m>
                <a:endParaRPr kumimoji="1" lang="en-US" altLang="ja-JP" b="0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  <m:r>
                      <a:rPr lang="en-US" altLang="ja-JP" i="1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③</m:t>
                    </m:r>
                  </m:oMath>
                </a14:m>
                <a:endParaRPr kumimoji="1" lang="en-US" altLang="ja-JP" b="0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</m:oMath>
                </a14:m>
                <a:endParaRPr kumimoji="1" lang="en-US" altLang="ja-JP" b="0" dirty="0"/>
              </a:p>
              <a:p>
                <a:pPr lvl="6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4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dirty="0"/>
              </a:p>
              <a:p>
                <a:pPr lvl="3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2"/>
                <a:r>
                  <a:rPr lang="ja-JP" altLang="en-US"/>
                  <a:t>省略</a:t>
                </a:r>
                <a:endParaRPr kumimoji="1" lang="en-US" altLang="ja-JP" b="0" dirty="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E64201CF-365E-1834-E818-6658C175CD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  <a:blipFill>
                <a:blip r:embed="rId2"/>
                <a:stretch>
                  <a:fillRect l="-1287" t="-1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図 2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44BDAA90-E278-9DA9-9E21-670575F8E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9662" y="28546"/>
            <a:ext cx="1670538" cy="6858000"/>
          </a:xfrm>
          <a:prstGeom prst="rect">
            <a:avLst/>
          </a:prstGeom>
        </p:spPr>
      </p:pic>
      <p:pic>
        <p:nvPicPr>
          <p:cNvPr id="4" name="図 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C7B5CB17-8B13-BBCA-0EB7-FB2CBBF5A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6566" y="28546"/>
            <a:ext cx="1745116" cy="6858000"/>
          </a:xfrm>
          <a:prstGeom prst="rect">
            <a:avLst/>
          </a:prstGeom>
        </p:spPr>
      </p:pic>
      <p:sp>
        <p:nvSpPr>
          <p:cNvPr id="5" name="加算記号 4">
            <a:extLst>
              <a:ext uri="{FF2B5EF4-FFF2-40B4-BE49-F238E27FC236}">
                <a16:creationId xmlns:a16="http://schemas.microsoft.com/office/drawing/2014/main" id="{CA564DDD-3CA6-3EE0-4044-246254720671}"/>
              </a:ext>
            </a:extLst>
          </p:cNvPr>
          <p:cNvSpPr/>
          <p:nvPr/>
        </p:nvSpPr>
        <p:spPr>
          <a:xfrm rot="2696788">
            <a:off x="9561046" y="3007918"/>
            <a:ext cx="899255" cy="899255"/>
          </a:xfrm>
          <a:prstGeom prst="mathPlus">
            <a:avLst/>
          </a:prstGeom>
          <a:solidFill>
            <a:schemeClr val="bg1">
              <a:lumMod val="5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ダイアグラム, 概略図&#10;&#10;自動的に生成された説明">
            <a:extLst>
              <a:ext uri="{FF2B5EF4-FFF2-40B4-BE49-F238E27FC236}">
                <a16:creationId xmlns:a16="http://schemas.microsoft.com/office/drawing/2014/main" id="{11A63E44-6868-1A01-590B-6DB40AECCC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00" y="2307814"/>
            <a:ext cx="1838119" cy="178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81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7BA12-EBE0-43A7-D8F5-9A95F9661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2BD787FD-6D2F-F8FC-054D-5C9175EA75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</p:spPr>
            <p:txBody>
              <a:bodyPr>
                <a:normAutofit fontScale="85000" lnSpcReduction="10000"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①</m:t>
                    </m:r>
                  </m:oMath>
                </a14:m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))…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②</m:t>
                    </m:r>
                  </m:oMath>
                </a14:m>
                <a:endParaRPr kumimoji="1" lang="en-US" altLang="ja-JP" b="0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  <m:r>
                      <a:rPr lang="en-US" altLang="ja-JP" i="1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③</m:t>
                    </m:r>
                  </m:oMath>
                </a14:m>
                <a:endParaRPr kumimoji="1" lang="en-US" altLang="ja-JP" b="0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</m:oMath>
                </a14:m>
                <a:endParaRPr kumimoji="1" lang="en-US" altLang="ja-JP" b="0" dirty="0"/>
              </a:p>
              <a:p>
                <a:pPr lvl="6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4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dirty="0"/>
              </a:p>
              <a:p>
                <a:pPr lvl="3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2"/>
                <a:r>
                  <a:rPr lang="ja-JP" altLang="en-US"/>
                  <a:t>省略</a:t>
                </a:r>
                <a:endParaRPr kumimoji="1" lang="en-US" altLang="ja-JP" b="0" dirty="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2BD787FD-6D2F-F8FC-054D-5C9175EA75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  <a:blipFill>
                <a:blip r:embed="rId3"/>
                <a:stretch>
                  <a:fillRect l="-1287" t="-1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図 2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F3C8A6EC-9614-1664-8E90-2A6DB9707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9662" y="28546"/>
            <a:ext cx="1670538" cy="6858000"/>
          </a:xfrm>
          <a:prstGeom prst="rect">
            <a:avLst/>
          </a:prstGeom>
        </p:spPr>
      </p:pic>
      <p:pic>
        <p:nvPicPr>
          <p:cNvPr id="4" name="図 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3CDD75FB-C6F2-0836-1EBC-18B66CC98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6566" y="28546"/>
            <a:ext cx="1745116" cy="6858000"/>
          </a:xfrm>
          <a:prstGeom prst="rect">
            <a:avLst/>
          </a:prstGeom>
        </p:spPr>
      </p:pic>
      <p:sp>
        <p:nvSpPr>
          <p:cNvPr id="5" name="加算記号 4">
            <a:extLst>
              <a:ext uri="{FF2B5EF4-FFF2-40B4-BE49-F238E27FC236}">
                <a16:creationId xmlns:a16="http://schemas.microsoft.com/office/drawing/2014/main" id="{BBDF5E60-3277-0A97-F087-87D6E987CC47}"/>
              </a:ext>
            </a:extLst>
          </p:cNvPr>
          <p:cNvSpPr/>
          <p:nvPr/>
        </p:nvSpPr>
        <p:spPr>
          <a:xfrm rot="2696788">
            <a:off x="9561046" y="3007918"/>
            <a:ext cx="899255" cy="899255"/>
          </a:xfrm>
          <a:prstGeom prst="mathPlus">
            <a:avLst/>
          </a:prstGeom>
          <a:solidFill>
            <a:schemeClr val="bg1">
              <a:lumMod val="5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3CBAF04D-7217-41B8-3DE4-11351BA47A6B}"/>
                  </a:ext>
                </a:extLst>
              </p:cNvPr>
              <p:cNvSpPr txBox="1"/>
              <p:nvPr/>
            </p:nvSpPr>
            <p:spPr>
              <a:xfrm>
                <a:off x="4756102" y="2856249"/>
                <a:ext cx="3009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3CBAF04D-7217-41B8-3DE4-11351BA47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102" y="2856249"/>
                <a:ext cx="30094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1F6ADA41-0C9F-EB89-60BC-340CA66ED267}"/>
                  </a:ext>
                </a:extLst>
              </p:cNvPr>
              <p:cNvSpPr txBox="1"/>
              <p:nvPr/>
            </p:nvSpPr>
            <p:spPr>
              <a:xfrm>
                <a:off x="4742061" y="2571920"/>
                <a:ext cx="3009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1F6ADA41-0C9F-EB89-60BC-340CA66ED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2061" y="2571920"/>
                <a:ext cx="30094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47C15F6-DD85-F110-6B0B-0D852C4B95CE}"/>
                  </a:ext>
                </a:extLst>
              </p:cNvPr>
              <p:cNvSpPr txBox="1"/>
              <p:nvPr/>
            </p:nvSpPr>
            <p:spPr>
              <a:xfrm>
                <a:off x="6155140" y="2264846"/>
                <a:ext cx="77792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47C15F6-DD85-F110-6B0B-0D852C4B9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140" y="2264846"/>
                <a:ext cx="777921" cy="369332"/>
              </a:xfrm>
              <a:prstGeom prst="rect">
                <a:avLst/>
              </a:prstGeom>
              <a:blipFill>
                <a:blip r:embed="rId8"/>
                <a:stretch>
                  <a:fillRect r="-32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5E9097E-9D88-7CDA-7CCD-4C8FE97596D1}"/>
                  </a:ext>
                </a:extLst>
              </p:cNvPr>
              <p:cNvSpPr txBox="1"/>
              <p:nvPr/>
            </p:nvSpPr>
            <p:spPr>
              <a:xfrm>
                <a:off x="5904001" y="3113152"/>
                <a:ext cx="77792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5E9097E-9D88-7CDA-7CCD-4C8FE9759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4001" y="3113152"/>
                <a:ext cx="777921" cy="369332"/>
              </a:xfrm>
              <a:prstGeom prst="rect">
                <a:avLst/>
              </a:prstGeom>
              <a:blipFill>
                <a:blip r:embed="rId9"/>
                <a:stretch>
                  <a:fillRect r="-161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E2E00EBD-DDB1-78F0-04E4-0E0E8010A22B}"/>
                  </a:ext>
                </a:extLst>
              </p:cNvPr>
              <p:cNvSpPr txBox="1"/>
              <p:nvPr/>
            </p:nvSpPr>
            <p:spPr>
              <a:xfrm>
                <a:off x="3836725" y="1994580"/>
                <a:ext cx="15050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E2E00EBD-DDB1-78F0-04E4-0E0E8010A2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6725" y="1994580"/>
                <a:ext cx="1505041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B95D78C4-EB26-E4D0-5831-F036D8A6DE16}"/>
                  </a:ext>
                </a:extLst>
              </p:cNvPr>
              <p:cNvSpPr txBox="1"/>
              <p:nvPr/>
            </p:nvSpPr>
            <p:spPr>
              <a:xfrm>
                <a:off x="3778668" y="3632420"/>
                <a:ext cx="15050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B95D78C4-EB26-E4D0-5831-F036D8A6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68" y="3632420"/>
                <a:ext cx="150504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BA808F5A-2353-9323-9212-CFF888A1DBAA}"/>
                  </a:ext>
                </a:extLst>
              </p:cNvPr>
              <p:cNvSpPr txBox="1"/>
              <p:nvPr/>
            </p:nvSpPr>
            <p:spPr>
              <a:xfrm>
                <a:off x="5223659" y="1713394"/>
                <a:ext cx="16265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:6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BA808F5A-2353-9323-9212-CFF888A1D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659" y="1713394"/>
                <a:ext cx="1626577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8AD433F2-5506-07F6-5DBD-2ACFB18D080C}"/>
                  </a:ext>
                </a:extLst>
              </p:cNvPr>
              <p:cNvSpPr txBox="1"/>
              <p:nvPr/>
            </p:nvSpPr>
            <p:spPr>
              <a:xfrm>
                <a:off x="4831177" y="4160894"/>
                <a:ext cx="16265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:6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8AD433F2-5506-07F6-5DBD-2ACFB18D0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177" y="4160894"/>
                <a:ext cx="1626577" cy="369332"/>
              </a:xfrm>
              <a:prstGeom prst="rect">
                <a:avLst/>
              </a:prstGeom>
              <a:blipFill>
                <a:blip r:embed="rId13"/>
                <a:stretch>
                  <a:fillRect r="-77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E92D54E-3802-60EC-F801-47521DEE76B6}"/>
                  </a:ext>
                </a:extLst>
              </p:cNvPr>
              <p:cNvSpPr txBox="1"/>
              <p:nvPr/>
            </p:nvSpPr>
            <p:spPr>
              <a:xfrm>
                <a:off x="2987867" y="1438865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E92D54E-3802-60EC-F801-47521DEE7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67" y="1438865"/>
                <a:ext cx="176823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A61F7892-A1C3-BF1F-83B3-958B36527921}"/>
                  </a:ext>
                </a:extLst>
              </p:cNvPr>
              <p:cNvSpPr txBox="1"/>
              <p:nvPr/>
            </p:nvSpPr>
            <p:spPr>
              <a:xfrm>
                <a:off x="2987867" y="4680472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A61F7892-A1C3-BF1F-83B3-958B36527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67" y="4680472"/>
                <a:ext cx="176823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3F69553E-397C-1B9C-84AF-A5FF5F10A60C}"/>
                  </a:ext>
                </a:extLst>
              </p:cNvPr>
              <p:cNvSpPr txBox="1"/>
              <p:nvPr/>
            </p:nvSpPr>
            <p:spPr>
              <a:xfrm>
                <a:off x="5283709" y="1076594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:42,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:34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3F69553E-397C-1B9C-84AF-A5FF5F10A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3709" y="1076594"/>
                <a:ext cx="176823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66B32E74-14A6-5EE6-ABB6-4DDBF9939650}"/>
                  </a:ext>
                </a:extLst>
              </p:cNvPr>
              <p:cNvSpPr txBox="1"/>
              <p:nvPr/>
            </p:nvSpPr>
            <p:spPr>
              <a:xfrm>
                <a:off x="4705170" y="5263870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:42,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:34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66B32E74-14A6-5EE6-ABB6-4DDBF9939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170" y="5263870"/>
                <a:ext cx="1768235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0DE14C2F-FB31-BA34-42EA-4112EB4F16D3}"/>
                  </a:ext>
                </a:extLst>
              </p:cNvPr>
              <p:cNvSpPr txBox="1"/>
              <p:nvPr/>
            </p:nvSpPr>
            <p:spPr>
              <a:xfrm>
                <a:off x="2523294" y="760145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𝒎𝒖𝒍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𝟖𝟒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𝒂𝒅𝒅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𝟕𝟎</m:t>
                      </m:r>
                    </m:oMath>
                  </m:oMathPara>
                </a14:m>
                <a:endParaRPr kumimoji="1" lang="ja-JP" altLang="en-US" b="1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0DE14C2F-FB31-BA34-42EA-4112EB4F1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3294" y="760145"/>
                <a:ext cx="1768235" cy="369332"/>
              </a:xfrm>
              <a:prstGeom prst="rect">
                <a:avLst/>
              </a:prstGeom>
              <a:blipFill>
                <a:blip r:embed="rId17"/>
                <a:stretch>
                  <a:fillRect r="-64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図 5" descr="ダイアグラム, 概略図&#10;&#10;自動的に生成された説明">
            <a:extLst>
              <a:ext uri="{FF2B5EF4-FFF2-40B4-BE49-F238E27FC236}">
                <a16:creationId xmlns:a16="http://schemas.microsoft.com/office/drawing/2014/main" id="{6DA81D59-1460-838E-0667-7F0BA53173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800" y="2307814"/>
            <a:ext cx="1838119" cy="1785601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A86FD3-B8A5-A40C-12C4-67DDFA7E9413}"/>
              </a:ext>
            </a:extLst>
          </p:cNvPr>
          <p:cNvSpPr txBox="1"/>
          <p:nvPr/>
        </p:nvSpPr>
        <p:spPr>
          <a:xfrm>
            <a:off x="282089" y="281794"/>
            <a:ext cx="3262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/>
              <a:t>※</a:t>
            </a:r>
            <a:r>
              <a:rPr kumimoji="1" lang="ja-JP" altLang="en-US" sz="1600"/>
              <a:t>キャッシュによるカットを無視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892B9087-64CF-8720-BBAD-AC02F0DA673A}"/>
                  </a:ext>
                </a:extLst>
              </p:cNvPr>
              <p:cNvSpPr txBox="1"/>
              <p:nvPr/>
            </p:nvSpPr>
            <p:spPr>
              <a:xfrm>
                <a:off x="942009" y="6137921"/>
                <a:ext cx="1827295" cy="5628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𝒎𝒖𝒍</m:t>
                          </m:r>
                        </m:e>
                        <m:sub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e>
                            <m:sup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p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kumimoji="1" lang="ja-JP" altLang="en-US" b="1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892B9087-64CF-8720-BBAD-AC02F0DA6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09" y="6137921"/>
                <a:ext cx="1827295" cy="562846"/>
              </a:xfrm>
              <a:prstGeom prst="rect">
                <a:avLst/>
              </a:prstGeom>
              <a:blipFill>
                <a:blip r:embed="rId19"/>
                <a:stretch>
                  <a:fillRect l="-2778" r="-2083"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D9AADC40-EEB7-72F4-1027-B1002A0AF170}"/>
                  </a:ext>
                </a:extLst>
              </p:cNvPr>
              <p:cNvSpPr txBox="1"/>
              <p:nvPr/>
            </p:nvSpPr>
            <p:spPr>
              <a:xfrm>
                <a:off x="3169109" y="6137921"/>
                <a:ext cx="2926891" cy="5628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𝒂𝒅𝒅</m:t>
                          </m:r>
                        </m:e>
                        <m:sub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e>
                            <m:sup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p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  <m:sup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p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kumimoji="1" lang="en-US" altLang="ja-JP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kumimoji="1" lang="ja-JP" altLang="en-US" b="1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D9AADC40-EEB7-72F4-1027-B1002A0AF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109" y="6137921"/>
                <a:ext cx="2926891" cy="562846"/>
              </a:xfrm>
              <a:prstGeom prst="rect">
                <a:avLst/>
              </a:prstGeom>
              <a:blipFill>
                <a:blip r:embed="rId20"/>
                <a:stretch>
                  <a:fillRect l="-1293" r="-862"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2074045-A6E6-912D-B72B-783BD8043DF7}"/>
              </a:ext>
            </a:extLst>
          </p:cNvPr>
          <p:cNvSpPr/>
          <p:nvPr/>
        </p:nvSpPr>
        <p:spPr>
          <a:xfrm>
            <a:off x="593124" y="5917637"/>
            <a:ext cx="5880281" cy="9259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8B82F34-CE90-72CC-987C-2D310A34A2EB}"/>
              </a:ext>
            </a:extLst>
          </p:cNvPr>
          <p:cNvSpPr/>
          <p:nvPr/>
        </p:nvSpPr>
        <p:spPr>
          <a:xfrm>
            <a:off x="671446" y="5758249"/>
            <a:ext cx="1200722" cy="418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一般式</a:t>
            </a:r>
          </a:p>
        </p:txBody>
      </p:sp>
    </p:spTree>
    <p:extLst>
      <p:ext uri="{BB962C8B-B14F-4D97-AF65-F5344CB8AC3E}">
        <p14:creationId xmlns:p14="http://schemas.microsoft.com/office/powerpoint/2010/main" val="3437408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E3F88-7BFF-2436-C976-6CB0F1083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17AA658B-CD15-E05A-7986-E55F1C370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</p:spPr>
            <p:txBody>
              <a:bodyPr>
                <a:normAutofit fontScale="85000" lnSpcReduction="10000"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①</m:t>
                    </m:r>
                  </m:oMath>
                </a14:m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))…</m:t>
                    </m:r>
                    <m:r>
                      <a:rPr lang="en-US" altLang="ja-JP" i="1" strike="sngStrike" smtClean="0">
                        <a:latin typeface="Cambria Math" panose="02040503050406030204" pitchFamily="18" charset="0"/>
                      </a:rPr>
                      <m:t>②</m:t>
                    </m:r>
                  </m:oMath>
                </a14:m>
                <a:endParaRPr kumimoji="1" lang="en-US" altLang="ja-JP" b="0" strike="sngStrike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endParaRPr kumimoji="1" lang="en-US" altLang="ja-JP" b="0" strike="sngStrike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  <m:r>
                      <a:rPr lang="en-US" altLang="ja-JP" i="1" strike="sngStrike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 strike="sngStrike" smtClean="0">
                        <a:latin typeface="Cambria Math" panose="02040503050406030204" pitchFamily="18" charset="0"/>
                      </a:rPr>
                      <m:t>③</m:t>
                    </m:r>
                  </m:oMath>
                </a14:m>
                <a:endParaRPr kumimoji="1" lang="en-US" altLang="ja-JP" b="0" strike="sngStrike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kumimoji="1" lang="en-US" altLang="ja-JP" b="0" strike="sngStrike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kumimoji="1" lang="en-US" altLang="ja-JP" b="0" strike="sngStrike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</m:oMath>
                </a14:m>
                <a:endParaRPr kumimoji="1" lang="en-US" altLang="ja-JP" b="0" strike="sngStrike" dirty="0"/>
              </a:p>
              <a:p>
                <a:pPr lvl="6"/>
                <a:r>
                  <a:rPr kumimoji="1" lang="ja-JP" altLang="en-US" b="0" strike="sngStrike"/>
                  <a:t>省略</a:t>
                </a:r>
                <a:endParaRPr kumimoji="1" lang="en-US" altLang="ja-JP" b="0" strike="sngStrike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endParaRPr kumimoji="1" lang="en-US" altLang="ja-JP" b="0" strike="sngStrike" dirty="0"/>
              </a:p>
              <a:p>
                <a:pPr lvl="5"/>
                <a:r>
                  <a:rPr kumimoji="1" lang="ja-JP" altLang="en-US" b="0" strike="sngStrike"/>
                  <a:t>省略</a:t>
                </a:r>
                <a:endParaRPr kumimoji="1" lang="en-US" altLang="ja-JP" b="0" strike="sngStrike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strike="sngStrike" dirty="0"/>
              </a:p>
              <a:p>
                <a:pPr lvl="4"/>
                <a:r>
                  <a:rPr kumimoji="1" lang="ja-JP" altLang="en-US" b="0" strike="sngStrike"/>
                  <a:t>省略</a:t>
                </a:r>
                <a:endParaRPr kumimoji="1" lang="en-US" altLang="ja-JP" b="0" strike="sngStrike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dirty="0"/>
              </a:p>
              <a:p>
                <a:pPr lvl="3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(0,  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2"/>
                <a:r>
                  <a:rPr lang="ja-JP" altLang="en-US"/>
                  <a:t>省略</a:t>
                </a:r>
                <a:endParaRPr kumimoji="1" lang="en-US" altLang="ja-JP" b="0" dirty="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17AA658B-CD15-E05A-7986-E55F1C370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  <a:blipFill>
                <a:blip r:embed="rId2"/>
                <a:stretch>
                  <a:fillRect l="-1287" t="-1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図 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FAA68DAA-2068-45F3-126C-D3BB9D126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566" y="28546"/>
            <a:ext cx="1745116" cy="6858000"/>
          </a:xfrm>
          <a:prstGeom prst="rect">
            <a:avLst/>
          </a:prstGeom>
        </p:spPr>
      </p:pic>
      <p:sp>
        <p:nvSpPr>
          <p:cNvPr id="5" name="加算記号 4">
            <a:extLst>
              <a:ext uri="{FF2B5EF4-FFF2-40B4-BE49-F238E27FC236}">
                <a16:creationId xmlns:a16="http://schemas.microsoft.com/office/drawing/2014/main" id="{F6CD41D7-F295-0C7D-9CC0-54D0F39768EF}"/>
              </a:ext>
            </a:extLst>
          </p:cNvPr>
          <p:cNvSpPr/>
          <p:nvPr/>
        </p:nvSpPr>
        <p:spPr>
          <a:xfrm rot="2696788">
            <a:off x="9561046" y="3007918"/>
            <a:ext cx="899255" cy="899255"/>
          </a:xfrm>
          <a:prstGeom prst="mathPlus">
            <a:avLst/>
          </a:prstGeom>
          <a:solidFill>
            <a:schemeClr val="bg1">
              <a:lumMod val="5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BA99A80D-D8B2-8FF2-29ED-D05224489FAC}"/>
                  </a:ext>
                </a:extLst>
              </p:cNvPr>
              <p:cNvSpPr txBox="1"/>
              <p:nvPr/>
            </p:nvSpPr>
            <p:spPr>
              <a:xfrm>
                <a:off x="2987867" y="1438865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:20,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BA99A80D-D8B2-8FF2-29ED-D05224489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67" y="1438865"/>
                <a:ext cx="176823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7E10A2A5-1DA5-2229-6E95-6E839E30930A}"/>
                  </a:ext>
                </a:extLst>
              </p:cNvPr>
              <p:cNvSpPr txBox="1"/>
              <p:nvPr/>
            </p:nvSpPr>
            <p:spPr>
              <a:xfrm>
                <a:off x="2987867" y="4680472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7E10A2A5-1DA5-2229-6E95-6E839E309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67" y="4680472"/>
                <a:ext cx="176823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0DA038A-5A4E-A37B-0164-5EEA4356C440}"/>
                  </a:ext>
                </a:extLst>
              </p:cNvPr>
              <p:cNvSpPr txBox="1"/>
              <p:nvPr/>
            </p:nvSpPr>
            <p:spPr>
              <a:xfrm>
                <a:off x="5283709" y="1076594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:42,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:34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0DA038A-5A4E-A37B-0164-5EEA4356C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3709" y="1076594"/>
                <a:ext cx="176823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9E3184CA-3D2C-2ECF-9B9B-D04A4FCE17FF}"/>
                  </a:ext>
                </a:extLst>
              </p:cNvPr>
              <p:cNvSpPr txBox="1"/>
              <p:nvPr/>
            </p:nvSpPr>
            <p:spPr>
              <a:xfrm>
                <a:off x="4705170" y="5263870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:42,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:34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9E3184CA-3D2C-2ECF-9B9B-D04A4FCE1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170" y="5263870"/>
                <a:ext cx="176823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6853B8E8-E62F-097B-51EE-C50CE3BC0BD9}"/>
                  </a:ext>
                </a:extLst>
              </p:cNvPr>
              <p:cNvSpPr txBox="1"/>
              <p:nvPr/>
            </p:nvSpPr>
            <p:spPr>
              <a:xfrm>
                <a:off x="2523294" y="760145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1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𝒎𝒖𝒍</m:t>
                      </m:r>
                      <m:r>
                        <a:rPr kumimoji="1" lang="en-US" altLang="ja-JP" b="1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𝟖𝟒</m:t>
                      </m:r>
                      <m:r>
                        <a:rPr kumimoji="1" lang="en-US" altLang="ja-JP" b="1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b="1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𝒂𝒅𝒅</m:t>
                      </m:r>
                      <m:r>
                        <a:rPr kumimoji="1" lang="en-US" altLang="ja-JP" b="1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𝟕𝟎</m:t>
                      </m:r>
                    </m:oMath>
                  </m:oMathPara>
                </a14:m>
                <a:endParaRPr kumimoji="1" lang="ja-JP" altLang="en-US" b="1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6853B8E8-E62F-097B-51EE-C50CE3BC0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3294" y="760145"/>
                <a:ext cx="1768235" cy="369332"/>
              </a:xfrm>
              <a:prstGeom prst="rect">
                <a:avLst/>
              </a:prstGeom>
              <a:blipFill>
                <a:blip r:embed="rId9"/>
                <a:stretch>
                  <a:fillRect r="-64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02918E10-1869-04E1-D40C-E8DA1F1D8A56}"/>
                  </a:ext>
                </a:extLst>
              </p:cNvPr>
              <p:cNvSpPr txBox="1"/>
              <p:nvPr/>
            </p:nvSpPr>
            <p:spPr>
              <a:xfrm>
                <a:off x="8199035" y="2081644"/>
                <a:ext cx="249395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02918E10-1869-04E1-D40C-E8DA1F1D8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035" y="2081644"/>
                <a:ext cx="249395" cy="276999"/>
              </a:xfrm>
              <a:prstGeom prst="rect">
                <a:avLst/>
              </a:prstGeom>
              <a:blipFill>
                <a:blip r:embed="rId10"/>
                <a:stretch>
                  <a:fillRect l="-4762" r="-4762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D6F5253-2AE1-C023-CCAC-71B620CD624D}"/>
                  </a:ext>
                </a:extLst>
              </p:cNvPr>
              <p:cNvSpPr txBox="1"/>
              <p:nvPr/>
            </p:nvSpPr>
            <p:spPr>
              <a:xfrm>
                <a:off x="9089335" y="2071641"/>
                <a:ext cx="249395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D6F5253-2AE1-C023-CCAC-71B620CD6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9335" y="2071641"/>
                <a:ext cx="249395" cy="276999"/>
              </a:xfrm>
              <a:prstGeom prst="rect">
                <a:avLst/>
              </a:prstGeom>
              <a:blipFill>
                <a:blip r:embed="rId11"/>
                <a:stretch>
                  <a:fillRect l="-4762" r="-4762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17BDB661-64D8-73AD-1C97-83A23F41CC26}"/>
                  </a:ext>
                </a:extLst>
              </p:cNvPr>
              <p:cNvSpPr txBox="1"/>
              <p:nvPr/>
            </p:nvSpPr>
            <p:spPr>
              <a:xfrm>
                <a:off x="4683900" y="1456893"/>
                <a:ext cx="2856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17BDB661-64D8-73AD-1C97-83A23F41C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900" y="1456893"/>
                <a:ext cx="285665" cy="369332"/>
              </a:xfrm>
              <a:prstGeom prst="rect">
                <a:avLst/>
              </a:prstGeom>
              <a:blipFill>
                <a:blip r:embed="rId12"/>
                <a:stretch>
                  <a:fillRect r="-41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FD6C565-91F2-F4C3-182D-5C469A132F2D}"/>
                  </a:ext>
                </a:extLst>
              </p:cNvPr>
              <p:cNvSpPr txBox="1"/>
              <p:nvPr/>
            </p:nvSpPr>
            <p:spPr>
              <a:xfrm>
                <a:off x="6663872" y="1283736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:22, 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FD6C565-91F2-F4C3-182D-5C469A132F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3872" y="1283736"/>
                <a:ext cx="176823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AA2D30CE-BD11-D65F-1DEC-E1CF34E49C1E}"/>
                  </a:ext>
                </a:extLst>
              </p:cNvPr>
              <p:cNvSpPr txBox="1"/>
              <p:nvPr/>
            </p:nvSpPr>
            <p:spPr>
              <a:xfrm>
                <a:off x="6427247" y="5286346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:22, 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AA2D30CE-BD11-D65F-1DEC-E1CF34E49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247" y="5286346"/>
                <a:ext cx="176823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F28F36AE-F7BB-1892-47E3-264DBD8FD209}"/>
                  </a:ext>
                </a:extLst>
              </p:cNvPr>
              <p:cNvSpPr txBox="1"/>
              <p:nvPr/>
            </p:nvSpPr>
            <p:spPr>
              <a:xfrm>
                <a:off x="4277883" y="735094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𝒎𝒖𝒍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𝟒𝟐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𝒂𝒅𝒅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𝟑𝟎</m:t>
                      </m:r>
                    </m:oMath>
                  </m:oMathPara>
                </a14:m>
                <a:endParaRPr kumimoji="1" lang="ja-JP" altLang="en-US" b="1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F28F36AE-F7BB-1892-47E3-264DBD8FD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7883" y="735094"/>
                <a:ext cx="1768235" cy="369332"/>
              </a:xfrm>
              <a:prstGeom prst="rect">
                <a:avLst/>
              </a:prstGeom>
              <a:blipFill>
                <a:blip r:embed="rId15"/>
                <a:stretch>
                  <a:fillRect r="-56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図 5">
            <a:extLst>
              <a:ext uri="{FF2B5EF4-FFF2-40B4-BE49-F238E27FC236}">
                <a16:creationId xmlns:a16="http://schemas.microsoft.com/office/drawing/2014/main" id="{4281D26D-8C9B-AFB9-2954-42A12E599889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111800" y="2312816"/>
            <a:ext cx="1838119" cy="1775597"/>
          </a:xfrm>
          <a:prstGeom prst="rect">
            <a:avLst/>
          </a:prstGeom>
        </p:spPr>
      </p:pic>
      <p:pic>
        <p:nvPicPr>
          <p:cNvPr id="8" name="図 7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20E863B6-6906-94EF-F317-6542C3294B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409662" y="28546"/>
            <a:ext cx="16705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885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A211A-9DC6-E420-EFD0-C2AB48791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7A0566EB-9571-D884-23A2-7737020813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</p:spPr>
            <p:txBody>
              <a:bodyPr>
                <a:normAutofit fontScale="85000" lnSpcReduction="10000"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①</m:t>
                    </m:r>
                  </m:oMath>
                </a14:m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))…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②</m:t>
                    </m:r>
                  </m:oMath>
                </a14:m>
                <a:endParaRPr kumimoji="1" lang="en-US" altLang="ja-JP" b="0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  <m:r>
                      <a:rPr lang="en-US" altLang="ja-JP" i="1" strike="sngStrike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 strike="sngStrike" smtClean="0">
                        <a:latin typeface="Cambria Math" panose="02040503050406030204" pitchFamily="18" charset="0"/>
                      </a:rPr>
                      <m:t>③</m:t>
                    </m:r>
                  </m:oMath>
                </a14:m>
                <a:endParaRPr kumimoji="1" lang="en-US" altLang="ja-JP" b="0" strike="sngStrike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kumimoji="1" lang="en-US" altLang="ja-JP" b="0" strike="sngStrike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kumimoji="1" lang="en-US" altLang="ja-JP" b="0" strike="sngStrike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trike="sngStrike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trike="sngStrike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trike="sngStrike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</m:oMath>
                </a14:m>
                <a:endParaRPr kumimoji="1" lang="en-US" altLang="ja-JP" b="0" strike="sngStrike" dirty="0"/>
              </a:p>
              <a:p>
                <a:pPr lvl="6"/>
                <a:r>
                  <a:rPr kumimoji="1" lang="ja-JP" altLang="en-US" b="0" strike="sngStrike"/>
                  <a:t>省略</a:t>
                </a:r>
                <a:endParaRPr kumimoji="1" lang="en-US" altLang="ja-JP" b="0" strike="sngStrike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(0,  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4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dirty="0"/>
              </a:p>
              <a:p>
                <a:pPr lvl="3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2"/>
                <a:r>
                  <a:rPr lang="ja-JP" altLang="en-US"/>
                  <a:t>省略</a:t>
                </a:r>
                <a:endParaRPr kumimoji="1" lang="en-US" altLang="ja-JP" b="0" dirty="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7A0566EB-9571-D884-23A2-7737020813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  <a:blipFill>
                <a:blip r:embed="rId2"/>
                <a:stretch>
                  <a:fillRect l="-1287" t="-1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図 2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702A572B-B986-38DB-5CA1-50670CE87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9662" y="28546"/>
            <a:ext cx="1670538" cy="6858000"/>
          </a:xfrm>
          <a:prstGeom prst="rect">
            <a:avLst/>
          </a:prstGeom>
        </p:spPr>
      </p:pic>
      <p:pic>
        <p:nvPicPr>
          <p:cNvPr id="4" name="図 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13F4B5C8-DE33-6800-BE57-A8C63DD0E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6566" y="28546"/>
            <a:ext cx="1745116" cy="6858000"/>
          </a:xfrm>
          <a:prstGeom prst="rect">
            <a:avLst/>
          </a:prstGeom>
        </p:spPr>
      </p:pic>
      <p:sp>
        <p:nvSpPr>
          <p:cNvPr id="5" name="加算記号 4">
            <a:extLst>
              <a:ext uri="{FF2B5EF4-FFF2-40B4-BE49-F238E27FC236}">
                <a16:creationId xmlns:a16="http://schemas.microsoft.com/office/drawing/2014/main" id="{62C70E6A-F4A9-1D93-DDE6-678FBDD201FD}"/>
              </a:ext>
            </a:extLst>
          </p:cNvPr>
          <p:cNvSpPr/>
          <p:nvPr/>
        </p:nvSpPr>
        <p:spPr>
          <a:xfrm rot="2696788">
            <a:off x="9561046" y="3007918"/>
            <a:ext cx="899255" cy="899255"/>
          </a:xfrm>
          <a:prstGeom prst="mathPlus">
            <a:avLst/>
          </a:prstGeom>
          <a:solidFill>
            <a:schemeClr val="bg1">
              <a:lumMod val="5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B87419C-9250-E9FB-F446-2A4A84CCDD02}"/>
                  </a:ext>
                </a:extLst>
              </p:cNvPr>
              <p:cNvSpPr txBox="1"/>
              <p:nvPr/>
            </p:nvSpPr>
            <p:spPr>
              <a:xfrm>
                <a:off x="4756102" y="2856249"/>
                <a:ext cx="3009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B87419C-9250-E9FB-F446-2A4A84CCD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102" y="2856249"/>
                <a:ext cx="30094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DB47DAA8-7ABE-8074-59AC-B978B33DE0E2}"/>
                  </a:ext>
                </a:extLst>
              </p:cNvPr>
              <p:cNvSpPr txBox="1"/>
              <p:nvPr/>
            </p:nvSpPr>
            <p:spPr>
              <a:xfrm>
                <a:off x="4742061" y="2571920"/>
                <a:ext cx="3009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DB47DAA8-7ABE-8074-59AC-B978B33DE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2061" y="2571920"/>
                <a:ext cx="30094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E0E2C984-91DC-EE03-F3BD-5737230B5DED}"/>
                  </a:ext>
                </a:extLst>
              </p:cNvPr>
              <p:cNvSpPr txBox="1"/>
              <p:nvPr/>
            </p:nvSpPr>
            <p:spPr>
              <a:xfrm>
                <a:off x="3836725" y="1994580"/>
                <a:ext cx="15050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E0E2C984-91DC-EE03-F3BD-5737230B5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6725" y="1994580"/>
                <a:ext cx="150504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FD0534D1-7C7A-7548-EBA3-5D2C57C8EBBD}"/>
                  </a:ext>
                </a:extLst>
              </p:cNvPr>
              <p:cNvSpPr txBox="1"/>
              <p:nvPr/>
            </p:nvSpPr>
            <p:spPr>
              <a:xfrm>
                <a:off x="3778668" y="3632420"/>
                <a:ext cx="15050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FD0534D1-7C7A-7548-EBA3-5D2C57C8EB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68" y="3632420"/>
                <a:ext cx="150504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0B75C386-5EEB-BA0A-85D9-EC05F620B7BA}"/>
                  </a:ext>
                </a:extLst>
              </p:cNvPr>
              <p:cNvSpPr txBox="1"/>
              <p:nvPr/>
            </p:nvSpPr>
            <p:spPr>
              <a:xfrm>
                <a:off x="5223659" y="1713394"/>
                <a:ext cx="16265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:10,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:6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0B75C386-5EEB-BA0A-85D9-EC05F620B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659" y="1713394"/>
                <a:ext cx="162657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62E07971-F8FE-C65E-22E6-92CBD9F2FC50}"/>
                  </a:ext>
                </a:extLst>
              </p:cNvPr>
              <p:cNvSpPr txBox="1"/>
              <p:nvPr/>
            </p:nvSpPr>
            <p:spPr>
              <a:xfrm>
                <a:off x="4831177" y="4160894"/>
                <a:ext cx="16265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:10,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:6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62E07971-F8FE-C65E-22E6-92CBD9F2F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177" y="4160894"/>
                <a:ext cx="1626577" cy="369332"/>
              </a:xfrm>
              <a:prstGeom prst="rect">
                <a:avLst/>
              </a:prstGeom>
              <a:blipFill>
                <a:blip r:embed="rId10"/>
                <a:stretch>
                  <a:fillRect r="-77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6A081BC-AE8F-4BA6-5BD4-281EC310916E}"/>
                  </a:ext>
                </a:extLst>
              </p:cNvPr>
              <p:cNvSpPr txBox="1"/>
              <p:nvPr/>
            </p:nvSpPr>
            <p:spPr>
              <a:xfrm>
                <a:off x="2987867" y="1438865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:20,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6A081BC-AE8F-4BA6-5BD4-281EC3109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67" y="1438865"/>
                <a:ext cx="176823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D488F9D-3897-E8B7-D828-429EACE8C61F}"/>
                  </a:ext>
                </a:extLst>
              </p:cNvPr>
              <p:cNvSpPr txBox="1"/>
              <p:nvPr/>
            </p:nvSpPr>
            <p:spPr>
              <a:xfrm>
                <a:off x="2987867" y="4680472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:20,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D488F9D-3897-E8B7-D828-429EACE8C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67" y="4680472"/>
                <a:ext cx="176823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476C2A88-7B2C-5154-5BA4-55EDEE9BE50B}"/>
                  </a:ext>
                </a:extLst>
              </p:cNvPr>
              <p:cNvSpPr txBox="1"/>
              <p:nvPr/>
            </p:nvSpPr>
            <p:spPr>
              <a:xfrm>
                <a:off x="5283709" y="1076594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:42,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:34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476C2A88-7B2C-5154-5BA4-55EDEE9BE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3709" y="1076594"/>
                <a:ext cx="176823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91672FAB-810A-6673-547D-601D454C343C}"/>
                  </a:ext>
                </a:extLst>
              </p:cNvPr>
              <p:cNvSpPr txBox="1"/>
              <p:nvPr/>
            </p:nvSpPr>
            <p:spPr>
              <a:xfrm>
                <a:off x="4705170" y="5263870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:42, 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:34</m:t>
                      </m:r>
                    </m:oMath>
                  </m:oMathPara>
                </a14:m>
                <a:endParaRPr kumimoji="1" lang="ja-JP" altLang="en-US" strike="sngStrike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91672FAB-810A-6673-547D-601D454C3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170" y="5263870"/>
                <a:ext cx="176823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AF8E0247-ECF1-E12E-7765-FAA2923B794A}"/>
                  </a:ext>
                </a:extLst>
              </p:cNvPr>
              <p:cNvSpPr txBox="1"/>
              <p:nvPr/>
            </p:nvSpPr>
            <p:spPr>
              <a:xfrm>
                <a:off x="2523294" y="760145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𝒎𝒖𝒍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𝟖𝟒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𝒂𝒅𝒅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𝟕𝟎</m:t>
                      </m:r>
                    </m:oMath>
                  </m:oMathPara>
                </a14:m>
                <a:endParaRPr kumimoji="1" lang="ja-JP" altLang="en-US" b="1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AF8E0247-ECF1-E12E-7765-FAA2923B7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3294" y="760145"/>
                <a:ext cx="1768235" cy="369332"/>
              </a:xfrm>
              <a:prstGeom prst="rect">
                <a:avLst/>
              </a:prstGeom>
              <a:blipFill>
                <a:blip r:embed="rId14"/>
                <a:stretch>
                  <a:fillRect r="-64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2D79C44B-6687-646C-B47D-FE0406FBEECA}"/>
                  </a:ext>
                </a:extLst>
              </p:cNvPr>
              <p:cNvSpPr txBox="1"/>
              <p:nvPr/>
            </p:nvSpPr>
            <p:spPr>
              <a:xfrm>
                <a:off x="8176952" y="3678586"/>
                <a:ext cx="249395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2D79C44B-6687-646C-B47D-FE0406FBE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6952" y="3678586"/>
                <a:ext cx="249395" cy="276999"/>
              </a:xfrm>
              <a:prstGeom prst="rect">
                <a:avLst/>
              </a:prstGeom>
              <a:blipFill>
                <a:blip r:embed="rId15"/>
                <a:stretch>
                  <a:fillRect l="-4762" r="-4762" b="-43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28158850-4FF8-CF0E-FC38-F1FE4B1A95C8}"/>
                  </a:ext>
                </a:extLst>
              </p:cNvPr>
              <p:cNvSpPr txBox="1"/>
              <p:nvPr/>
            </p:nvSpPr>
            <p:spPr>
              <a:xfrm>
                <a:off x="9099629" y="3678586"/>
                <a:ext cx="249395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28158850-4FF8-CF0E-FC38-F1FE4B1A9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9629" y="3678586"/>
                <a:ext cx="249395" cy="276999"/>
              </a:xfrm>
              <a:prstGeom prst="rect">
                <a:avLst/>
              </a:prstGeom>
              <a:blipFill>
                <a:blip r:embed="rId16"/>
                <a:stretch>
                  <a:fillRect l="-4762" r="-4762" b="-43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7A1F3633-FD03-3FF5-AA3A-A96CF02B819F}"/>
                  </a:ext>
                </a:extLst>
              </p:cNvPr>
              <p:cNvSpPr txBox="1"/>
              <p:nvPr/>
            </p:nvSpPr>
            <p:spPr>
              <a:xfrm>
                <a:off x="5283709" y="1994580"/>
                <a:ext cx="2856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7A1F3633-FD03-3FF5-AA3A-A96CF02B8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3709" y="1994580"/>
                <a:ext cx="285665" cy="369332"/>
              </a:xfrm>
              <a:prstGeom prst="rect">
                <a:avLst/>
              </a:prstGeom>
              <a:blipFill>
                <a:blip r:embed="rId17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F972BDE8-DB62-E3D0-853B-1F996AB435C2}"/>
                  </a:ext>
                </a:extLst>
              </p:cNvPr>
              <p:cNvSpPr txBox="1"/>
              <p:nvPr/>
            </p:nvSpPr>
            <p:spPr>
              <a:xfrm>
                <a:off x="6777383" y="1713394"/>
                <a:ext cx="13995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:6, 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F972BDE8-DB62-E3D0-853B-1F996AB43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383" y="1713394"/>
                <a:ext cx="1399570" cy="369332"/>
              </a:xfrm>
              <a:prstGeom prst="rect">
                <a:avLst/>
              </a:prstGeom>
              <a:blipFill>
                <a:blip r:embed="rId18"/>
                <a:stretch>
                  <a:fillRect r="-81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A396D8C1-22ED-5381-33B9-5FB8C273DF4F}"/>
                  </a:ext>
                </a:extLst>
              </p:cNvPr>
              <p:cNvSpPr txBox="1"/>
              <p:nvPr/>
            </p:nvSpPr>
            <p:spPr>
              <a:xfrm>
                <a:off x="6452072" y="4160894"/>
                <a:ext cx="13995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:6, 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A396D8C1-22ED-5381-33B9-5FB8C273D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2072" y="4160894"/>
                <a:ext cx="1399570" cy="369332"/>
              </a:xfrm>
              <a:prstGeom prst="rect">
                <a:avLst/>
              </a:prstGeom>
              <a:blipFill>
                <a:blip r:embed="rId19"/>
                <a:stretch>
                  <a:fillRect r="-71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B2AD8E8-0A92-C788-D826-A8A326245050}"/>
                  </a:ext>
                </a:extLst>
              </p:cNvPr>
              <p:cNvSpPr txBox="1"/>
              <p:nvPr/>
            </p:nvSpPr>
            <p:spPr>
              <a:xfrm>
                <a:off x="4670566" y="1421695"/>
                <a:ext cx="16392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:12, 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:6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B2AD8E8-0A92-C788-D826-A8A326245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0566" y="1421695"/>
                <a:ext cx="163926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76E4FB5D-F011-042F-37FA-6BE2966C81A3}"/>
                  </a:ext>
                </a:extLst>
              </p:cNvPr>
              <p:cNvSpPr txBox="1"/>
              <p:nvPr/>
            </p:nvSpPr>
            <p:spPr>
              <a:xfrm>
                <a:off x="4670566" y="4672826"/>
                <a:ext cx="16392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:12, 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:6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76E4FB5D-F011-042F-37FA-6BE2966C8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0566" y="4672826"/>
                <a:ext cx="1639260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CACD5B4B-D083-AB3F-9A81-6E253161AE80}"/>
                  </a:ext>
                </a:extLst>
              </p:cNvPr>
              <p:cNvSpPr txBox="1"/>
              <p:nvPr/>
            </p:nvSpPr>
            <p:spPr>
              <a:xfrm>
                <a:off x="6332227" y="5263870"/>
                <a:ext cx="16392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:26, 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:18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CACD5B4B-D083-AB3F-9A81-6E253161A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227" y="5263870"/>
                <a:ext cx="1639260" cy="369332"/>
              </a:xfrm>
              <a:prstGeom prst="rect">
                <a:avLst/>
              </a:prstGeom>
              <a:blipFill>
                <a:blip r:embed="rId22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C939F8E3-2E45-7D9A-7F36-066A383DEE7C}"/>
                  </a:ext>
                </a:extLst>
              </p:cNvPr>
              <p:cNvSpPr txBox="1"/>
              <p:nvPr/>
            </p:nvSpPr>
            <p:spPr>
              <a:xfrm>
                <a:off x="4200275" y="730484"/>
                <a:ext cx="17763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𝒎𝒖𝒍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𝟓𝟐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𝒂𝒅𝒅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𝟑𝟖</m:t>
                      </m:r>
                    </m:oMath>
                  </m:oMathPara>
                </a14:m>
                <a:endParaRPr kumimoji="1" lang="ja-JP" altLang="en-US" b="1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C939F8E3-2E45-7D9A-7F36-066A383DE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275" y="730484"/>
                <a:ext cx="1776347" cy="369332"/>
              </a:xfrm>
              <a:prstGeom prst="rect">
                <a:avLst/>
              </a:prstGeom>
              <a:blipFill>
                <a:blip r:embed="rId23"/>
                <a:stretch>
                  <a:fillRect r="-56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B984AC99-2CA4-DFF4-5915-B793551E91CA}"/>
                  </a:ext>
                </a:extLst>
              </p:cNvPr>
              <p:cNvSpPr txBox="1"/>
              <p:nvPr/>
            </p:nvSpPr>
            <p:spPr>
              <a:xfrm>
                <a:off x="6633205" y="852478"/>
                <a:ext cx="16392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:26, 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:18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B984AC99-2CA4-DFF4-5915-B793551E9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3205" y="852478"/>
                <a:ext cx="1639260" cy="369332"/>
              </a:xfrm>
              <a:prstGeom prst="rect">
                <a:avLst/>
              </a:prstGeom>
              <a:blipFill>
                <a:blip r:embed="rId24"/>
                <a:stretch>
                  <a:fillRect r="-692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図 11">
            <a:extLst>
              <a:ext uri="{FF2B5EF4-FFF2-40B4-BE49-F238E27FC236}">
                <a16:creationId xmlns:a16="http://schemas.microsoft.com/office/drawing/2014/main" id="{82B55C05-1248-E2E1-1632-B3E6357CCA40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/>
          <a:stretch/>
        </p:blipFill>
        <p:spPr>
          <a:xfrm>
            <a:off x="111800" y="2325923"/>
            <a:ext cx="1838119" cy="1749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0773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C1B6C-42EA-7F8D-476C-FDD34D9A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02A78CBF-722A-FCC7-5E5C-5E5FB86F16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</p:spPr>
            <p:txBody>
              <a:bodyPr>
                <a:normAutofit fontScale="85000" lnSpcReduction="10000"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①</m:t>
                    </m:r>
                  </m:oMath>
                </a14:m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))…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②</m:t>
                    </m:r>
                  </m:oMath>
                </a14:m>
                <a:endParaRPr kumimoji="1" lang="en-US" altLang="ja-JP" b="0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  <m:r>
                      <a:rPr lang="en-US" altLang="ja-JP" i="1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③</m:t>
                    </m:r>
                  </m:oMath>
                </a14:m>
                <a:endParaRPr kumimoji="1" lang="en-US" altLang="ja-JP" b="0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6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𝑚𝑢𝑙</m:t>
                        </m:r>
                        <m:d>
                          <m:d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d>
                  </m:oMath>
                </a14:m>
                <a:endParaRPr kumimoji="1" lang="en-US" altLang="ja-JP" b="0" dirty="0"/>
              </a:p>
              <a:p>
                <a:pPr lvl="6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4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endParaRPr kumimoji="1" lang="en-US" altLang="ja-JP" b="0" dirty="0"/>
              </a:p>
              <a:p>
                <a:pPr lvl="5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3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d>
                      <m:d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4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2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dirty="0"/>
              </a:p>
              <a:p>
                <a:pPr lvl="3"/>
                <a:r>
                  <a:rPr kumimoji="1" lang="ja-JP" altLang="en-US" b="0"/>
                  <a:t>省略</a:t>
                </a:r>
                <a:endParaRPr kumimoji="1" lang="en-US" altLang="ja-JP" b="0" dirty="0"/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𝑚𝑢𝑙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kumimoji="1" lang="en-US" altLang="ja-JP" b="0" dirty="0"/>
              </a:p>
              <a:p>
                <a:pPr lvl="2"/>
                <a:r>
                  <a:rPr lang="ja-JP" altLang="en-US"/>
                  <a:t>省略</a:t>
                </a:r>
                <a:endParaRPr kumimoji="1" lang="en-US" altLang="ja-JP" b="0" dirty="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02A78CBF-722A-FCC7-5E5C-5E5FB86F16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38130"/>
                <a:ext cx="6906658" cy="5438833"/>
              </a:xfrm>
              <a:blipFill>
                <a:blip r:embed="rId2"/>
                <a:stretch>
                  <a:fillRect l="-1287" t="-1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図 2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A16379A2-CE1C-B161-5A71-20A9F287B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9662" y="28546"/>
            <a:ext cx="1670538" cy="6858000"/>
          </a:xfrm>
          <a:prstGeom prst="rect">
            <a:avLst/>
          </a:prstGeom>
        </p:spPr>
      </p:pic>
      <p:pic>
        <p:nvPicPr>
          <p:cNvPr id="4" name="図 3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63F41A74-2473-664D-FAD5-FCE0F9C8A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6566" y="28546"/>
            <a:ext cx="1745116" cy="6858000"/>
          </a:xfrm>
          <a:prstGeom prst="rect">
            <a:avLst/>
          </a:prstGeom>
        </p:spPr>
      </p:pic>
      <p:sp>
        <p:nvSpPr>
          <p:cNvPr id="5" name="加算記号 4">
            <a:extLst>
              <a:ext uri="{FF2B5EF4-FFF2-40B4-BE49-F238E27FC236}">
                <a16:creationId xmlns:a16="http://schemas.microsoft.com/office/drawing/2014/main" id="{162AD3F7-AEB7-A803-FA1C-3F763F6AFE26}"/>
              </a:ext>
            </a:extLst>
          </p:cNvPr>
          <p:cNvSpPr/>
          <p:nvPr/>
        </p:nvSpPr>
        <p:spPr>
          <a:xfrm rot="2696788">
            <a:off x="9561046" y="3007918"/>
            <a:ext cx="899255" cy="899255"/>
          </a:xfrm>
          <a:prstGeom prst="mathPlus">
            <a:avLst/>
          </a:prstGeom>
          <a:solidFill>
            <a:schemeClr val="bg1">
              <a:lumMod val="5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3995FCB2-C06F-7337-1EFC-5D51DFE67D48}"/>
                  </a:ext>
                </a:extLst>
              </p:cNvPr>
              <p:cNvSpPr txBox="1"/>
              <p:nvPr/>
            </p:nvSpPr>
            <p:spPr>
              <a:xfrm>
                <a:off x="4756102" y="2856249"/>
                <a:ext cx="3009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3995FCB2-C06F-7337-1EFC-5D51DFE67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102" y="2856249"/>
                <a:ext cx="30094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A3DCB1BF-5267-8160-0163-A114B45CA693}"/>
                  </a:ext>
                </a:extLst>
              </p:cNvPr>
              <p:cNvSpPr txBox="1"/>
              <p:nvPr/>
            </p:nvSpPr>
            <p:spPr>
              <a:xfrm>
                <a:off x="4742061" y="2571920"/>
                <a:ext cx="3009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A3DCB1BF-5267-8160-0163-A114B45CA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2061" y="2571920"/>
                <a:ext cx="30094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2E56F672-B94C-271F-6740-B1D24A851C46}"/>
                  </a:ext>
                </a:extLst>
              </p:cNvPr>
              <p:cNvSpPr txBox="1"/>
              <p:nvPr/>
            </p:nvSpPr>
            <p:spPr>
              <a:xfrm>
                <a:off x="6155140" y="2264846"/>
                <a:ext cx="77792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2E56F672-B94C-271F-6740-B1D24A851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140" y="2264846"/>
                <a:ext cx="777921" cy="369332"/>
              </a:xfrm>
              <a:prstGeom prst="rect">
                <a:avLst/>
              </a:prstGeom>
              <a:blipFill>
                <a:blip r:embed="rId7"/>
                <a:stretch>
                  <a:fillRect r="-32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3CD2071E-1485-FA4E-990A-170E21595B71}"/>
                  </a:ext>
                </a:extLst>
              </p:cNvPr>
              <p:cNvSpPr txBox="1"/>
              <p:nvPr/>
            </p:nvSpPr>
            <p:spPr>
              <a:xfrm>
                <a:off x="5904001" y="3113152"/>
                <a:ext cx="77792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3CD2071E-1485-FA4E-990A-170E21595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4001" y="3113152"/>
                <a:ext cx="777921" cy="369332"/>
              </a:xfrm>
              <a:prstGeom prst="rect">
                <a:avLst/>
              </a:prstGeom>
              <a:blipFill>
                <a:blip r:embed="rId8"/>
                <a:stretch>
                  <a:fillRect r="-161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1360A42-DB03-9D55-C817-B3063A1E0DB7}"/>
                  </a:ext>
                </a:extLst>
              </p:cNvPr>
              <p:cNvSpPr txBox="1"/>
              <p:nvPr/>
            </p:nvSpPr>
            <p:spPr>
              <a:xfrm>
                <a:off x="3836725" y="1994580"/>
                <a:ext cx="15050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1360A42-DB03-9D55-C817-B3063A1E0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6725" y="1994580"/>
                <a:ext cx="150504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BC18FB10-3B82-A0A9-38B0-87D7A60CB87A}"/>
                  </a:ext>
                </a:extLst>
              </p:cNvPr>
              <p:cNvSpPr txBox="1"/>
              <p:nvPr/>
            </p:nvSpPr>
            <p:spPr>
              <a:xfrm>
                <a:off x="3778668" y="3632420"/>
                <a:ext cx="15050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BC18FB10-3B82-A0A9-38B0-87D7A60CB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68" y="3632420"/>
                <a:ext cx="1505041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980A3EA-BCFC-575F-EDA3-6C8C50B01E25}"/>
                  </a:ext>
                </a:extLst>
              </p:cNvPr>
              <p:cNvSpPr txBox="1"/>
              <p:nvPr/>
            </p:nvSpPr>
            <p:spPr>
              <a:xfrm>
                <a:off x="5223659" y="1713394"/>
                <a:ext cx="16265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:6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980A3EA-BCFC-575F-EDA3-6C8C50B01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659" y="1713394"/>
                <a:ext cx="1626577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794D8CFB-537D-BED2-25BD-91AA67941BDC}"/>
                  </a:ext>
                </a:extLst>
              </p:cNvPr>
              <p:cNvSpPr txBox="1"/>
              <p:nvPr/>
            </p:nvSpPr>
            <p:spPr>
              <a:xfrm>
                <a:off x="4831177" y="4160894"/>
                <a:ext cx="16265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:6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794D8CFB-537D-BED2-25BD-91AA67941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177" y="4160894"/>
                <a:ext cx="1626577" cy="369332"/>
              </a:xfrm>
              <a:prstGeom prst="rect">
                <a:avLst/>
              </a:prstGeom>
              <a:blipFill>
                <a:blip r:embed="rId12"/>
                <a:stretch>
                  <a:fillRect r="-77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CE585FD-EBFB-822E-80D1-B8FE8396322F}"/>
                  </a:ext>
                </a:extLst>
              </p:cNvPr>
              <p:cNvSpPr txBox="1"/>
              <p:nvPr/>
            </p:nvSpPr>
            <p:spPr>
              <a:xfrm>
                <a:off x="2987867" y="1438865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CE585FD-EBFB-822E-80D1-B8FE83963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67" y="1438865"/>
                <a:ext cx="176823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31CB34C0-9209-08FB-D350-563E00E1B25A}"/>
                  </a:ext>
                </a:extLst>
              </p:cNvPr>
              <p:cNvSpPr txBox="1"/>
              <p:nvPr/>
            </p:nvSpPr>
            <p:spPr>
              <a:xfrm>
                <a:off x="2987867" y="4680472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:20,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:14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31CB34C0-9209-08FB-D350-563E00E1B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67" y="4680472"/>
                <a:ext cx="176823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86EF4BE-F70C-6447-E6CE-CA8C06B30102}"/>
                  </a:ext>
                </a:extLst>
              </p:cNvPr>
              <p:cNvSpPr txBox="1"/>
              <p:nvPr/>
            </p:nvSpPr>
            <p:spPr>
              <a:xfrm>
                <a:off x="5283709" y="1076594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:42,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:34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86EF4BE-F70C-6447-E6CE-CA8C06B30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3709" y="1076594"/>
                <a:ext cx="176823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F471B0B2-04F0-05D0-7692-88921A9C4686}"/>
                  </a:ext>
                </a:extLst>
              </p:cNvPr>
              <p:cNvSpPr txBox="1"/>
              <p:nvPr/>
            </p:nvSpPr>
            <p:spPr>
              <a:xfrm>
                <a:off x="4705170" y="5263870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𝑚𝑢𝑙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:42, 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kumimoji="1" lang="en-US" altLang="ja-JP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:34</m:t>
                      </m:r>
                    </m:oMath>
                  </m:oMathPara>
                </a14:m>
                <a:endParaRPr kumimoji="1" lang="ja-JP" altLang="en-US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F471B0B2-04F0-05D0-7692-88921A9C4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170" y="5263870"/>
                <a:ext cx="176823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06EBD5A7-EC71-4838-248A-DCBC3253A901}"/>
                  </a:ext>
                </a:extLst>
              </p:cNvPr>
              <p:cNvSpPr txBox="1"/>
              <p:nvPr/>
            </p:nvSpPr>
            <p:spPr>
              <a:xfrm>
                <a:off x="2523294" y="760145"/>
                <a:ext cx="17682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𝒎𝒖𝒍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𝟖𝟒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𝒂𝒅𝒅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ja-JP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𝟕𝟎</m:t>
                      </m:r>
                    </m:oMath>
                  </m:oMathPara>
                </a14:m>
                <a:endParaRPr kumimoji="1" lang="ja-JP" altLang="en-US" b="1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06EBD5A7-EC71-4838-248A-DCBC3253A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3294" y="760145"/>
                <a:ext cx="1768235" cy="369332"/>
              </a:xfrm>
              <a:prstGeom prst="rect">
                <a:avLst/>
              </a:prstGeom>
              <a:blipFill>
                <a:blip r:embed="rId16"/>
                <a:stretch>
                  <a:fillRect r="-64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27FA6235-E590-F6D5-7476-0D3B3BA4C6F8}"/>
                  </a:ext>
                </a:extLst>
              </p:cNvPr>
              <p:cNvSpPr txBox="1"/>
              <p:nvPr/>
            </p:nvSpPr>
            <p:spPr>
              <a:xfrm>
                <a:off x="8131189" y="5583586"/>
                <a:ext cx="249395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27FA6235-E590-F6D5-7476-0D3B3BA4C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1189" y="5583586"/>
                <a:ext cx="249395" cy="276999"/>
              </a:xfrm>
              <a:prstGeom prst="rect">
                <a:avLst/>
              </a:prstGeom>
              <a:blipFill>
                <a:blip r:embed="rId17"/>
                <a:stretch>
                  <a:fillRect l="-10000" r="-10000" b="-43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FBB7067-7FD6-B2B4-DEFF-39BC9A76DCA6}"/>
                  </a:ext>
                </a:extLst>
              </p:cNvPr>
              <p:cNvSpPr txBox="1"/>
              <p:nvPr/>
            </p:nvSpPr>
            <p:spPr>
              <a:xfrm>
                <a:off x="9067826" y="5583586"/>
                <a:ext cx="249395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ja-JP" altLang="en-US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FBB7067-7FD6-B2B4-DEFF-39BC9A76D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826" y="5583586"/>
                <a:ext cx="249395" cy="276999"/>
              </a:xfrm>
              <a:prstGeom prst="rect">
                <a:avLst/>
              </a:prstGeom>
              <a:blipFill>
                <a:blip r:embed="rId18"/>
                <a:stretch>
                  <a:fillRect l="-10000" r="-5000" b="-43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図 6">
            <a:extLst>
              <a:ext uri="{FF2B5EF4-FFF2-40B4-BE49-F238E27FC236}">
                <a16:creationId xmlns:a16="http://schemas.microsoft.com/office/drawing/2014/main" id="{3DD0DC2B-1ACD-8DC5-3500-08B519A038B4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111800" y="2331686"/>
            <a:ext cx="1838119" cy="173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846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9FCC5-7957-6864-41A4-C5C4AFA1A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824ED0-8D03-40EC-D7A1-4D4A5462E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多</a:t>
            </a:r>
            <a:r>
              <a:rPr kumimoji="1" lang="ja-JP" altLang="en-US"/>
              <a:t>量子ゲートの</a:t>
            </a:r>
            <a:r>
              <a:rPr kumimoji="1" lang="en-US" altLang="ja-JP" dirty="0"/>
              <a:t>QMDD</a:t>
            </a:r>
            <a:r>
              <a:rPr kumimoji="1" lang="ja-JP" altLang="en-US"/>
              <a:t>表現</a:t>
            </a:r>
            <a:r>
              <a:rPr lang="en-US" altLang="ja-JP" dirty="0"/>
              <a:t>①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628E7F8A-CF90-8C2E-4A9F-D4597B012568}"/>
                  </a:ext>
                </a:extLst>
              </p:cNvPr>
              <p:cNvSpPr txBox="1"/>
              <p:nvPr/>
            </p:nvSpPr>
            <p:spPr>
              <a:xfrm>
                <a:off x="1578980" y="1388583"/>
                <a:ext cx="2733184" cy="1284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𝐶𝑋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628E7F8A-CF90-8C2E-4A9F-D4597B012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980" y="1388583"/>
                <a:ext cx="2733184" cy="1284647"/>
              </a:xfrm>
              <a:prstGeom prst="rect">
                <a:avLst/>
              </a:prstGeom>
              <a:blipFill>
                <a:blip r:embed="rId2"/>
                <a:stretch>
                  <a:fillRect l="-1852" t="-980" b="-686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0E0EF5E8-AA5B-E2EE-2200-BB12FA6A6A55}"/>
                  </a:ext>
                </a:extLst>
              </p:cNvPr>
              <p:cNvSpPr txBox="1"/>
              <p:nvPr/>
            </p:nvSpPr>
            <p:spPr>
              <a:xfrm>
                <a:off x="7879838" y="1388582"/>
                <a:ext cx="3191643" cy="1284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𝑆𝑊𝐴𝑃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0E0EF5E8-AA5B-E2EE-2200-BB12FA6A6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838" y="1388582"/>
                <a:ext cx="3191643" cy="1284647"/>
              </a:xfrm>
              <a:prstGeom prst="rect">
                <a:avLst/>
              </a:prstGeom>
              <a:blipFill>
                <a:blip r:embed="rId3"/>
                <a:stretch>
                  <a:fillRect l="-1587" t="-980" b="-686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図 10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7C6F20E7-0467-D193-1368-16D76369E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4556" y="2808166"/>
            <a:ext cx="3402206" cy="3989436"/>
          </a:xfrm>
          <a:prstGeom prst="rect">
            <a:avLst/>
          </a:prstGeom>
        </p:spPr>
      </p:pic>
      <p:pic>
        <p:nvPicPr>
          <p:cNvPr id="13" name="図 12" descr="グラフィカル ユーザー インターフェイス, アプリケーション, アイコン&#10;&#10;自動的に生成された説明">
            <a:extLst>
              <a:ext uri="{FF2B5EF4-FFF2-40B4-BE49-F238E27FC236}">
                <a16:creationId xmlns:a16="http://schemas.microsoft.com/office/drawing/2014/main" id="{00657D6A-A3FA-8832-0A3A-968A890C0C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5861" y="2837237"/>
            <a:ext cx="2022681" cy="3989436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E44E04D-5F57-F2F6-B582-AF980040745C}"/>
              </a:ext>
            </a:extLst>
          </p:cNvPr>
          <p:cNvSpPr txBox="1"/>
          <p:nvPr/>
        </p:nvSpPr>
        <p:spPr>
          <a:xfrm>
            <a:off x="4973255" y="3244334"/>
            <a:ext cx="2245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/>
              <a:t>非</a:t>
            </a:r>
            <a:r>
              <a:rPr kumimoji="1" lang="en-US" altLang="ja-JP" dirty="0"/>
              <a:t>0</a:t>
            </a:r>
            <a:r>
              <a:rPr kumimoji="1" lang="ja-JP" altLang="en-US"/>
              <a:t>の値の数は同じ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4F6E44EE-81D7-D3CA-4670-B000DAEC641F}"/>
              </a:ext>
            </a:extLst>
          </p:cNvPr>
          <p:cNvCxnSpPr>
            <a:stCxn id="16" idx="0"/>
            <a:endCxn id="4" idx="3"/>
          </p:cNvCxnSpPr>
          <p:nvPr/>
        </p:nvCxnSpPr>
        <p:spPr>
          <a:xfrm flipH="1" flipV="1">
            <a:off x="4312164" y="2030907"/>
            <a:ext cx="1783836" cy="121342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0F3B0C90-EE29-6922-AA92-726C2852DB96}"/>
              </a:ext>
            </a:extLst>
          </p:cNvPr>
          <p:cNvCxnSpPr>
            <a:cxnSpLocks/>
            <a:stCxn id="16" idx="0"/>
            <a:endCxn id="5" idx="1"/>
          </p:cNvCxnSpPr>
          <p:nvPr/>
        </p:nvCxnSpPr>
        <p:spPr>
          <a:xfrm flipV="1">
            <a:off x="6096000" y="2030906"/>
            <a:ext cx="1783838" cy="121342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CC1E739-F81B-5171-CF60-C52D4F85E421}"/>
              </a:ext>
            </a:extLst>
          </p:cNvPr>
          <p:cNvSpPr txBox="1"/>
          <p:nvPr/>
        </p:nvSpPr>
        <p:spPr>
          <a:xfrm>
            <a:off x="4270944" y="3712554"/>
            <a:ext cx="365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/>
              <a:t>ノードとエッジの数には大差あり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5DD2C807-E1AF-80EC-7395-D8E4456FB79A}"/>
              </a:ext>
            </a:extLst>
          </p:cNvPr>
          <p:cNvCxnSpPr>
            <a:cxnSpLocks/>
            <a:stCxn id="26" idx="2"/>
            <a:endCxn id="13" idx="3"/>
          </p:cNvCxnSpPr>
          <p:nvPr/>
        </p:nvCxnSpPr>
        <p:spPr>
          <a:xfrm flipH="1">
            <a:off x="3958542" y="4081886"/>
            <a:ext cx="2137457" cy="750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E3D58B84-DBF6-CE12-2D9C-3093CBEBE5F1}"/>
              </a:ext>
            </a:extLst>
          </p:cNvPr>
          <p:cNvCxnSpPr>
            <a:cxnSpLocks/>
            <a:stCxn id="26" idx="2"/>
            <a:endCxn id="11" idx="1"/>
          </p:cNvCxnSpPr>
          <p:nvPr/>
        </p:nvCxnSpPr>
        <p:spPr>
          <a:xfrm>
            <a:off x="6095999" y="4081886"/>
            <a:ext cx="1678557" cy="72099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CE00171-7E11-38AA-737B-7E4391ECD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843C0-813E-B949-A4C0-2511A34E55B1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7380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FDB22-DCEA-F7AA-2EBE-63419016D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EACEF4-4E95-38EF-D4B3-ED32A741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多</a:t>
            </a:r>
            <a:r>
              <a:rPr kumimoji="1" lang="ja-JP" altLang="en-US"/>
              <a:t>量子ゲートの</a:t>
            </a:r>
            <a:r>
              <a:rPr kumimoji="1" lang="en-US" altLang="ja-JP" dirty="0"/>
              <a:t>QMDD</a:t>
            </a:r>
            <a:r>
              <a:rPr kumimoji="1" lang="ja-JP" altLang="en-US"/>
              <a:t>表現</a:t>
            </a:r>
            <a:r>
              <a:rPr kumimoji="1" lang="en-US" altLang="ja-JP" dirty="0"/>
              <a:t>②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3C23D922-77C9-24DA-0E39-69BF9A674473}"/>
                  </a:ext>
                </a:extLst>
              </p:cNvPr>
              <p:cNvSpPr txBox="1"/>
              <p:nvPr/>
            </p:nvSpPr>
            <p:spPr>
              <a:xfrm>
                <a:off x="1251191" y="1388583"/>
                <a:ext cx="3392019" cy="1284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𝐶𝑋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(0,1)=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3C23D922-77C9-24DA-0E39-69BF9A6744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1191" y="1388583"/>
                <a:ext cx="3392019" cy="1284647"/>
              </a:xfrm>
              <a:prstGeom prst="rect">
                <a:avLst/>
              </a:prstGeom>
              <a:blipFill>
                <a:blip r:embed="rId2"/>
                <a:stretch>
                  <a:fillRect l="-1119" t="-980" b="-686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E0136A1-9967-40BB-1225-6C57EEFEB02E}"/>
                  </a:ext>
                </a:extLst>
              </p:cNvPr>
              <p:cNvSpPr txBox="1"/>
              <p:nvPr/>
            </p:nvSpPr>
            <p:spPr>
              <a:xfrm>
                <a:off x="7602812" y="1388582"/>
                <a:ext cx="3504229" cy="1284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𝐶𝑋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(1,0)=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kumimoji="1"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kumimoji="1"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240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E0136A1-9967-40BB-1225-6C57EEFEB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2812" y="1388582"/>
                <a:ext cx="3504229" cy="1284647"/>
              </a:xfrm>
              <a:prstGeom prst="rect">
                <a:avLst/>
              </a:prstGeom>
              <a:blipFill>
                <a:blip r:embed="rId3"/>
                <a:stretch>
                  <a:fillRect t="-980" b="-686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図 12" descr="グラフィカル ユーザー インターフェイス, アプリケーション, アイコン&#10;&#10;自動的に生成された説明">
            <a:extLst>
              <a:ext uri="{FF2B5EF4-FFF2-40B4-BE49-F238E27FC236}">
                <a16:creationId xmlns:a16="http://schemas.microsoft.com/office/drawing/2014/main" id="{9575EF0F-55EB-CC96-8006-EFAEAA668B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861" y="2837237"/>
            <a:ext cx="2022681" cy="3989436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499BB93-CF5E-C6B3-BA5F-908EAFE80124}"/>
              </a:ext>
            </a:extLst>
          </p:cNvPr>
          <p:cNvSpPr txBox="1"/>
          <p:nvPr/>
        </p:nvSpPr>
        <p:spPr>
          <a:xfrm>
            <a:off x="4973255" y="3244334"/>
            <a:ext cx="2245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/>
              <a:t>非</a:t>
            </a:r>
            <a:r>
              <a:rPr kumimoji="1" lang="en-US" altLang="ja-JP" dirty="0"/>
              <a:t>0</a:t>
            </a:r>
            <a:r>
              <a:rPr kumimoji="1" lang="ja-JP" altLang="en-US"/>
              <a:t>の値の数は同じ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E42714E0-F7F5-DE25-96A4-1408915C0EC6}"/>
              </a:ext>
            </a:extLst>
          </p:cNvPr>
          <p:cNvCxnSpPr>
            <a:stCxn id="16" idx="0"/>
            <a:endCxn id="4" idx="3"/>
          </p:cNvCxnSpPr>
          <p:nvPr/>
        </p:nvCxnSpPr>
        <p:spPr>
          <a:xfrm flipH="1" flipV="1">
            <a:off x="4643210" y="2030907"/>
            <a:ext cx="1452790" cy="121342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7F19E235-0599-2EFA-CB11-1E2E80AB94EE}"/>
              </a:ext>
            </a:extLst>
          </p:cNvPr>
          <p:cNvCxnSpPr>
            <a:cxnSpLocks/>
            <a:stCxn id="16" idx="0"/>
            <a:endCxn id="5" idx="1"/>
          </p:cNvCxnSpPr>
          <p:nvPr/>
        </p:nvCxnSpPr>
        <p:spPr>
          <a:xfrm flipV="1">
            <a:off x="6096000" y="2030906"/>
            <a:ext cx="1506812" cy="121342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DCCEE84-848A-E4E4-153E-24E12A8DBD92}"/>
              </a:ext>
            </a:extLst>
          </p:cNvPr>
          <p:cNvSpPr txBox="1"/>
          <p:nvPr/>
        </p:nvSpPr>
        <p:spPr>
          <a:xfrm>
            <a:off x="4157183" y="3696686"/>
            <a:ext cx="3877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/>
              <a:t>ノードとエッジの数は同数だが、</a:t>
            </a:r>
            <a:br>
              <a:rPr kumimoji="1" lang="en-US" altLang="ja-JP" dirty="0"/>
            </a:br>
            <a:r>
              <a:rPr kumimoji="1" lang="ja-JP" altLang="en-US"/>
              <a:t>演算時などにおける探索回数は増加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CB2B870-6758-5BC0-7DDE-A158D1A8FD7B}"/>
              </a:ext>
            </a:extLst>
          </p:cNvPr>
          <p:cNvCxnSpPr>
            <a:cxnSpLocks/>
            <a:stCxn id="26" idx="2"/>
            <a:endCxn id="13" idx="3"/>
          </p:cNvCxnSpPr>
          <p:nvPr/>
        </p:nvCxnSpPr>
        <p:spPr>
          <a:xfrm flipH="1">
            <a:off x="3958542" y="4343017"/>
            <a:ext cx="2137458" cy="488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39486004-B7A6-20BF-F639-544D923C38A5}"/>
              </a:ext>
            </a:extLst>
          </p:cNvPr>
          <p:cNvCxnSpPr>
            <a:cxnSpLocks/>
            <a:stCxn id="26" idx="2"/>
            <a:endCxn id="23" idx="1"/>
          </p:cNvCxnSpPr>
          <p:nvPr/>
        </p:nvCxnSpPr>
        <p:spPr>
          <a:xfrm>
            <a:off x="6096000" y="4343017"/>
            <a:ext cx="2197370" cy="488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図 5" descr="ダイアグラム&#10;&#10;自動的に生成された説明">
            <a:extLst>
              <a:ext uri="{FF2B5EF4-FFF2-40B4-BE49-F238E27FC236}">
                <a16:creationId xmlns:a16="http://schemas.microsoft.com/office/drawing/2014/main" id="{CA991ADE-B400-15B5-75FE-7BC1AC0B27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182" y="3197002"/>
            <a:ext cx="1640614" cy="755203"/>
          </a:xfrm>
          <a:prstGeom prst="rect">
            <a:avLst/>
          </a:prstGeom>
        </p:spPr>
      </p:pic>
      <p:pic>
        <p:nvPicPr>
          <p:cNvPr id="8" name="図 7" descr="ダイアグラム&#10;&#10;自動的に生成された説明">
            <a:extLst>
              <a:ext uri="{FF2B5EF4-FFF2-40B4-BE49-F238E27FC236}">
                <a16:creationId xmlns:a16="http://schemas.microsoft.com/office/drawing/2014/main" id="{673D193B-B5E3-9E1F-363B-5363DF3D5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4873" y="3248984"/>
            <a:ext cx="1666656" cy="833328"/>
          </a:xfrm>
          <a:prstGeom prst="rect">
            <a:avLst/>
          </a:prstGeom>
        </p:spPr>
      </p:pic>
      <p:pic>
        <p:nvPicPr>
          <p:cNvPr id="23" name="図 22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CF9F928F-B05C-630C-BF34-DFDAD086B6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370" y="2837236"/>
            <a:ext cx="2125214" cy="39894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A9581586-8DD2-130D-4133-7E1625541B60}"/>
                  </a:ext>
                </a:extLst>
              </p:cNvPr>
              <p:cNvSpPr txBox="1"/>
              <p:nvPr/>
            </p:nvSpPr>
            <p:spPr>
              <a:xfrm>
                <a:off x="385465" y="2769458"/>
                <a:ext cx="19732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𝒄𝒕𝒓𝒍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𝒊𝒅𝒙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𝒕𝒈𝒕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𝒊𝒅𝒙</m:t>
                      </m:r>
                    </m:oMath>
                  </m:oMathPara>
                </a14:m>
                <a:endParaRPr kumimoji="1" lang="ja-JP" altLang="en-US" b="1"/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A9581586-8DD2-130D-4133-7E1625541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65" y="2769458"/>
                <a:ext cx="1973297" cy="276999"/>
              </a:xfrm>
              <a:prstGeom prst="rect">
                <a:avLst/>
              </a:prstGeom>
              <a:blipFill>
                <a:blip r:embed="rId8"/>
                <a:stretch>
                  <a:fillRect l="-2564" t="-4167" r="-2564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1CDDB3CF-8333-4689-1F01-3A74565FD819}"/>
                  </a:ext>
                </a:extLst>
              </p:cNvPr>
              <p:cNvSpPr txBox="1"/>
              <p:nvPr/>
            </p:nvSpPr>
            <p:spPr>
              <a:xfrm>
                <a:off x="10041553" y="2837236"/>
                <a:ext cx="19732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𝒄𝒕𝒓𝒍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𝒊𝒅𝒙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𝒕𝒈𝒕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ja-JP" b="1" i="1" smtClean="0">
                          <a:latin typeface="Cambria Math" panose="02040503050406030204" pitchFamily="18" charset="0"/>
                        </a:rPr>
                        <m:t>𝒊𝒅𝒙</m:t>
                      </m:r>
                    </m:oMath>
                  </m:oMathPara>
                </a14:m>
                <a:endParaRPr kumimoji="1" lang="ja-JP" altLang="en-US" b="1"/>
              </a:p>
            </p:txBody>
          </p:sp>
        </mc:Choice>
        <mc:Fallback xmlns="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1CDDB3CF-8333-4689-1F01-3A74565FD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1553" y="2837236"/>
                <a:ext cx="1973297" cy="276999"/>
              </a:xfrm>
              <a:prstGeom prst="rect">
                <a:avLst/>
              </a:prstGeom>
              <a:blipFill>
                <a:blip r:embed="rId9"/>
                <a:stretch>
                  <a:fillRect l="-1911" t="-8696" r="-1911" b="-3478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989B1DC-79BA-6B80-E888-D6548582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843C0-813E-B949-A4C0-2511A34E55B1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393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3356</TotalTime>
  <Words>1329</Words>
  <Application>Microsoft Macintosh PowerPoint</Application>
  <PresentationFormat>ワイド画面</PresentationFormat>
  <Paragraphs>270</Paragraphs>
  <Slides>18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4" baseType="lpstr">
      <vt:lpstr>游ゴシック</vt:lpstr>
      <vt:lpstr>游ゴシック Light</vt:lpstr>
      <vt:lpstr>Arial</vt:lpstr>
      <vt:lpstr>Cambria Math</vt:lpstr>
      <vt:lpstr>Wingdings</vt:lpstr>
      <vt:lpstr>Office テーマ</vt:lpstr>
      <vt:lpstr>QMDDを用いた量子回路シミュレータにおけるシミュレーション手法の最適化</vt:lpstr>
      <vt:lpstr>QMDDを用いた表現</vt:lpstr>
      <vt:lpstr>従来のシミュレーション手法</vt:lpstr>
      <vt:lpstr>単一量子ゲートQMDDの形状による大別</vt:lpstr>
      <vt:lpstr>ゲート連結</vt:lpstr>
      <vt:lpstr>QMDDの形状と計算量の関係</vt:lpstr>
      <vt:lpstr>提案するシミュレーション手法</vt:lpstr>
      <vt:lpstr>多量子ゲートの考慮</vt:lpstr>
      <vt:lpstr>手法の比較</vt:lpstr>
      <vt:lpstr>まとめ</vt:lpstr>
      <vt:lpstr>付録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多量子ゲートのQMDD表現①</vt:lpstr>
      <vt:lpstr>多量子ゲートのQMDD表現②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三石 海人(is0637ki)</dc:creator>
  <cp:lastModifiedBy>三石 海人(is0637ki)</cp:lastModifiedBy>
  <cp:revision>4</cp:revision>
  <dcterms:created xsi:type="dcterms:W3CDTF">2025-12-11T04:48:17Z</dcterms:created>
  <dcterms:modified xsi:type="dcterms:W3CDTF">2025-12-13T12:47:33Z</dcterms:modified>
</cp:coreProperties>
</file>